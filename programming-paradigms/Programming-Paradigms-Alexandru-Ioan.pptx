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I'm Alexandru Ioan. My presentation is about three programming paradigms: procedural, event-driven and object-oriented programming. For each one I'll give a definition, explain the key features, show a simple code example and go through the advantages and disadvantages. Every example does the same small job, adding up a bakery basket, so it's easy to compare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programming paradigm is a style or approach to programming. It isn't a language: it's a way of organising a program and deciding how it runs. Some languages support more than one paradigm. Python can be written in all three styles, which is why I use it for most of my examples. My example adds up a basket: a croissant, a sourdough loaf and a cookie come to £5.50, and orders of £5 or more get £1 off, so the customer pays £4.50.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Procedural programming is the most direct style. The program is a list of instructions that run in order, from top to bottom, and the instructions are grouped into procedures, also called functions. Its key features are sequence, selection and iteration; procedures with parameters and return values; local and global variables; and top-down design, where a big problem is broken down into smaller procedures. The structure chart shows my example: the main program calls add_up, then apply_offer, then print, from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procedural version in Python. There are two functions: add_up uses a loop to add up the prices, and apply_offer uses an if statement to take £1 off. The main program at the bottom calls them in order. The trace table shows what happens line by line: total goes from 0 to 5.5, so subtotal is 5.5, then the offer brings it down to 4.5, and the program prints "To pay: £4.50". Notice that total is a local variable: each function has its own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add_up function in C, a classic procedural language: there are no classes or objects, just functions and data. Procedural code is easy to follow, fast and light, and its functions can be reused and tested one at a time. But big procedural programs get messy, global data isn't protected, and it's not a natural way to model real-world things like customers and products. It's used for scripts, calculations, embedded systems like Arduino, and operating systems: Linux is mostly written in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event-driven programming, the order the code runs in is decided by events, like a mouse click, a key press, a timer or a sensor. The program waits in a loop called the event loop. When an event happens it goes into a queue, and the loop runs the event handler linked to it. The handlers are just functions. The diagram shows four kinds of event: the loop is running on_click for a mouse click, and the other events wait in the queue to be handled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till written with tkinter, Python's library for windows and buttons. Lines 15 to 22 run once to build the window and link the events to their handlers: the button's command is add_croissant, and the C key is bound to clear. Then mainloop starts the event loop and waits. When the user clicks the button twice, the total goes to £1.25 and then £2.50. Pressing C clears it. The user decides the order; the programmer only decides what each event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web, JavaScript works the same way: addEventListener links a click to a handler function. Even PowerPoint is event-driven: when I click or press the arrow key, that's an event, and its handler shows the next slide. Event-driven programs are made for interaction, easy to extend, and don't waste work. But they're harder to test and follow, because events can come in any order, and one slow handler can freeze the whole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Object-oriented programming builds a program out of objects. Each object keeps its own data, called attributes, and its own actions, called methods. Objects are made from classes, which are like blueprints. The UML diagram shows the Product class with its attributes and methods, and two objects made from it, a croissant and a sourdough loaf, each with its own values. OOP has four main ideas: encapsulation, inheritance, polymorphism and abstraction.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OOP version. Product is a class with a constructor and a describe method. Basket is a class with an add method that updates its own total. At the bottom I create objects from the classes and call their methods. On the right you can see the objects in memory: the basket's items list points to the two product objects. In the Python shell I can keep using the same objects, for example adding a cookie makes the total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shows the other OOP ideas. The price is private, so other code has to use get_price: that's encapsulation. Cake inherits from Product, so it gets get_price for free: that's inheritance. Both classes have a describe method, but they give different results: that's polymorphism. The output shows each object using its own describe. OOP keeps big programs organised, makes code reusable and protects data, but there's more to learn, it's too much for small jobs, and it can be slower.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the three side by side. The biggest difference is who decides the order the code runs in: in procedural code it's the programmer, in event-driven code it's the user or the system, and in OOP it's objects calling each other's methods. Python appears in all three examples because it's multi-paradigm.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real programs the paradigms work together. Here the till is a class, so the outside is object-oriented. The add method is linked to the button, so it's an event handler. And inside add, the code is plain procedural steps with an if. Python, C#, Java and JavaScript all let you mix the three, so the real question is which one fits each part of a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procedural programming is about the steps, event-driven programming is about when the code runs, and object-oriented programming is about how the code and data are grouped. For a quick calculation I'd write procedural code; anything with buttons needs event-driven code; and once a program grows I'd organise it into classes. In my opinion, procedural is the one to learn first, because the other two are built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I used, in Harvard style. Thank you for listening. Are there any questions? If you have a minute, please scan the QR code and fill in my feedback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developer.mozilla.org/en-US/docs/Learn_web_development/Core/Scripting/Events" TargetMode="External"/><Relationship Id="rId2" Type="http://schemas.openxmlformats.org/officeDocument/2006/relationships/hyperlink" Target="https://developer.mozilla.org/en-US/docs/Web/API/EventTarget/addEventListener" TargetMode="External"/><Relationship Id="rId3" Type="http://schemas.openxmlformats.org/officeDocument/2006/relationships/hyperlink" Target="https://docs.oracle.com/javase/tutorial/java/concepts/" TargetMode="External"/><Relationship Id="rId4" Type="http://schemas.openxmlformats.org/officeDocument/2006/relationships/hyperlink" Target="https://docs.python.org/3/tutorial/classes.html" TargetMode="External"/><Relationship Id="rId5" Type="http://schemas.openxmlformats.org/officeDocument/2006/relationships/hyperlink" Target="https://docs.python.org/3/library/tkinter.html" TargetMode="External"/><Relationship Id="rId6" Type="http://schemas.openxmlformats.org/officeDocument/2006/relationships/hyperlink" Target="https://www.info.ucl.ac.be/~pvr/VanRoyChapter.pdf" TargetMode="External"/><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1D"/>
        </a:solidFill>
      </p:bgPr>
    </p:bg>
    <p:spTree>
      <p:nvGrpSpPr>
        <p:cNvPr id="1" name=""/>
        <p:cNvGrpSpPr/>
        <p:nvPr/>
      </p:nvGrpSpPr>
      <p:grpSpPr>
        <a:xfrm>
          <a:off x="0" y="0"/>
          <a:ext cx="0" cy="0"/>
          <a:chOff x="0" y="0"/>
          <a:chExt cx="0" cy="0"/>
        </a:xfrm>
      </p:grpSpPr>
      <p:sp>
        <p:nvSpPr>
          <p:cNvPr id="2" name="Text 0"/>
          <p:cNvSpPr txBox="1"/>
          <p:nvPr/>
        </p:nvSpPr>
        <p:spPr>
          <a:xfrm>
            <a:off x="731520" y="1234440"/>
            <a:ext cx="5120640" cy="274320"/>
          </a:xfrm>
          <a:prstGeom prst="rect">
            <a:avLst/>
          </a:prstGeom>
          <a:noFill/>
          <a:ln/>
        </p:spPr>
        <p:txBody>
          <a:bodyPr wrap="square" lIns="0" tIns="0" rIns="0" bIns="0" rtlCol="0" anchor="t"/>
          <a:lstStyle/>
          <a:p>
            <a:pPr indent="0" marL="0">
              <a:buNone/>
            </a:pPr>
            <a:r>
              <a:rPr lang="en-US" sz="1200" spc="300" kern="0" dirty="0">
                <a:solidFill>
                  <a:srgbClr val="A9B5AE"/>
                </a:solidFill>
                <a:latin typeface="Calibri" pitchFamily="34" charset="0"/>
                <a:ea typeface="Calibri" pitchFamily="34" charset="-122"/>
                <a:cs typeface="Calibri" pitchFamily="34" charset="-120"/>
              </a:rPr>
              <a:t>LEVEL 3 IT · PROGRAMMING</a:t>
            </a:r>
            <a:endParaRPr lang="en-US" sz="1200" dirty="0"/>
          </a:p>
        </p:txBody>
      </p:sp>
      <p:sp>
        <p:nvSpPr>
          <p:cNvPr id="3" name="Text 1"/>
          <p:cNvSpPr txBox="1"/>
          <p:nvPr/>
        </p:nvSpPr>
        <p:spPr>
          <a:xfrm>
            <a:off x="731520" y="1600200"/>
            <a:ext cx="5394960" cy="1874520"/>
          </a:xfrm>
          <a:prstGeom prst="rect">
            <a:avLst/>
          </a:prstGeom>
          <a:noFill/>
          <a:ln/>
        </p:spPr>
        <p:txBody>
          <a:bodyPr wrap="square" lIns="0" tIns="0" rIns="0" bIns="0" rtlCol="0" anchor="t"/>
          <a:lstStyle/>
          <a:p>
            <a:pPr indent="0" marL="0">
              <a:lnSpc>
                <a:spcPct val="92000"/>
              </a:lnSpc>
              <a:buNone/>
            </a:pPr>
            <a:r>
              <a:rPr lang="en-US" sz="5400" b="1" dirty="0">
                <a:solidFill>
                  <a:srgbClr val="FFFFFF"/>
                </a:solidFill>
                <a:latin typeface="Cambria" pitchFamily="34" charset="0"/>
                <a:ea typeface="Cambria" pitchFamily="34" charset="-122"/>
                <a:cs typeface="Cambria" pitchFamily="34" charset="-120"/>
              </a:rPr>
              <a:t>Programming</a:t>
            </a:r>
            <a:endParaRPr lang="en-US" sz="5400" dirty="0"/>
          </a:p>
          <a:p>
            <a:pPr indent="0" marL="0">
              <a:lnSpc>
                <a:spcPct val="92000"/>
              </a:lnSpc>
              <a:buNone/>
            </a:pPr>
            <a:r>
              <a:rPr lang="en-US" sz="5400" b="1" dirty="0">
                <a:solidFill>
                  <a:srgbClr val="FFFFFF"/>
                </a:solidFill>
                <a:latin typeface="Cambria" pitchFamily="34" charset="0"/>
                <a:ea typeface="Cambria" pitchFamily="34" charset="-122"/>
                <a:cs typeface="Cambria" pitchFamily="34" charset="-120"/>
              </a:rPr>
              <a:t>paradigms</a:t>
            </a:r>
            <a:endParaRPr lang="en-US" sz="5400" dirty="0"/>
          </a:p>
        </p:txBody>
      </p:sp>
      <p:sp>
        <p:nvSpPr>
          <p:cNvPr id="4" name="Text 2"/>
          <p:cNvSpPr txBox="1"/>
          <p:nvPr/>
        </p:nvSpPr>
        <p:spPr>
          <a:xfrm>
            <a:off x="731520" y="3566160"/>
            <a:ext cx="5029200" cy="1005840"/>
          </a:xfrm>
          <a:prstGeom prst="rect">
            <a:avLst/>
          </a:prstGeom>
          <a:noFill/>
          <a:ln/>
        </p:spPr>
        <p:txBody>
          <a:bodyPr wrap="square" lIns="0" tIns="0" rIns="0" bIns="0" rtlCol="0" anchor="t"/>
          <a:lstStyle/>
          <a:p>
            <a:pPr indent="0" marL="0">
              <a:buNone/>
            </a:pPr>
            <a:r>
              <a:rPr lang="en-US" sz="1700" dirty="0">
                <a:solidFill>
                  <a:srgbClr val="C9D3CD"/>
                </a:solidFill>
                <a:latin typeface="Calibri" pitchFamily="34" charset="0"/>
                <a:ea typeface="Calibri" pitchFamily="34" charset="-122"/>
                <a:cs typeface="Calibri" pitchFamily="34" charset="-120"/>
              </a:rPr>
              <a:t>Procedural, event-driven and object-oriented programming: what each one is, how it works, and the same small program written all three ways.</a:t>
            </a:r>
            <a:endParaRPr lang="en-US" sz="1700" dirty="0"/>
          </a:p>
        </p:txBody>
      </p:sp>
      <p:sp>
        <p:nvSpPr>
          <p:cNvPr id="5" name="Text 3"/>
          <p:cNvSpPr txBox="1"/>
          <p:nvPr/>
        </p:nvSpPr>
        <p:spPr>
          <a:xfrm>
            <a:off x="731520" y="4754880"/>
            <a:ext cx="4572000" cy="347472"/>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Alexandru Ioan</a:t>
            </a:r>
            <a:endParaRPr lang="en-US" sz="2000" dirty="0"/>
          </a:p>
        </p:txBody>
      </p:sp>
      <p:sp>
        <p:nvSpPr>
          <p:cNvPr id="6" name="Text 4"/>
          <p:cNvSpPr txBox="1"/>
          <p:nvPr/>
        </p:nvSpPr>
        <p:spPr>
          <a:xfrm>
            <a:off x="731520" y="5120640"/>
            <a:ext cx="4572000" cy="274320"/>
          </a:xfrm>
          <a:prstGeom prst="rect">
            <a:avLst/>
          </a:prstGeom>
          <a:noFill/>
          <a:ln/>
        </p:spPr>
        <p:txBody>
          <a:bodyPr wrap="square" lIns="0" tIns="0" rIns="0" bIns="0" rtlCol="0" anchor="t"/>
          <a:lstStyle/>
          <a:p>
            <a:pPr indent="0" marL="0">
              <a:buNone/>
            </a:pPr>
            <a:r>
              <a:rPr lang="en-US" sz="1250" dirty="0">
                <a:solidFill>
                  <a:srgbClr val="A9B5AE"/>
                </a:solidFill>
                <a:latin typeface="Consolas" pitchFamily="34" charset="0"/>
                <a:ea typeface="Consolas" pitchFamily="34" charset="-122"/>
                <a:cs typeface="Consolas" pitchFamily="34" charset="-120"/>
              </a:rPr>
              <a:t>Student ID 25002954</a:t>
            </a:r>
            <a:endParaRPr lang="en-US" sz="1250" dirty="0"/>
          </a:p>
        </p:txBody>
      </p:sp>
      <p:sp>
        <p:nvSpPr>
          <p:cNvPr id="7" name="Text 5"/>
          <p:cNvSpPr txBox="1"/>
          <p:nvPr/>
        </p:nvSpPr>
        <p:spPr>
          <a:xfrm>
            <a:off x="731520" y="6053328"/>
            <a:ext cx="10698480" cy="274320"/>
          </a:xfrm>
          <a:prstGeom prst="rect">
            <a:avLst/>
          </a:prstGeom>
          <a:noFill/>
          <a:ln/>
        </p:spPr>
        <p:txBody>
          <a:bodyPr wrap="square" lIns="0" tIns="0" rIns="0" bIns="0" rtlCol="0" anchor="t"/>
          <a:lstStyle/>
          <a:p>
            <a:pPr indent="0" marL="0">
              <a:buNone/>
            </a:pPr>
            <a:r>
              <a:rPr lang="en-US" sz="1100" dirty="0">
                <a:solidFill>
                  <a:srgbClr val="A9B5AE"/>
                </a:solidFill>
                <a:latin typeface="Calibri" pitchFamily="34" charset="0"/>
                <a:ea typeface="Calibri" pitchFamily="34" charset="-122"/>
                <a:cs typeface="Calibri" pitchFamily="34" charset="-120"/>
              </a:rPr>
              <a:t>1 Introduction   ·   2 Procedural   ·   3 Event-driven   ·   4 Object-oriented   ·   5 Comparison   ·   6 Conclusion   ·   7 References</a:t>
            </a:r>
            <a:endParaRPr lang="en-US" sz="1100" dirty="0"/>
          </a:p>
        </p:txBody>
      </p:sp>
      <p:sp>
        <p:nvSpPr>
          <p:cNvPr id="8" name="Shape 6"/>
          <p:cNvSpPr/>
          <p:nvPr/>
        </p:nvSpPr>
        <p:spPr>
          <a:xfrm>
            <a:off x="6263640" y="566928"/>
            <a:ext cx="4846320" cy="1555496"/>
          </a:xfrm>
          <a:prstGeom prst="roundRect">
            <a:avLst>
              <a:gd name="adj" fmla="val 4703"/>
            </a:avLst>
          </a:prstGeom>
          <a:solidFill>
            <a:srgbClr val="FBFCFA"/>
          </a:solidFill>
          <a:ln/>
          <a:effectLst>
            <a:outerShdw sx="100000" sy="100000" kx="0" ky="0" algn="bl" rotWithShape="0" blurRad="101600" dist="25400" dir="5400000">
              <a:srgbClr val="000000">
                <a:alpha val="14000"/>
              </a:srgbClr>
            </a:outerShdw>
          </a:effectLst>
        </p:spPr>
      </p:sp>
      <p:sp>
        <p:nvSpPr>
          <p:cNvPr id="9" name="Shape 7"/>
          <p:cNvSpPr/>
          <p:nvPr/>
        </p:nvSpPr>
        <p:spPr>
          <a:xfrm>
            <a:off x="6263640" y="566928"/>
            <a:ext cx="4846320" cy="438912"/>
          </a:xfrm>
          <a:prstGeom prst="roundRect">
            <a:avLst>
              <a:gd name="adj" fmla="val 16667"/>
            </a:avLst>
          </a:prstGeom>
          <a:solidFill>
            <a:srgbClr val="E1ECF9"/>
          </a:solidFill>
          <a:ln/>
        </p:spPr>
      </p:sp>
      <p:sp>
        <p:nvSpPr>
          <p:cNvPr id="10" name="Shape 8"/>
          <p:cNvSpPr/>
          <p:nvPr/>
        </p:nvSpPr>
        <p:spPr>
          <a:xfrm>
            <a:off x="6263640" y="896112"/>
            <a:ext cx="4846320" cy="109728"/>
          </a:xfrm>
          <a:prstGeom prst="rect">
            <a:avLst/>
          </a:prstGeom>
          <a:solidFill>
            <a:srgbClr val="FBFCFA"/>
          </a:solidFill>
          <a:ln/>
        </p:spPr>
      </p:sp>
      <p:sp>
        <p:nvSpPr>
          <p:cNvPr id="11" name="Shape 9"/>
          <p:cNvSpPr/>
          <p:nvPr/>
        </p:nvSpPr>
        <p:spPr>
          <a:xfrm>
            <a:off x="6263640" y="896112"/>
            <a:ext cx="4846320" cy="0"/>
          </a:xfrm>
          <a:prstGeom prst="line">
            <a:avLst/>
          </a:prstGeom>
          <a:noFill/>
          <a:ln w="9525">
            <a:solidFill>
              <a:srgbClr val="DFE3DE"/>
            </a:solidFill>
            <a:prstDash val="solid"/>
          </a:ln>
        </p:spPr>
      </p:sp>
      <p:sp>
        <p:nvSpPr>
          <p:cNvPr id="12" name="Shape 10"/>
          <p:cNvSpPr/>
          <p:nvPr/>
        </p:nvSpPr>
        <p:spPr>
          <a:xfrm>
            <a:off x="6419088" y="676656"/>
            <a:ext cx="109728" cy="109728"/>
          </a:xfrm>
          <a:prstGeom prst="ellipse">
            <a:avLst/>
          </a:prstGeom>
          <a:solidFill>
            <a:srgbClr val="2A78D6"/>
          </a:solidFill>
          <a:ln/>
        </p:spPr>
      </p:sp>
      <p:sp>
        <p:nvSpPr>
          <p:cNvPr id="13" name="Text 11"/>
          <p:cNvSpPr txBox="1"/>
          <p:nvPr/>
        </p:nvSpPr>
        <p:spPr>
          <a:xfrm>
            <a:off x="6611112" y="566928"/>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procedural.py</a:t>
            </a:r>
            <a:endParaRPr lang="en-US" sz="1050" dirty="0"/>
          </a:p>
        </p:txBody>
      </p:sp>
      <p:sp>
        <p:nvSpPr>
          <p:cNvPr id="14" name="Text 12"/>
          <p:cNvSpPr txBox="1"/>
          <p:nvPr/>
        </p:nvSpPr>
        <p:spPr>
          <a:xfrm>
            <a:off x="8092440" y="566928"/>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Procedural</a:t>
            </a:r>
            <a:endParaRPr lang="en-US" sz="1050" dirty="0"/>
          </a:p>
        </p:txBody>
      </p:sp>
      <p:sp>
        <p:nvSpPr>
          <p:cNvPr id="15" name="Text 13"/>
          <p:cNvSpPr txBox="1"/>
          <p:nvPr/>
        </p:nvSpPr>
        <p:spPr>
          <a:xfrm>
            <a:off x="6409944" y="987552"/>
            <a:ext cx="4626864" cy="1016000"/>
          </a:xfrm>
          <a:prstGeom prst="rect">
            <a:avLst/>
          </a:prstGeom>
          <a:noFill/>
          <a:ln/>
        </p:spPr>
        <p:txBody>
          <a:bodyPr wrap="square" lIns="0" tIns="0" rIns="0" bIns="0" rtlCol="0" anchor="t"/>
          <a:lstStyle/>
          <a:p>
            <a:pPr indent="0" marL="0">
              <a:lnSpc>
                <a:spcPts val="1600"/>
              </a:lnSpc>
              <a:buNone/>
            </a:pPr>
            <a:r>
              <a:rPr lang="en-US" sz="1150" b="1" dirty="0">
                <a:solidFill>
                  <a:srgbClr val="B8323A"/>
                </a:solidFill>
                <a:latin typeface="Consolas" pitchFamily="34" charset="0"/>
                <a:ea typeface="Consolas" pitchFamily="34" charset="-122"/>
                <a:cs typeface="Consolas" pitchFamily="34" charset="-120"/>
              </a:rPr>
              <a:t>def</a:t>
            </a:r>
            <a:r>
              <a:rPr lang="en-US" sz="1150" dirty="0">
                <a:solidFill>
                  <a:srgbClr val="1B1F1D"/>
                </a:solidFill>
                <a:latin typeface="Consolas" pitchFamily="34" charset="0"/>
                <a:ea typeface="Consolas" pitchFamily="34" charset="-122"/>
                <a:cs typeface="Consolas" pitchFamily="34" charset="-120"/>
              </a:rPr>
              <a:t> </a:t>
            </a:r>
            <a:r>
              <a:rPr lang="en-US" sz="1150" b="1" dirty="0">
                <a:solidFill>
                  <a:srgbClr val="3456C0"/>
                </a:solidFill>
                <a:latin typeface="Consolas" pitchFamily="34" charset="0"/>
                <a:ea typeface="Consolas" pitchFamily="34" charset="-122"/>
                <a:cs typeface="Consolas" pitchFamily="34" charset="-120"/>
              </a:rPr>
              <a:t>add_up</a:t>
            </a:r>
            <a:r>
              <a:rPr lang="en-US" sz="1150" dirty="0">
                <a:solidFill>
                  <a:srgbClr val="1B1F1D"/>
                </a:solidFill>
                <a:latin typeface="Consolas" pitchFamily="34" charset="0"/>
                <a:ea typeface="Consolas" pitchFamily="34" charset="-122"/>
                <a:cs typeface="Consolas" pitchFamily="34" charset="-120"/>
              </a:rPr>
              <a:t>(prices):</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    total = </a:t>
            </a:r>
            <a:r>
              <a:rPr lang="en-US" sz="1150" dirty="0">
                <a:solidFill>
                  <a:srgbClr val="A35A00"/>
                </a:solidFill>
                <a:latin typeface="Consolas" pitchFamily="34" charset="0"/>
                <a:ea typeface="Consolas" pitchFamily="34" charset="-122"/>
                <a:cs typeface="Consolas" pitchFamily="34" charset="-120"/>
              </a:rPr>
              <a:t>0</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    </a:t>
            </a:r>
            <a:r>
              <a:rPr lang="en-US" sz="1150" b="1" dirty="0">
                <a:solidFill>
                  <a:srgbClr val="B8323A"/>
                </a:solidFill>
                <a:latin typeface="Consolas" pitchFamily="34" charset="0"/>
                <a:ea typeface="Consolas" pitchFamily="34" charset="-122"/>
                <a:cs typeface="Consolas" pitchFamily="34" charset="-120"/>
              </a:rPr>
              <a:t>for</a:t>
            </a:r>
            <a:r>
              <a:rPr lang="en-US" sz="1150" dirty="0">
                <a:solidFill>
                  <a:srgbClr val="1B1F1D"/>
                </a:solidFill>
                <a:latin typeface="Consolas" pitchFamily="34" charset="0"/>
                <a:ea typeface="Consolas" pitchFamily="34" charset="-122"/>
                <a:cs typeface="Consolas" pitchFamily="34" charset="-120"/>
              </a:rPr>
              <a:t> price </a:t>
            </a:r>
            <a:r>
              <a:rPr lang="en-US" sz="1150" b="1" dirty="0">
                <a:solidFill>
                  <a:srgbClr val="B8323A"/>
                </a:solidFill>
                <a:latin typeface="Consolas" pitchFamily="34" charset="0"/>
                <a:ea typeface="Consolas" pitchFamily="34" charset="-122"/>
                <a:cs typeface="Consolas" pitchFamily="34" charset="-120"/>
              </a:rPr>
              <a:t>in</a:t>
            </a:r>
            <a:r>
              <a:rPr lang="en-US" sz="1150" dirty="0">
                <a:solidFill>
                  <a:srgbClr val="1B1F1D"/>
                </a:solidFill>
                <a:latin typeface="Consolas" pitchFamily="34" charset="0"/>
                <a:ea typeface="Consolas" pitchFamily="34" charset="-122"/>
                <a:cs typeface="Consolas" pitchFamily="34" charset="-120"/>
              </a:rPr>
              <a:t> prices:</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        total = total + price</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    </a:t>
            </a:r>
            <a:r>
              <a:rPr lang="en-US" sz="1150" b="1" dirty="0">
                <a:solidFill>
                  <a:srgbClr val="B8323A"/>
                </a:solidFill>
                <a:latin typeface="Consolas" pitchFamily="34" charset="0"/>
                <a:ea typeface="Consolas" pitchFamily="34" charset="-122"/>
                <a:cs typeface="Consolas" pitchFamily="34" charset="-120"/>
              </a:rPr>
              <a:t>return</a:t>
            </a:r>
            <a:r>
              <a:rPr lang="en-US" sz="1150" dirty="0">
                <a:solidFill>
                  <a:srgbClr val="1B1F1D"/>
                </a:solidFill>
                <a:latin typeface="Consolas" pitchFamily="34" charset="0"/>
                <a:ea typeface="Consolas" pitchFamily="34" charset="-122"/>
                <a:cs typeface="Consolas" pitchFamily="34" charset="-120"/>
              </a:rPr>
              <a:t> total</a:t>
            </a:r>
            <a:endParaRPr lang="en-US" sz="1150" dirty="0"/>
          </a:p>
        </p:txBody>
      </p:sp>
      <p:sp>
        <p:nvSpPr>
          <p:cNvPr id="16" name="Shape 14"/>
          <p:cNvSpPr/>
          <p:nvPr/>
        </p:nvSpPr>
        <p:spPr>
          <a:xfrm>
            <a:off x="6263640" y="566928"/>
            <a:ext cx="4846320" cy="1555496"/>
          </a:xfrm>
          <a:prstGeom prst="roundRect">
            <a:avLst>
              <a:gd name="adj" fmla="val 4703"/>
            </a:avLst>
          </a:prstGeom>
          <a:ln w="12700">
            <a:solidFill>
              <a:srgbClr val="DFE3DE"/>
            </a:solidFill>
            <a:prstDash val="solid"/>
          </a:ln>
        </p:spPr>
      </p:sp>
      <p:sp>
        <p:nvSpPr>
          <p:cNvPr id="17" name="Shape 15"/>
          <p:cNvSpPr/>
          <p:nvPr/>
        </p:nvSpPr>
        <p:spPr>
          <a:xfrm>
            <a:off x="6537960" y="2305304"/>
            <a:ext cx="4846320" cy="1352296"/>
          </a:xfrm>
          <a:prstGeom prst="roundRect">
            <a:avLst>
              <a:gd name="adj" fmla="val 5409"/>
            </a:avLst>
          </a:prstGeom>
          <a:solidFill>
            <a:srgbClr val="FBFCFA"/>
          </a:solidFill>
          <a:ln/>
          <a:effectLst>
            <a:outerShdw sx="100000" sy="100000" kx="0" ky="0" algn="bl" rotWithShape="0" blurRad="101600" dist="25400" dir="5400000">
              <a:srgbClr val="000000">
                <a:alpha val="14000"/>
              </a:srgbClr>
            </a:outerShdw>
          </a:effectLst>
        </p:spPr>
      </p:sp>
      <p:sp>
        <p:nvSpPr>
          <p:cNvPr id="18" name="Shape 16"/>
          <p:cNvSpPr/>
          <p:nvPr/>
        </p:nvSpPr>
        <p:spPr>
          <a:xfrm>
            <a:off x="6537960" y="2305304"/>
            <a:ext cx="4846320" cy="438912"/>
          </a:xfrm>
          <a:prstGeom prst="roundRect">
            <a:avLst>
              <a:gd name="adj" fmla="val 16667"/>
            </a:avLst>
          </a:prstGeom>
          <a:solidFill>
            <a:srgbClr val="FAEEDB"/>
          </a:solidFill>
          <a:ln/>
        </p:spPr>
      </p:sp>
      <p:sp>
        <p:nvSpPr>
          <p:cNvPr id="19" name="Shape 17"/>
          <p:cNvSpPr/>
          <p:nvPr/>
        </p:nvSpPr>
        <p:spPr>
          <a:xfrm>
            <a:off x="6537960" y="2634488"/>
            <a:ext cx="4846320" cy="109728"/>
          </a:xfrm>
          <a:prstGeom prst="rect">
            <a:avLst/>
          </a:prstGeom>
          <a:solidFill>
            <a:srgbClr val="FBFCFA"/>
          </a:solidFill>
          <a:ln/>
        </p:spPr>
      </p:sp>
      <p:sp>
        <p:nvSpPr>
          <p:cNvPr id="20" name="Shape 18"/>
          <p:cNvSpPr/>
          <p:nvPr/>
        </p:nvSpPr>
        <p:spPr>
          <a:xfrm>
            <a:off x="6537960" y="2634488"/>
            <a:ext cx="4846320" cy="0"/>
          </a:xfrm>
          <a:prstGeom prst="line">
            <a:avLst/>
          </a:prstGeom>
          <a:noFill/>
          <a:ln w="9525">
            <a:solidFill>
              <a:srgbClr val="DFE3DE"/>
            </a:solidFill>
            <a:prstDash val="solid"/>
          </a:ln>
        </p:spPr>
      </p:sp>
      <p:sp>
        <p:nvSpPr>
          <p:cNvPr id="21" name="Shape 19"/>
          <p:cNvSpPr/>
          <p:nvPr/>
        </p:nvSpPr>
        <p:spPr>
          <a:xfrm>
            <a:off x="6693408" y="2415032"/>
            <a:ext cx="109728" cy="109728"/>
          </a:xfrm>
          <a:prstGeom prst="ellipse">
            <a:avLst/>
          </a:prstGeom>
          <a:solidFill>
            <a:srgbClr val="DF8700"/>
          </a:solidFill>
          <a:ln/>
        </p:spPr>
      </p:sp>
      <p:sp>
        <p:nvSpPr>
          <p:cNvPr id="22" name="Text 20"/>
          <p:cNvSpPr txBox="1"/>
          <p:nvPr/>
        </p:nvSpPr>
        <p:spPr>
          <a:xfrm>
            <a:off x="6885432" y="2305304"/>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event_driven.py</a:t>
            </a:r>
            <a:endParaRPr lang="en-US" sz="1050" dirty="0"/>
          </a:p>
        </p:txBody>
      </p:sp>
      <p:sp>
        <p:nvSpPr>
          <p:cNvPr id="23" name="Text 21"/>
          <p:cNvSpPr txBox="1"/>
          <p:nvPr/>
        </p:nvSpPr>
        <p:spPr>
          <a:xfrm>
            <a:off x="8366760" y="2305304"/>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Event-driven</a:t>
            </a:r>
            <a:endParaRPr lang="en-US" sz="1050" dirty="0"/>
          </a:p>
        </p:txBody>
      </p:sp>
      <p:sp>
        <p:nvSpPr>
          <p:cNvPr id="24" name="Text 22"/>
          <p:cNvSpPr txBox="1"/>
          <p:nvPr/>
        </p:nvSpPr>
        <p:spPr>
          <a:xfrm>
            <a:off x="6684264" y="2725928"/>
            <a:ext cx="4626864" cy="812800"/>
          </a:xfrm>
          <a:prstGeom prst="rect">
            <a:avLst/>
          </a:prstGeom>
          <a:noFill/>
          <a:ln/>
        </p:spPr>
        <p:txBody>
          <a:bodyPr wrap="square" lIns="0" tIns="0" rIns="0" bIns="0" rtlCol="0" anchor="t"/>
          <a:lstStyle/>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button = tk.Button(window, text=</a:t>
            </a:r>
            <a:r>
              <a:rPr lang="en-US" sz="1150" dirty="0">
                <a:solidFill>
                  <a:srgbClr val="1D7A4E"/>
                </a:solidFill>
                <a:latin typeface="Consolas" pitchFamily="34" charset="0"/>
                <a:ea typeface="Consolas" pitchFamily="34" charset="-122"/>
                <a:cs typeface="Consolas" pitchFamily="34" charset="-120"/>
              </a:rPr>
              <a:t>"Add croissant"</a:t>
            </a:r>
            <a:r>
              <a:rPr lang="en-US" sz="1150" dirty="0">
                <a:solidFill>
                  <a:srgbClr val="1B1F1D"/>
                </a:solidFill>
                <a:latin typeface="Consolas" pitchFamily="34" charset="0"/>
                <a:ea typeface="Consolas" pitchFamily="34" charset="-122"/>
                <a:cs typeface="Consolas" pitchFamily="34" charset="-120"/>
              </a:rPr>
              <a:t>,</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                   command=add_croissant)</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window.bind(</a:t>
            </a:r>
            <a:r>
              <a:rPr lang="en-US" sz="1150" dirty="0">
                <a:solidFill>
                  <a:srgbClr val="1D7A4E"/>
                </a:solidFill>
                <a:latin typeface="Consolas" pitchFamily="34" charset="0"/>
                <a:ea typeface="Consolas" pitchFamily="34" charset="-122"/>
                <a:cs typeface="Consolas" pitchFamily="34" charset="-120"/>
              </a:rPr>
              <a:t>"c"</a:t>
            </a:r>
            <a:r>
              <a:rPr lang="en-US" sz="1150" dirty="0">
                <a:solidFill>
                  <a:srgbClr val="1B1F1D"/>
                </a:solidFill>
                <a:latin typeface="Consolas" pitchFamily="34" charset="0"/>
                <a:ea typeface="Consolas" pitchFamily="34" charset="-122"/>
                <a:cs typeface="Consolas" pitchFamily="34" charset="-120"/>
              </a:rPr>
              <a:t>, clear)</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window.mainloop()        </a:t>
            </a:r>
            <a:r>
              <a:rPr lang="en-US" sz="1150" i="1" dirty="0">
                <a:solidFill>
                  <a:srgbClr val="4A534E"/>
                </a:solidFill>
                <a:latin typeface="Consolas" pitchFamily="34" charset="0"/>
                <a:ea typeface="Consolas" pitchFamily="34" charset="-122"/>
                <a:cs typeface="Consolas" pitchFamily="34" charset="-120"/>
              </a:rPr>
              <a:t># wait for events</a:t>
            </a:r>
            <a:endParaRPr lang="en-US" sz="1150" dirty="0"/>
          </a:p>
        </p:txBody>
      </p:sp>
      <p:sp>
        <p:nvSpPr>
          <p:cNvPr id="25" name="Shape 23"/>
          <p:cNvSpPr/>
          <p:nvPr/>
        </p:nvSpPr>
        <p:spPr>
          <a:xfrm>
            <a:off x="6537960" y="2305304"/>
            <a:ext cx="4846320" cy="1352296"/>
          </a:xfrm>
          <a:prstGeom prst="roundRect">
            <a:avLst>
              <a:gd name="adj" fmla="val 5409"/>
            </a:avLst>
          </a:prstGeom>
          <a:ln w="12700">
            <a:solidFill>
              <a:srgbClr val="DFE3DE"/>
            </a:solidFill>
            <a:prstDash val="solid"/>
          </a:ln>
        </p:spPr>
      </p:sp>
      <p:sp>
        <p:nvSpPr>
          <p:cNvPr id="26" name="Shape 24"/>
          <p:cNvSpPr/>
          <p:nvPr/>
        </p:nvSpPr>
        <p:spPr>
          <a:xfrm>
            <a:off x="6812280" y="3840480"/>
            <a:ext cx="4846320" cy="1352296"/>
          </a:xfrm>
          <a:prstGeom prst="roundRect">
            <a:avLst>
              <a:gd name="adj" fmla="val 5409"/>
            </a:avLst>
          </a:prstGeom>
          <a:solidFill>
            <a:srgbClr val="FBFCFA"/>
          </a:solidFill>
          <a:ln/>
          <a:effectLst>
            <a:outerShdw sx="100000" sy="100000" kx="0" ky="0" algn="bl" rotWithShape="0" blurRad="101600" dist="25400" dir="5400000">
              <a:srgbClr val="000000">
                <a:alpha val="14000"/>
              </a:srgbClr>
            </a:outerShdw>
          </a:effectLst>
        </p:spPr>
      </p:sp>
      <p:sp>
        <p:nvSpPr>
          <p:cNvPr id="27" name="Shape 25"/>
          <p:cNvSpPr/>
          <p:nvPr/>
        </p:nvSpPr>
        <p:spPr>
          <a:xfrm>
            <a:off x="6812280" y="3840480"/>
            <a:ext cx="4846320" cy="438912"/>
          </a:xfrm>
          <a:prstGeom prst="roundRect">
            <a:avLst>
              <a:gd name="adj" fmla="val 16667"/>
            </a:avLst>
          </a:prstGeom>
          <a:solidFill>
            <a:srgbClr val="F6E5F1"/>
          </a:solidFill>
          <a:ln/>
        </p:spPr>
      </p:sp>
      <p:sp>
        <p:nvSpPr>
          <p:cNvPr id="28" name="Shape 26"/>
          <p:cNvSpPr/>
          <p:nvPr/>
        </p:nvSpPr>
        <p:spPr>
          <a:xfrm>
            <a:off x="6812280" y="4169664"/>
            <a:ext cx="4846320" cy="109728"/>
          </a:xfrm>
          <a:prstGeom prst="rect">
            <a:avLst/>
          </a:prstGeom>
          <a:solidFill>
            <a:srgbClr val="FBFCFA"/>
          </a:solidFill>
          <a:ln/>
        </p:spPr>
      </p:sp>
      <p:sp>
        <p:nvSpPr>
          <p:cNvPr id="29" name="Shape 27"/>
          <p:cNvSpPr/>
          <p:nvPr/>
        </p:nvSpPr>
        <p:spPr>
          <a:xfrm>
            <a:off x="6812280" y="4169664"/>
            <a:ext cx="4846320" cy="0"/>
          </a:xfrm>
          <a:prstGeom prst="line">
            <a:avLst/>
          </a:prstGeom>
          <a:noFill/>
          <a:ln w="9525">
            <a:solidFill>
              <a:srgbClr val="DFE3DE"/>
            </a:solidFill>
            <a:prstDash val="solid"/>
          </a:ln>
        </p:spPr>
      </p:sp>
      <p:sp>
        <p:nvSpPr>
          <p:cNvPr id="30" name="Shape 28"/>
          <p:cNvSpPr/>
          <p:nvPr/>
        </p:nvSpPr>
        <p:spPr>
          <a:xfrm>
            <a:off x="6967728" y="3950208"/>
            <a:ext cx="109728" cy="109728"/>
          </a:xfrm>
          <a:prstGeom prst="ellipse">
            <a:avLst/>
          </a:prstGeom>
          <a:solidFill>
            <a:srgbClr val="C2449A"/>
          </a:solidFill>
          <a:ln/>
        </p:spPr>
      </p:sp>
      <p:sp>
        <p:nvSpPr>
          <p:cNvPr id="31" name="Text 29"/>
          <p:cNvSpPr txBox="1"/>
          <p:nvPr/>
        </p:nvSpPr>
        <p:spPr>
          <a:xfrm>
            <a:off x="7159752" y="3840480"/>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oop.py</a:t>
            </a:r>
            <a:endParaRPr lang="en-US" sz="1050" dirty="0"/>
          </a:p>
        </p:txBody>
      </p:sp>
      <p:sp>
        <p:nvSpPr>
          <p:cNvPr id="32" name="Text 30"/>
          <p:cNvSpPr txBox="1"/>
          <p:nvPr/>
        </p:nvSpPr>
        <p:spPr>
          <a:xfrm>
            <a:off x="8641080" y="3840480"/>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Object-oriented</a:t>
            </a:r>
            <a:endParaRPr lang="en-US" sz="1050" dirty="0"/>
          </a:p>
        </p:txBody>
      </p:sp>
      <p:sp>
        <p:nvSpPr>
          <p:cNvPr id="33" name="Text 31"/>
          <p:cNvSpPr txBox="1"/>
          <p:nvPr/>
        </p:nvSpPr>
        <p:spPr>
          <a:xfrm>
            <a:off x="6958584" y="4261104"/>
            <a:ext cx="4626864" cy="812800"/>
          </a:xfrm>
          <a:prstGeom prst="rect">
            <a:avLst/>
          </a:prstGeom>
          <a:noFill/>
          <a:ln/>
        </p:spPr>
        <p:txBody>
          <a:bodyPr wrap="square" lIns="0" tIns="0" rIns="0" bIns="0" rtlCol="0" anchor="t"/>
          <a:lstStyle/>
          <a:p>
            <a:pPr indent="0" marL="0">
              <a:lnSpc>
                <a:spcPts val="1600"/>
              </a:lnSpc>
              <a:buNone/>
            </a:pPr>
            <a:r>
              <a:rPr lang="en-US" sz="1150" b="1" dirty="0">
                <a:solidFill>
                  <a:srgbClr val="B8323A"/>
                </a:solidFill>
                <a:latin typeface="Consolas" pitchFamily="34" charset="0"/>
                <a:ea typeface="Consolas" pitchFamily="34" charset="-122"/>
                <a:cs typeface="Consolas" pitchFamily="34" charset="-120"/>
              </a:rPr>
              <a:t>class</a:t>
            </a:r>
            <a:r>
              <a:rPr lang="en-US" sz="1150" dirty="0">
                <a:solidFill>
                  <a:srgbClr val="1B1F1D"/>
                </a:solidFill>
                <a:latin typeface="Consolas" pitchFamily="34" charset="0"/>
                <a:ea typeface="Consolas" pitchFamily="34" charset="-122"/>
                <a:cs typeface="Consolas" pitchFamily="34" charset="-120"/>
              </a:rPr>
              <a:t> </a:t>
            </a:r>
            <a:r>
              <a:rPr lang="en-US" sz="1150" b="1" dirty="0">
                <a:solidFill>
                  <a:srgbClr val="3456C0"/>
                </a:solidFill>
                <a:latin typeface="Consolas" pitchFamily="34" charset="0"/>
                <a:ea typeface="Consolas" pitchFamily="34" charset="-122"/>
                <a:cs typeface="Consolas" pitchFamily="34" charset="-120"/>
              </a:rPr>
              <a:t>Product</a:t>
            </a:r>
            <a:r>
              <a:rPr lang="en-US" sz="1150" dirty="0">
                <a:solidFill>
                  <a:srgbClr val="1B1F1D"/>
                </a:solidFill>
                <a:latin typeface="Consolas" pitchFamily="34" charset="0"/>
                <a:ea typeface="Consolas" pitchFamily="34" charset="-122"/>
                <a:cs typeface="Consolas" pitchFamily="34" charset="-120"/>
              </a:rPr>
              <a:t>:</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    </a:t>
            </a:r>
            <a:r>
              <a:rPr lang="en-US" sz="1150" b="1" dirty="0">
                <a:solidFill>
                  <a:srgbClr val="B8323A"/>
                </a:solidFill>
                <a:latin typeface="Consolas" pitchFamily="34" charset="0"/>
                <a:ea typeface="Consolas" pitchFamily="34" charset="-122"/>
                <a:cs typeface="Consolas" pitchFamily="34" charset="-120"/>
              </a:rPr>
              <a:t>def</a:t>
            </a:r>
            <a:r>
              <a:rPr lang="en-US" sz="1150" dirty="0">
                <a:solidFill>
                  <a:srgbClr val="1B1F1D"/>
                </a:solidFill>
                <a:latin typeface="Consolas" pitchFamily="34" charset="0"/>
                <a:ea typeface="Consolas" pitchFamily="34" charset="-122"/>
                <a:cs typeface="Consolas" pitchFamily="34" charset="-120"/>
              </a:rPr>
              <a:t> </a:t>
            </a:r>
            <a:r>
              <a:rPr lang="en-US" sz="1150" b="1" dirty="0">
                <a:solidFill>
                  <a:srgbClr val="3456C0"/>
                </a:solidFill>
                <a:latin typeface="Consolas" pitchFamily="34" charset="0"/>
                <a:ea typeface="Consolas" pitchFamily="34" charset="-122"/>
                <a:cs typeface="Consolas" pitchFamily="34" charset="-120"/>
              </a:rPr>
              <a:t>__init__</a:t>
            </a:r>
            <a:r>
              <a:rPr lang="en-US" sz="1150" dirty="0">
                <a:solidFill>
                  <a:srgbClr val="1B1F1D"/>
                </a:solidFill>
                <a:latin typeface="Consolas" pitchFamily="34" charset="0"/>
                <a:ea typeface="Consolas" pitchFamily="34" charset="-122"/>
                <a:cs typeface="Consolas" pitchFamily="34" charset="-120"/>
              </a:rPr>
              <a:t>(</a:t>
            </a:r>
            <a:r>
              <a:rPr lang="en-US" sz="1150" dirty="0">
                <a:solidFill>
                  <a:srgbClr val="4A534E"/>
                </a:solidFill>
                <a:latin typeface="Consolas" pitchFamily="34" charset="0"/>
                <a:ea typeface="Consolas" pitchFamily="34" charset="-122"/>
                <a:cs typeface="Consolas" pitchFamily="34" charset="-120"/>
              </a:rPr>
              <a:t>self</a:t>
            </a:r>
            <a:r>
              <a:rPr lang="en-US" sz="1150" dirty="0">
                <a:solidFill>
                  <a:srgbClr val="1B1F1D"/>
                </a:solidFill>
                <a:latin typeface="Consolas" pitchFamily="34" charset="0"/>
                <a:ea typeface="Consolas" pitchFamily="34" charset="-122"/>
                <a:cs typeface="Consolas" pitchFamily="34" charset="-120"/>
              </a:rPr>
              <a:t>, name, price):</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        </a:t>
            </a:r>
            <a:r>
              <a:rPr lang="en-US" sz="1150" dirty="0">
                <a:solidFill>
                  <a:srgbClr val="4A534E"/>
                </a:solidFill>
                <a:latin typeface="Consolas" pitchFamily="34" charset="0"/>
                <a:ea typeface="Consolas" pitchFamily="34" charset="-122"/>
                <a:cs typeface="Consolas" pitchFamily="34" charset="-120"/>
              </a:rPr>
              <a:t>self</a:t>
            </a:r>
            <a:r>
              <a:rPr lang="en-US" sz="1150" dirty="0">
                <a:solidFill>
                  <a:srgbClr val="1B1F1D"/>
                </a:solidFill>
                <a:latin typeface="Consolas" pitchFamily="34" charset="0"/>
                <a:ea typeface="Consolas" pitchFamily="34" charset="-122"/>
                <a:cs typeface="Consolas" pitchFamily="34" charset="-120"/>
              </a:rPr>
              <a:t>.name = name</a:t>
            </a:r>
            <a:endParaRPr lang="en-US" sz="1150" dirty="0"/>
          </a:p>
          <a:p>
            <a:pPr indent="0" marL="0">
              <a:lnSpc>
                <a:spcPts val="1600"/>
              </a:lnSpc>
              <a:buNone/>
            </a:pPr>
            <a:r>
              <a:rPr lang="en-US" sz="1150" dirty="0">
                <a:solidFill>
                  <a:srgbClr val="1B1F1D"/>
                </a:solidFill>
                <a:latin typeface="Consolas" pitchFamily="34" charset="0"/>
                <a:ea typeface="Consolas" pitchFamily="34" charset="-122"/>
                <a:cs typeface="Consolas" pitchFamily="34" charset="-120"/>
              </a:rPr>
              <a:t>        </a:t>
            </a:r>
            <a:r>
              <a:rPr lang="en-US" sz="1150" dirty="0">
                <a:solidFill>
                  <a:srgbClr val="4A534E"/>
                </a:solidFill>
                <a:latin typeface="Consolas" pitchFamily="34" charset="0"/>
                <a:ea typeface="Consolas" pitchFamily="34" charset="-122"/>
                <a:cs typeface="Consolas" pitchFamily="34" charset="-120"/>
              </a:rPr>
              <a:t>self</a:t>
            </a:r>
            <a:r>
              <a:rPr lang="en-US" sz="1150" dirty="0">
                <a:solidFill>
                  <a:srgbClr val="1B1F1D"/>
                </a:solidFill>
                <a:latin typeface="Consolas" pitchFamily="34" charset="0"/>
                <a:ea typeface="Consolas" pitchFamily="34" charset="-122"/>
                <a:cs typeface="Consolas" pitchFamily="34" charset="-120"/>
              </a:rPr>
              <a:t>.price = price</a:t>
            </a:r>
            <a:endParaRPr lang="en-US" sz="1150" dirty="0"/>
          </a:p>
        </p:txBody>
      </p:sp>
      <p:sp>
        <p:nvSpPr>
          <p:cNvPr id="34" name="Shape 32"/>
          <p:cNvSpPr/>
          <p:nvPr/>
        </p:nvSpPr>
        <p:spPr>
          <a:xfrm>
            <a:off x="6812280" y="3840480"/>
            <a:ext cx="4846320" cy="1352296"/>
          </a:xfrm>
          <a:prstGeom prst="roundRect">
            <a:avLst>
              <a:gd name="adj" fmla="val 5409"/>
            </a:avLst>
          </a:prstGeom>
          <a:ln w="12700">
            <a:solidFill>
              <a:srgbClr val="DFE3DE"/>
            </a:solidFill>
            <a:prstDash val="solid"/>
          </a:ln>
        </p:spPr>
      </p:sp>
      <p:sp>
        <p:nvSpPr>
          <p:cNvPr id="35" name="Text 33"/>
          <p:cNvSpPr txBox="1"/>
          <p:nvPr/>
        </p:nvSpPr>
        <p:spPr>
          <a:xfrm>
            <a:off x="6812280" y="5357368"/>
            <a:ext cx="4846320" cy="292608"/>
          </a:xfrm>
          <a:prstGeom prst="rect">
            <a:avLst/>
          </a:prstGeom>
          <a:noFill/>
          <a:ln/>
        </p:spPr>
        <p:txBody>
          <a:bodyPr wrap="square" lIns="0" tIns="0" rIns="0" bIns="0" rtlCol="0" anchor="t"/>
          <a:lstStyle/>
          <a:p>
            <a:pPr algn="r" indent="0" marL="0">
              <a:buNone/>
            </a:pPr>
            <a:r>
              <a:rPr lang="en-US" sz="1400" i="1" dirty="0">
                <a:solidFill>
                  <a:srgbClr val="A9B5AE"/>
                </a:solidFill>
                <a:latin typeface="Cambria" pitchFamily="34" charset="0"/>
                <a:ea typeface="Cambria" pitchFamily="34" charset="-122"/>
                <a:cs typeface="Cambria" pitchFamily="34" charset="-120"/>
              </a:rPr>
              <a:t>the same basket, three ways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FFFFFF"/>
          </a:solidFill>
          <a:ln w="15875">
            <a:solidFill>
              <a:srgbClr val="1B1F1D"/>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1</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INTRODUCTION</a:t>
            </a:r>
            <a:endParaRPr lang="en-US" sz="1100" dirty="0"/>
          </a:p>
        </p:txBody>
      </p:sp>
      <p:sp>
        <p:nvSpPr>
          <p:cNvPr id="5" name="Text 3"/>
          <p:cNvSpPr txBox="1"/>
          <p:nvPr/>
        </p:nvSpPr>
        <p:spPr>
          <a:xfrm>
            <a:off x="548640" y="731520"/>
            <a:ext cx="11094415"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What is a programming paradigm?</a:t>
            </a:r>
            <a:endParaRPr lang="en-US" sz="3200" dirty="0"/>
          </a:p>
        </p:txBody>
      </p:sp>
      <p:sp>
        <p:nvSpPr>
          <p:cNvPr id="6" name="Shape 4"/>
          <p:cNvSpPr/>
          <p:nvPr/>
        </p:nvSpPr>
        <p:spPr>
          <a:xfrm>
            <a:off x="548640" y="1554480"/>
            <a:ext cx="5852160" cy="1417320"/>
          </a:xfrm>
          <a:prstGeom prst="roundRect">
            <a:avLst>
              <a:gd name="adj" fmla="val 7742"/>
            </a:avLst>
          </a:prstGeom>
          <a:solidFill>
            <a:srgbClr val="EEF0EE"/>
          </a:solidFill>
          <a:ln w="12700">
            <a:solidFill>
              <a:srgbClr val="DFE3DE"/>
            </a:solidFill>
            <a:prstDash val="solid"/>
          </a:ln>
        </p:spPr>
      </p:sp>
      <p:sp>
        <p:nvSpPr>
          <p:cNvPr id="7" name="Text 5"/>
          <p:cNvSpPr txBox="1"/>
          <p:nvPr/>
        </p:nvSpPr>
        <p:spPr>
          <a:xfrm>
            <a:off x="768096" y="1691640"/>
            <a:ext cx="5413248" cy="384048"/>
          </a:xfrm>
          <a:prstGeom prst="rect">
            <a:avLst/>
          </a:prstGeom>
          <a:noFill/>
          <a:ln/>
        </p:spPr>
        <p:txBody>
          <a:bodyPr wrap="square" lIns="0" tIns="0" rIns="0" bIns="0" rtlCol="0" anchor="ctr"/>
          <a:lstStyle/>
          <a:p>
            <a:pPr indent="0" marL="0">
              <a:buNone/>
            </a:pPr>
            <a:r>
              <a:rPr lang="en-US" sz="1900" b="1" dirty="0">
                <a:solidFill>
                  <a:srgbClr val="1B1F1D"/>
                </a:solidFill>
                <a:latin typeface="Cambria" pitchFamily="34" charset="0"/>
                <a:ea typeface="Cambria" pitchFamily="34" charset="-122"/>
                <a:cs typeface="Cambria" pitchFamily="34" charset="-120"/>
              </a:rPr>
              <a:t>programming paradigm</a:t>
            </a:r>
            <a:r>
              <a:rPr lang="en-US" sz="1300" i="1" dirty="0">
                <a:solidFill>
                  <a:srgbClr val="5F6964"/>
                </a:solidFill>
                <a:latin typeface="Calibri" pitchFamily="34" charset="0"/>
                <a:ea typeface="Calibri" pitchFamily="34" charset="-122"/>
                <a:cs typeface="Calibri" pitchFamily="34" charset="-120"/>
              </a:rPr>
              <a:t>   noun</a:t>
            </a:r>
            <a:endParaRPr lang="en-US" sz="1400" dirty="0"/>
          </a:p>
        </p:txBody>
      </p:sp>
      <p:sp>
        <p:nvSpPr>
          <p:cNvPr id="8" name="Text 6"/>
          <p:cNvSpPr txBox="1"/>
          <p:nvPr/>
        </p:nvSpPr>
        <p:spPr>
          <a:xfrm>
            <a:off x="768096" y="2121408"/>
            <a:ext cx="5413248" cy="722376"/>
          </a:xfrm>
          <a:prstGeom prst="rect">
            <a:avLst/>
          </a:prstGeom>
          <a:noFill/>
          <a:ln/>
        </p:spPr>
        <p:txBody>
          <a:bodyPr wrap="square" lIns="0" tIns="0" rIns="0" bIns="0" rtlCol="0" anchor="t"/>
          <a:lstStyle/>
          <a:p>
            <a:pPr indent="0" marL="0">
              <a:lnSpc>
                <a:spcPct val="105000"/>
              </a:lnSpc>
              <a:buNone/>
            </a:pPr>
            <a:r>
              <a:rPr lang="en-US" sz="1500" dirty="0">
                <a:solidFill>
                  <a:srgbClr val="1B1F1D"/>
                </a:solidFill>
                <a:latin typeface="Calibri" pitchFamily="34" charset="0"/>
                <a:ea typeface="Calibri" pitchFamily="34" charset="-122"/>
                <a:cs typeface="Calibri" pitchFamily="34" charset="-120"/>
              </a:rPr>
              <a:t>A style, or approach, to programming. It is based on a set of ideas about how a program should be organised and how it runs </a:t>
            </a:r>
            <a:r>
              <a:rPr lang="en-US" sz="1200" dirty="0">
                <a:solidFill>
                  <a:srgbClr val="5F6964"/>
                </a:solidFill>
                <a:latin typeface="Calibri" pitchFamily="34" charset="0"/>
                <a:ea typeface="Calibri" pitchFamily="34" charset="-122"/>
                <a:cs typeface="Calibri" pitchFamily="34" charset="-120"/>
              </a:rPr>
              <a:t>(Van Roy, 2009)</a:t>
            </a:r>
            <a:endParaRPr lang="en-US" sz="1400" dirty="0"/>
          </a:p>
        </p:txBody>
      </p:sp>
      <p:sp>
        <p:nvSpPr>
          <p:cNvPr id="9" name="Text 7"/>
          <p:cNvSpPr txBox="1"/>
          <p:nvPr/>
        </p:nvSpPr>
        <p:spPr>
          <a:xfrm>
            <a:off x="548640" y="3127248"/>
            <a:ext cx="5852160" cy="1371600"/>
          </a:xfrm>
          <a:prstGeom prst="rect">
            <a:avLst/>
          </a:prstGeom>
          <a:noFill/>
          <a:ln/>
        </p:spPr>
        <p:txBody>
          <a:bodyPr wrap="square" lIns="0" tIns="0" rIns="0" bIns="0" rtlCol="0" anchor="t"/>
          <a:lstStyle/>
          <a:p>
            <a:pPr indent="0" marL="0">
              <a:lnSpc>
                <a:spcPct val="105000"/>
              </a:lnSpc>
              <a:buNone/>
            </a:pPr>
            <a:r>
              <a:rPr lang="en-US" sz="1450" dirty="0">
                <a:solidFill>
                  <a:srgbClr val="1B1F1D"/>
                </a:solidFill>
                <a:latin typeface="Calibri" pitchFamily="34" charset="0"/>
                <a:ea typeface="Calibri" pitchFamily="34" charset="-122"/>
                <a:cs typeface="Calibri" pitchFamily="34" charset="-120"/>
              </a:rPr>
              <a:t>A paradigm isn't a programming language. It's a way of thinking about a problem: how to split it up, where the data is kept and what decides the order the code runs in. Many languages support more than one paradigm. Python, for example, can be written in all three styles in this presentation.</a:t>
            </a:r>
            <a:endParaRPr lang="en-US" sz="1450" dirty="0"/>
          </a:p>
        </p:txBody>
      </p:sp>
      <p:sp>
        <p:nvSpPr>
          <p:cNvPr id="10" name="Shape 8"/>
          <p:cNvSpPr/>
          <p:nvPr/>
        </p:nvSpPr>
        <p:spPr>
          <a:xfrm>
            <a:off x="548640" y="4389120"/>
            <a:ext cx="2606040" cy="1792224"/>
          </a:xfrm>
          <a:prstGeom prst="roundRect">
            <a:avLst>
              <a:gd name="adj" fmla="val 2041"/>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11" name="Text 9"/>
          <p:cNvSpPr txBox="1"/>
          <p:nvPr/>
        </p:nvSpPr>
        <p:spPr>
          <a:xfrm>
            <a:off x="548640" y="4498848"/>
            <a:ext cx="2606040" cy="219456"/>
          </a:xfrm>
          <a:prstGeom prst="rect">
            <a:avLst/>
          </a:prstGeom>
          <a:noFill/>
          <a:ln/>
        </p:spPr>
        <p:txBody>
          <a:bodyPr wrap="square" lIns="0" tIns="0" rIns="0" bIns="0" rtlCol="0" anchor="ctr"/>
          <a:lstStyle/>
          <a:p>
            <a:pPr algn="ctr" indent="0" marL="0">
              <a:buNone/>
            </a:pPr>
            <a:r>
              <a:rPr lang="en-US" sz="1100" b="1" spc="200" kern="0" dirty="0">
                <a:solidFill>
                  <a:srgbClr val="1B1F1D"/>
                </a:solidFill>
                <a:latin typeface="Consolas" pitchFamily="34" charset="0"/>
                <a:ea typeface="Consolas" pitchFamily="34" charset="-122"/>
                <a:cs typeface="Consolas" pitchFamily="34" charset="-120"/>
              </a:rPr>
              <a:t>THE BAKERY</a:t>
            </a:r>
            <a:endParaRPr lang="en-US" sz="1100" dirty="0"/>
          </a:p>
        </p:txBody>
      </p:sp>
      <p:sp>
        <p:nvSpPr>
          <p:cNvPr id="12" name="Shape 10"/>
          <p:cNvSpPr/>
          <p:nvPr/>
        </p:nvSpPr>
        <p:spPr>
          <a:xfrm>
            <a:off x="694944" y="4791456"/>
            <a:ext cx="2313432" cy="0"/>
          </a:xfrm>
          <a:prstGeom prst="line">
            <a:avLst/>
          </a:prstGeom>
          <a:noFill/>
          <a:ln w="9525">
            <a:solidFill>
              <a:srgbClr val="B7C0BA"/>
            </a:solidFill>
            <a:prstDash val="dash"/>
          </a:ln>
        </p:spPr>
      </p:sp>
      <p:sp>
        <p:nvSpPr>
          <p:cNvPr id="13" name="Text 11"/>
          <p:cNvSpPr txBox="1"/>
          <p:nvPr/>
        </p:nvSpPr>
        <p:spPr>
          <a:xfrm>
            <a:off x="713232" y="4846320"/>
            <a:ext cx="1508760" cy="182880"/>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Croissant</a:t>
            </a:r>
            <a:endParaRPr lang="en-US" sz="1050" dirty="0"/>
          </a:p>
        </p:txBody>
      </p:sp>
      <p:sp>
        <p:nvSpPr>
          <p:cNvPr id="14" name="Text 12"/>
          <p:cNvSpPr txBox="1"/>
          <p:nvPr/>
        </p:nvSpPr>
        <p:spPr>
          <a:xfrm>
            <a:off x="2148840" y="4846320"/>
            <a:ext cx="841248" cy="182880"/>
          </a:xfrm>
          <a:prstGeom prst="rect">
            <a:avLst/>
          </a:prstGeom>
          <a:noFill/>
          <a:ln/>
        </p:spPr>
        <p:txBody>
          <a:bodyPr wrap="square" lIns="0" tIns="0" rIns="0" bIns="0" rtlCol="0" anchor="ctr"/>
          <a:lstStyle/>
          <a:p>
            <a:pPr algn="r" indent="0" marL="0">
              <a:buNone/>
            </a:pPr>
            <a:r>
              <a:rPr lang="en-US" sz="1050" dirty="0">
                <a:solidFill>
                  <a:srgbClr val="1B1F1D"/>
                </a:solidFill>
                <a:latin typeface="Consolas" pitchFamily="34" charset="0"/>
                <a:ea typeface="Consolas" pitchFamily="34" charset="-122"/>
                <a:cs typeface="Consolas" pitchFamily="34" charset="-120"/>
              </a:rPr>
              <a:t>£1.25</a:t>
            </a:r>
            <a:endParaRPr lang="en-US" sz="1050" dirty="0"/>
          </a:p>
        </p:txBody>
      </p:sp>
      <p:sp>
        <p:nvSpPr>
          <p:cNvPr id="15" name="Text 13"/>
          <p:cNvSpPr txBox="1"/>
          <p:nvPr/>
        </p:nvSpPr>
        <p:spPr>
          <a:xfrm>
            <a:off x="713232" y="5033772"/>
            <a:ext cx="1508760" cy="182880"/>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Sourdough loaf</a:t>
            </a:r>
            <a:endParaRPr lang="en-US" sz="1050" dirty="0"/>
          </a:p>
        </p:txBody>
      </p:sp>
      <p:sp>
        <p:nvSpPr>
          <p:cNvPr id="16" name="Text 14"/>
          <p:cNvSpPr txBox="1"/>
          <p:nvPr/>
        </p:nvSpPr>
        <p:spPr>
          <a:xfrm>
            <a:off x="2148840" y="5033772"/>
            <a:ext cx="841248" cy="182880"/>
          </a:xfrm>
          <a:prstGeom prst="rect">
            <a:avLst/>
          </a:prstGeom>
          <a:noFill/>
          <a:ln/>
        </p:spPr>
        <p:txBody>
          <a:bodyPr wrap="square" lIns="0" tIns="0" rIns="0" bIns="0" rtlCol="0" anchor="ctr"/>
          <a:lstStyle/>
          <a:p>
            <a:pPr algn="r" indent="0" marL="0">
              <a:buNone/>
            </a:pPr>
            <a:r>
              <a:rPr lang="en-US" sz="1050" dirty="0">
                <a:solidFill>
                  <a:srgbClr val="1B1F1D"/>
                </a:solidFill>
                <a:latin typeface="Consolas" pitchFamily="34" charset="0"/>
                <a:ea typeface="Consolas" pitchFamily="34" charset="-122"/>
                <a:cs typeface="Consolas" pitchFamily="34" charset="-120"/>
              </a:rPr>
              <a:t>£3.50</a:t>
            </a:r>
            <a:endParaRPr lang="en-US" sz="1050" dirty="0"/>
          </a:p>
        </p:txBody>
      </p:sp>
      <p:sp>
        <p:nvSpPr>
          <p:cNvPr id="17" name="Text 15"/>
          <p:cNvSpPr txBox="1"/>
          <p:nvPr/>
        </p:nvSpPr>
        <p:spPr>
          <a:xfrm>
            <a:off x="713232" y="5221224"/>
            <a:ext cx="1508760" cy="182880"/>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Cookie</a:t>
            </a:r>
            <a:endParaRPr lang="en-US" sz="1050" dirty="0"/>
          </a:p>
        </p:txBody>
      </p:sp>
      <p:sp>
        <p:nvSpPr>
          <p:cNvPr id="18" name="Text 16"/>
          <p:cNvSpPr txBox="1"/>
          <p:nvPr/>
        </p:nvSpPr>
        <p:spPr>
          <a:xfrm>
            <a:off x="2148840" y="5221224"/>
            <a:ext cx="841248" cy="182880"/>
          </a:xfrm>
          <a:prstGeom prst="rect">
            <a:avLst/>
          </a:prstGeom>
          <a:noFill/>
          <a:ln/>
        </p:spPr>
        <p:txBody>
          <a:bodyPr wrap="square" lIns="0" tIns="0" rIns="0" bIns="0" rtlCol="0" anchor="ctr"/>
          <a:lstStyle/>
          <a:p>
            <a:pPr algn="r" indent="0" marL="0">
              <a:buNone/>
            </a:pPr>
            <a:r>
              <a:rPr lang="en-US" sz="1050" dirty="0">
                <a:solidFill>
                  <a:srgbClr val="1B1F1D"/>
                </a:solidFill>
                <a:latin typeface="Consolas" pitchFamily="34" charset="0"/>
                <a:ea typeface="Consolas" pitchFamily="34" charset="-122"/>
                <a:cs typeface="Consolas" pitchFamily="34" charset="-120"/>
              </a:rPr>
              <a:t>£0.75</a:t>
            </a:r>
            <a:endParaRPr lang="en-US" sz="1050" dirty="0"/>
          </a:p>
        </p:txBody>
      </p:sp>
      <p:sp>
        <p:nvSpPr>
          <p:cNvPr id="19" name="Shape 17"/>
          <p:cNvSpPr/>
          <p:nvPr/>
        </p:nvSpPr>
        <p:spPr>
          <a:xfrm>
            <a:off x="694944" y="5445252"/>
            <a:ext cx="2313432" cy="0"/>
          </a:xfrm>
          <a:prstGeom prst="line">
            <a:avLst/>
          </a:prstGeom>
          <a:noFill/>
          <a:ln w="9525">
            <a:solidFill>
              <a:srgbClr val="B7C0BA"/>
            </a:solidFill>
            <a:prstDash val="dash"/>
          </a:ln>
        </p:spPr>
      </p:sp>
      <p:sp>
        <p:nvSpPr>
          <p:cNvPr id="20" name="Text 18"/>
          <p:cNvSpPr txBox="1"/>
          <p:nvPr/>
        </p:nvSpPr>
        <p:spPr>
          <a:xfrm>
            <a:off x="713232" y="5490972"/>
            <a:ext cx="1508760" cy="182880"/>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Subtotal</a:t>
            </a:r>
            <a:endParaRPr lang="en-US" sz="1050" dirty="0"/>
          </a:p>
        </p:txBody>
      </p:sp>
      <p:sp>
        <p:nvSpPr>
          <p:cNvPr id="21" name="Text 19"/>
          <p:cNvSpPr txBox="1"/>
          <p:nvPr/>
        </p:nvSpPr>
        <p:spPr>
          <a:xfrm>
            <a:off x="2148840" y="5490972"/>
            <a:ext cx="841248" cy="182880"/>
          </a:xfrm>
          <a:prstGeom prst="rect">
            <a:avLst/>
          </a:prstGeom>
          <a:noFill/>
          <a:ln/>
        </p:spPr>
        <p:txBody>
          <a:bodyPr wrap="square" lIns="0" tIns="0" rIns="0" bIns="0" rtlCol="0" anchor="ctr"/>
          <a:lstStyle/>
          <a:p>
            <a:pPr algn="r" indent="0" marL="0">
              <a:buNone/>
            </a:pPr>
            <a:r>
              <a:rPr lang="en-US" sz="1050" dirty="0">
                <a:solidFill>
                  <a:srgbClr val="1B1F1D"/>
                </a:solidFill>
                <a:latin typeface="Consolas" pitchFamily="34" charset="0"/>
                <a:ea typeface="Consolas" pitchFamily="34" charset="-122"/>
                <a:cs typeface="Consolas" pitchFamily="34" charset="-120"/>
              </a:rPr>
              <a:t>£5.50</a:t>
            </a:r>
            <a:endParaRPr lang="en-US" sz="1050" dirty="0"/>
          </a:p>
        </p:txBody>
      </p:sp>
      <p:sp>
        <p:nvSpPr>
          <p:cNvPr id="22" name="Text 20"/>
          <p:cNvSpPr txBox="1"/>
          <p:nvPr/>
        </p:nvSpPr>
        <p:spPr>
          <a:xfrm>
            <a:off x="713232" y="5678424"/>
            <a:ext cx="1508760" cy="182880"/>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£1 off £5+</a:t>
            </a:r>
            <a:endParaRPr lang="en-US" sz="1050" dirty="0"/>
          </a:p>
        </p:txBody>
      </p:sp>
      <p:sp>
        <p:nvSpPr>
          <p:cNvPr id="23" name="Text 21"/>
          <p:cNvSpPr txBox="1"/>
          <p:nvPr/>
        </p:nvSpPr>
        <p:spPr>
          <a:xfrm>
            <a:off x="2148840" y="5678424"/>
            <a:ext cx="841248" cy="182880"/>
          </a:xfrm>
          <a:prstGeom prst="rect">
            <a:avLst/>
          </a:prstGeom>
          <a:noFill/>
          <a:ln/>
        </p:spPr>
        <p:txBody>
          <a:bodyPr wrap="square" lIns="0" tIns="0" rIns="0" bIns="0" rtlCol="0" anchor="ctr"/>
          <a:lstStyle/>
          <a:p>
            <a:pPr algn="r" indent="0" marL="0">
              <a:buNone/>
            </a:pPr>
            <a:r>
              <a:rPr lang="en-US" sz="1050" dirty="0">
                <a:solidFill>
                  <a:srgbClr val="1B1F1D"/>
                </a:solidFill>
                <a:latin typeface="Consolas" pitchFamily="34" charset="0"/>
                <a:ea typeface="Consolas" pitchFamily="34" charset="-122"/>
                <a:cs typeface="Consolas" pitchFamily="34" charset="-120"/>
              </a:rPr>
              <a:t>−£1.00</a:t>
            </a:r>
            <a:endParaRPr lang="en-US" sz="1050" dirty="0"/>
          </a:p>
        </p:txBody>
      </p:sp>
      <p:sp>
        <p:nvSpPr>
          <p:cNvPr id="24" name="Shape 22"/>
          <p:cNvSpPr/>
          <p:nvPr/>
        </p:nvSpPr>
        <p:spPr>
          <a:xfrm>
            <a:off x="694944" y="5902452"/>
            <a:ext cx="2313432" cy="0"/>
          </a:xfrm>
          <a:prstGeom prst="line">
            <a:avLst/>
          </a:prstGeom>
          <a:noFill/>
          <a:ln w="15875">
            <a:solidFill>
              <a:srgbClr val="1B1F1D"/>
            </a:solidFill>
            <a:prstDash val="solid"/>
          </a:ln>
        </p:spPr>
      </p:sp>
      <p:sp>
        <p:nvSpPr>
          <p:cNvPr id="25" name="Text 23"/>
          <p:cNvSpPr txBox="1"/>
          <p:nvPr/>
        </p:nvSpPr>
        <p:spPr>
          <a:xfrm>
            <a:off x="713232" y="5948172"/>
            <a:ext cx="1508760" cy="182880"/>
          </a:xfrm>
          <a:prstGeom prst="rect">
            <a:avLst/>
          </a:prstGeom>
          <a:noFill/>
          <a:ln/>
        </p:spPr>
        <p:txBody>
          <a:bodyPr wrap="square" lIns="0" tIns="0" rIns="0" bIns="0" rtlCol="0" anchor="ctr"/>
          <a:lstStyle/>
          <a:p>
            <a:pPr indent="0" marL="0">
              <a:buNone/>
            </a:pPr>
            <a:r>
              <a:rPr lang="en-US" sz="1150" b="1" dirty="0">
                <a:solidFill>
                  <a:srgbClr val="1B1F1D"/>
                </a:solidFill>
                <a:latin typeface="Consolas" pitchFamily="34" charset="0"/>
                <a:ea typeface="Consolas" pitchFamily="34" charset="-122"/>
                <a:cs typeface="Consolas" pitchFamily="34" charset="-120"/>
              </a:rPr>
              <a:t>To pay</a:t>
            </a:r>
            <a:endParaRPr lang="en-US" sz="1150" dirty="0"/>
          </a:p>
        </p:txBody>
      </p:sp>
      <p:sp>
        <p:nvSpPr>
          <p:cNvPr id="26" name="Text 24"/>
          <p:cNvSpPr txBox="1"/>
          <p:nvPr/>
        </p:nvSpPr>
        <p:spPr>
          <a:xfrm>
            <a:off x="2148840" y="5948172"/>
            <a:ext cx="841248" cy="182880"/>
          </a:xfrm>
          <a:prstGeom prst="rect">
            <a:avLst/>
          </a:prstGeom>
          <a:noFill/>
          <a:ln/>
        </p:spPr>
        <p:txBody>
          <a:bodyPr wrap="square" lIns="0" tIns="0" rIns="0" bIns="0" rtlCol="0" anchor="ctr"/>
          <a:lstStyle/>
          <a:p>
            <a:pPr algn="r" indent="0" marL="0">
              <a:buNone/>
            </a:pPr>
            <a:r>
              <a:rPr lang="en-US" sz="1150" b="1" dirty="0">
                <a:solidFill>
                  <a:srgbClr val="1B1F1D"/>
                </a:solidFill>
                <a:latin typeface="Consolas" pitchFamily="34" charset="0"/>
                <a:ea typeface="Consolas" pitchFamily="34" charset="-122"/>
                <a:cs typeface="Consolas" pitchFamily="34" charset="-120"/>
              </a:rPr>
              <a:t>£4.50</a:t>
            </a:r>
            <a:endParaRPr lang="en-US" sz="1150" dirty="0"/>
          </a:p>
        </p:txBody>
      </p:sp>
      <p:sp>
        <p:nvSpPr>
          <p:cNvPr id="27" name="Text 25"/>
          <p:cNvSpPr txBox="1"/>
          <p:nvPr/>
        </p:nvSpPr>
        <p:spPr>
          <a:xfrm>
            <a:off x="3429000" y="4645152"/>
            <a:ext cx="301752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MY EXAMPLE ALL THE WAY THROUGH</a:t>
            </a:r>
            <a:endParaRPr lang="en-US" sz="1000" dirty="0"/>
          </a:p>
        </p:txBody>
      </p:sp>
      <p:sp>
        <p:nvSpPr>
          <p:cNvPr id="28" name="Text 26"/>
          <p:cNvSpPr txBox="1"/>
          <p:nvPr/>
        </p:nvSpPr>
        <p:spPr>
          <a:xfrm>
            <a:off x="3429000" y="4937760"/>
            <a:ext cx="2971800" cy="1097280"/>
          </a:xfrm>
          <a:prstGeom prst="rect">
            <a:avLst/>
          </a:prstGeom>
          <a:noFill/>
          <a:ln/>
        </p:spPr>
        <p:txBody>
          <a:bodyPr wrap="square" lIns="0" tIns="0" rIns="0" bIns="0" rtlCol="0" anchor="t"/>
          <a:lstStyle/>
          <a:p>
            <a:pPr indent="0" marL="0">
              <a:buNone/>
            </a:pPr>
            <a:r>
              <a:rPr lang="en-US" sz="1350" dirty="0">
                <a:solidFill>
                  <a:srgbClr val="4A534E"/>
                </a:solidFill>
                <a:latin typeface="Calibri" pitchFamily="34" charset="0"/>
                <a:ea typeface="Calibri" pitchFamily="34" charset="-122"/>
                <a:cs typeface="Calibri" pitchFamily="34" charset="-120"/>
              </a:rPr>
              <a:t>To compare the three fairly, every code example does the same small job: it adds up a bakery basket and takes £1 off orders of £5 or more.</a:t>
            </a:r>
            <a:endParaRPr lang="en-US" sz="1350" dirty="0"/>
          </a:p>
        </p:txBody>
      </p:sp>
      <p:sp>
        <p:nvSpPr>
          <p:cNvPr id="29" name="Text 27"/>
          <p:cNvSpPr txBox="1"/>
          <p:nvPr/>
        </p:nvSpPr>
        <p:spPr>
          <a:xfrm>
            <a:off x="6720840" y="1554480"/>
            <a:ext cx="493776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THE THREE PARADIGMS IN THIS PRESENTATION</a:t>
            </a:r>
            <a:endParaRPr lang="en-US" sz="1000" dirty="0"/>
          </a:p>
        </p:txBody>
      </p:sp>
      <p:sp>
        <p:nvSpPr>
          <p:cNvPr id="30" name="Shape 28"/>
          <p:cNvSpPr/>
          <p:nvPr/>
        </p:nvSpPr>
        <p:spPr>
          <a:xfrm>
            <a:off x="6720840" y="1874520"/>
            <a:ext cx="4919472" cy="1298448"/>
          </a:xfrm>
          <a:prstGeom prst="roundRect">
            <a:avLst>
              <a:gd name="adj" fmla="val 8451"/>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31" name="Shape 29"/>
          <p:cNvSpPr/>
          <p:nvPr/>
        </p:nvSpPr>
        <p:spPr>
          <a:xfrm>
            <a:off x="6949440" y="2093976"/>
            <a:ext cx="603504" cy="603504"/>
          </a:xfrm>
          <a:prstGeom prst="ellipse">
            <a:avLst/>
          </a:prstGeom>
          <a:solidFill>
            <a:srgbClr val="CADDF5"/>
          </a:solidFill>
          <a:ln w="31750">
            <a:solidFill>
              <a:srgbClr val="2A78D6"/>
            </a:solidFill>
            <a:prstDash val="solid"/>
          </a:ln>
        </p:spPr>
      </p:sp>
      <p:pic>
        <p:nvPicPr>
          <p:cNvPr id="32" name="Image 0" descr="Procedural icon">    </p:cNvPr>
          <p:cNvPicPr>
            <a:picLocks noChangeAspect="1"/>
          </p:cNvPicPr>
          <p:nvPr/>
        </p:nvPicPr>
        <p:blipFill>
          <a:blip r:embed="rId1"/>
          <a:stretch>
            <a:fillRect/>
          </a:stretch>
        </p:blipFill>
        <p:spPr>
          <a:xfrm>
            <a:off x="7094281" y="2238817"/>
            <a:ext cx="313822" cy="313822"/>
          </a:xfrm>
          <a:prstGeom prst="rect">
            <a:avLst/>
          </a:prstGeom>
        </p:spPr>
      </p:pic>
      <p:sp>
        <p:nvSpPr>
          <p:cNvPr id="33" name="Text 30"/>
          <p:cNvSpPr txBox="1"/>
          <p:nvPr/>
        </p:nvSpPr>
        <p:spPr>
          <a:xfrm>
            <a:off x="7772400" y="2020824"/>
            <a:ext cx="3657600" cy="329184"/>
          </a:xfrm>
          <a:prstGeom prst="rect">
            <a:avLst/>
          </a:prstGeom>
          <a:noFill/>
          <a:ln/>
        </p:spPr>
        <p:txBody>
          <a:bodyPr wrap="square" lIns="0" tIns="0" rIns="0" bIns="0" rtlCol="0" anchor="ctr"/>
          <a:lstStyle/>
          <a:p>
            <a:pPr indent="0" marL="0">
              <a:buNone/>
            </a:pPr>
            <a:r>
              <a:rPr lang="en-US" sz="1800" b="1" dirty="0">
                <a:solidFill>
                  <a:srgbClr val="1B1F1D"/>
                </a:solidFill>
                <a:latin typeface="Cambria" pitchFamily="34" charset="0"/>
                <a:ea typeface="Cambria" pitchFamily="34" charset="-122"/>
                <a:cs typeface="Cambria" pitchFamily="34" charset="-120"/>
              </a:rPr>
              <a:t>Procedural</a:t>
            </a:r>
            <a:endParaRPr lang="en-US" sz="1800" dirty="0"/>
          </a:p>
        </p:txBody>
      </p:sp>
      <p:sp>
        <p:nvSpPr>
          <p:cNvPr id="34" name="Text 31"/>
          <p:cNvSpPr txBox="1"/>
          <p:nvPr/>
        </p:nvSpPr>
        <p:spPr>
          <a:xfrm>
            <a:off x="7772400" y="2368296"/>
            <a:ext cx="3703320" cy="420624"/>
          </a:xfrm>
          <a:prstGeom prst="rect">
            <a:avLst/>
          </a:prstGeom>
          <a:noFill/>
          <a:ln/>
        </p:spPr>
        <p:txBody>
          <a:bodyPr wrap="square" lIns="0" tIns="0" rIns="0" bIns="0" rtlCol="0" anchor="t"/>
          <a:lstStyle/>
          <a:p>
            <a:pPr indent="0" marL="0">
              <a:buNone/>
            </a:pPr>
            <a:r>
              <a:rPr lang="en-US" sz="1300" dirty="0">
                <a:solidFill>
                  <a:srgbClr val="4A534E"/>
                </a:solidFill>
                <a:latin typeface="Calibri" pitchFamily="34" charset="0"/>
                <a:ea typeface="Calibri" pitchFamily="34" charset="-122"/>
                <a:cs typeface="Calibri" pitchFamily="34" charset="-120"/>
              </a:rPr>
              <a:t>A list of steps that run in order, grouped into procedures (functions).</a:t>
            </a:r>
            <a:endParaRPr lang="en-US" sz="1300" dirty="0"/>
          </a:p>
        </p:txBody>
      </p:sp>
      <p:sp>
        <p:nvSpPr>
          <p:cNvPr id="35" name="Text 32"/>
          <p:cNvSpPr txBox="1"/>
          <p:nvPr/>
        </p:nvSpPr>
        <p:spPr>
          <a:xfrm>
            <a:off x="7772400" y="2816352"/>
            <a:ext cx="3703320" cy="256032"/>
          </a:xfrm>
          <a:prstGeom prst="rect">
            <a:avLst/>
          </a:prstGeom>
          <a:noFill/>
          <a:ln/>
        </p:spPr>
        <p:txBody>
          <a:bodyPr wrap="square" lIns="0" tIns="0" rIns="0" bIns="0" rtlCol="0" anchor="t"/>
          <a:lstStyle/>
          <a:p>
            <a:pPr indent="0" marL="0">
              <a:buNone/>
            </a:pPr>
            <a:r>
              <a:rPr lang="en-US" sz="1250" i="1" dirty="0">
                <a:solidFill>
                  <a:srgbClr val="4A534E"/>
                </a:solidFill>
                <a:latin typeface="Cambria" pitchFamily="34" charset="0"/>
                <a:ea typeface="Cambria" pitchFamily="34" charset="-122"/>
                <a:cs typeface="Cambria" pitchFamily="34" charset="-120"/>
              </a:rPr>
              <a:t>like following a recipe</a:t>
            </a:r>
            <a:endParaRPr lang="en-US" sz="1250" dirty="0"/>
          </a:p>
        </p:txBody>
      </p:sp>
      <p:sp>
        <p:nvSpPr>
          <p:cNvPr id="36" name="Shape 33"/>
          <p:cNvSpPr/>
          <p:nvPr/>
        </p:nvSpPr>
        <p:spPr>
          <a:xfrm>
            <a:off x="6720840" y="3310128"/>
            <a:ext cx="4919472" cy="1298448"/>
          </a:xfrm>
          <a:prstGeom prst="roundRect">
            <a:avLst>
              <a:gd name="adj" fmla="val 8451"/>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37" name="Shape 34"/>
          <p:cNvSpPr/>
          <p:nvPr/>
        </p:nvSpPr>
        <p:spPr>
          <a:xfrm>
            <a:off x="6949440" y="3529584"/>
            <a:ext cx="603504" cy="603504"/>
          </a:xfrm>
          <a:prstGeom prst="ellipse">
            <a:avLst/>
          </a:prstGeom>
          <a:solidFill>
            <a:srgbClr val="F7E1BF"/>
          </a:solidFill>
          <a:ln w="31750">
            <a:solidFill>
              <a:srgbClr val="DF8700"/>
            </a:solidFill>
            <a:prstDash val="solid"/>
          </a:ln>
        </p:spPr>
      </p:sp>
      <p:pic>
        <p:nvPicPr>
          <p:cNvPr id="38" name="Image 1" descr="Event-driven icon">    </p:cNvPr>
          <p:cNvPicPr>
            <a:picLocks noChangeAspect="1"/>
          </p:cNvPicPr>
          <p:nvPr/>
        </p:nvPicPr>
        <p:blipFill>
          <a:blip r:embed="rId2"/>
          <a:stretch>
            <a:fillRect/>
          </a:stretch>
        </p:blipFill>
        <p:spPr>
          <a:xfrm>
            <a:off x="7094281" y="3674425"/>
            <a:ext cx="313822" cy="313822"/>
          </a:xfrm>
          <a:prstGeom prst="rect">
            <a:avLst/>
          </a:prstGeom>
        </p:spPr>
      </p:pic>
      <p:sp>
        <p:nvSpPr>
          <p:cNvPr id="39" name="Text 35"/>
          <p:cNvSpPr txBox="1"/>
          <p:nvPr/>
        </p:nvSpPr>
        <p:spPr>
          <a:xfrm>
            <a:off x="7772400" y="3456432"/>
            <a:ext cx="3657600" cy="329184"/>
          </a:xfrm>
          <a:prstGeom prst="rect">
            <a:avLst/>
          </a:prstGeom>
          <a:noFill/>
          <a:ln/>
        </p:spPr>
        <p:txBody>
          <a:bodyPr wrap="square" lIns="0" tIns="0" rIns="0" bIns="0" rtlCol="0" anchor="ctr"/>
          <a:lstStyle/>
          <a:p>
            <a:pPr indent="0" marL="0">
              <a:buNone/>
            </a:pPr>
            <a:r>
              <a:rPr lang="en-US" sz="1800" b="1" dirty="0">
                <a:solidFill>
                  <a:srgbClr val="1B1F1D"/>
                </a:solidFill>
                <a:latin typeface="Cambria" pitchFamily="34" charset="0"/>
                <a:ea typeface="Cambria" pitchFamily="34" charset="-122"/>
                <a:cs typeface="Cambria" pitchFamily="34" charset="-120"/>
              </a:rPr>
              <a:t>Event-driven</a:t>
            </a:r>
            <a:endParaRPr lang="en-US" sz="1800" dirty="0"/>
          </a:p>
        </p:txBody>
      </p:sp>
      <p:sp>
        <p:nvSpPr>
          <p:cNvPr id="40" name="Text 36"/>
          <p:cNvSpPr txBox="1"/>
          <p:nvPr/>
        </p:nvSpPr>
        <p:spPr>
          <a:xfrm>
            <a:off x="7772400" y="3803904"/>
            <a:ext cx="3703320" cy="420624"/>
          </a:xfrm>
          <a:prstGeom prst="rect">
            <a:avLst/>
          </a:prstGeom>
          <a:noFill/>
          <a:ln/>
        </p:spPr>
        <p:txBody>
          <a:bodyPr wrap="square" lIns="0" tIns="0" rIns="0" bIns="0" rtlCol="0" anchor="t"/>
          <a:lstStyle/>
          <a:p>
            <a:pPr indent="0" marL="0">
              <a:buNone/>
            </a:pPr>
            <a:r>
              <a:rPr lang="en-US" sz="1300" dirty="0">
                <a:solidFill>
                  <a:srgbClr val="4A534E"/>
                </a:solidFill>
                <a:latin typeface="Calibri" pitchFamily="34" charset="0"/>
                <a:ea typeface="Calibri" pitchFamily="34" charset="-122"/>
                <a:cs typeface="Calibri" pitchFamily="34" charset="-120"/>
              </a:rPr>
              <a:t>The program waits for events, like a click, and reacts to each one when it happens.</a:t>
            </a:r>
            <a:endParaRPr lang="en-US" sz="1300" dirty="0"/>
          </a:p>
        </p:txBody>
      </p:sp>
      <p:sp>
        <p:nvSpPr>
          <p:cNvPr id="41" name="Text 37"/>
          <p:cNvSpPr txBox="1"/>
          <p:nvPr/>
        </p:nvSpPr>
        <p:spPr>
          <a:xfrm>
            <a:off x="7772400" y="4251960"/>
            <a:ext cx="3703320" cy="256032"/>
          </a:xfrm>
          <a:prstGeom prst="rect">
            <a:avLst/>
          </a:prstGeom>
          <a:noFill/>
          <a:ln/>
        </p:spPr>
        <p:txBody>
          <a:bodyPr wrap="square" lIns="0" tIns="0" rIns="0" bIns="0" rtlCol="0" anchor="t"/>
          <a:lstStyle/>
          <a:p>
            <a:pPr indent="0" marL="0">
              <a:buNone/>
            </a:pPr>
            <a:r>
              <a:rPr lang="en-US" sz="1250" i="1" dirty="0">
                <a:solidFill>
                  <a:srgbClr val="4A534E"/>
                </a:solidFill>
                <a:latin typeface="Cambria" pitchFamily="34" charset="0"/>
                <a:ea typeface="Cambria" pitchFamily="34" charset="-122"/>
                <a:cs typeface="Cambria" pitchFamily="34" charset="-120"/>
              </a:rPr>
              <a:t>like a shop assistant waiting for customers</a:t>
            </a:r>
            <a:endParaRPr lang="en-US" sz="1250" dirty="0"/>
          </a:p>
        </p:txBody>
      </p:sp>
      <p:sp>
        <p:nvSpPr>
          <p:cNvPr id="42" name="Shape 38"/>
          <p:cNvSpPr/>
          <p:nvPr/>
        </p:nvSpPr>
        <p:spPr>
          <a:xfrm>
            <a:off x="6720840" y="4745736"/>
            <a:ext cx="4919472" cy="1298448"/>
          </a:xfrm>
          <a:prstGeom prst="roundRect">
            <a:avLst>
              <a:gd name="adj" fmla="val 8451"/>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43" name="Shape 39"/>
          <p:cNvSpPr/>
          <p:nvPr/>
        </p:nvSpPr>
        <p:spPr>
          <a:xfrm>
            <a:off x="6949440" y="4965192"/>
            <a:ext cx="603504" cy="603504"/>
          </a:xfrm>
          <a:prstGeom prst="ellipse">
            <a:avLst/>
          </a:prstGeom>
          <a:solidFill>
            <a:srgbClr val="F0D0E6"/>
          </a:solidFill>
          <a:ln w="31750">
            <a:solidFill>
              <a:srgbClr val="C2449A"/>
            </a:solidFill>
            <a:prstDash val="solid"/>
          </a:ln>
        </p:spPr>
      </p:sp>
      <p:pic>
        <p:nvPicPr>
          <p:cNvPr id="44" name="Image 2" descr="Object-oriented icon">    </p:cNvPr>
          <p:cNvPicPr>
            <a:picLocks noChangeAspect="1"/>
          </p:cNvPicPr>
          <p:nvPr/>
        </p:nvPicPr>
        <p:blipFill>
          <a:blip r:embed="rId3"/>
          <a:stretch>
            <a:fillRect/>
          </a:stretch>
        </p:blipFill>
        <p:spPr>
          <a:xfrm>
            <a:off x="7094281" y="5110033"/>
            <a:ext cx="313822" cy="313822"/>
          </a:xfrm>
          <a:prstGeom prst="rect">
            <a:avLst/>
          </a:prstGeom>
        </p:spPr>
      </p:pic>
      <p:sp>
        <p:nvSpPr>
          <p:cNvPr id="45" name="Text 40"/>
          <p:cNvSpPr txBox="1"/>
          <p:nvPr/>
        </p:nvSpPr>
        <p:spPr>
          <a:xfrm>
            <a:off x="7772400" y="4892040"/>
            <a:ext cx="3657600" cy="329184"/>
          </a:xfrm>
          <a:prstGeom prst="rect">
            <a:avLst/>
          </a:prstGeom>
          <a:noFill/>
          <a:ln/>
        </p:spPr>
        <p:txBody>
          <a:bodyPr wrap="square" lIns="0" tIns="0" rIns="0" bIns="0" rtlCol="0" anchor="ctr"/>
          <a:lstStyle/>
          <a:p>
            <a:pPr indent="0" marL="0">
              <a:buNone/>
            </a:pPr>
            <a:r>
              <a:rPr lang="en-US" sz="1800" b="1" dirty="0">
                <a:solidFill>
                  <a:srgbClr val="1B1F1D"/>
                </a:solidFill>
                <a:latin typeface="Cambria" pitchFamily="34" charset="0"/>
                <a:ea typeface="Cambria" pitchFamily="34" charset="-122"/>
                <a:cs typeface="Cambria" pitchFamily="34" charset="-120"/>
              </a:rPr>
              <a:t>Object-oriented</a:t>
            </a:r>
            <a:endParaRPr lang="en-US" sz="1800" dirty="0"/>
          </a:p>
        </p:txBody>
      </p:sp>
      <p:sp>
        <p:nvSpPr>
          <p:cNvPr id="46" name="Text 41"/>
          <p:cNvSpPr txBox="1"/>
          <p:nvPr/>
        </p:nvSpPr>
        <p:spPr>
          <a:xfrm>
            <a:off x="7772400" y="5239512"/>
            <a:ext cx="3703320" cy="420624"/>
          </a:xfrm>
          <a:prstGeom prst="rect">
            <a:avLst/>
          </a:prstGeom>
          <a:noFill/>
          <a:ln/>
        </p:spPr>
        <p:txBody>
          <a:bodyPr wrap="square" lIns="0" tIns="0" rIns="0" bIns="0" rtlCol="0" anchor="t"/>
          <a:lstStyle/>
          <a:p>
            <a:pPr indent="0" marL="0">
              <a:buNone/>
            </a:pPr>
            <a:r>
              <a:rPr lang="en-US" sz="1300" dirty="0">
                <a:solidFill>
                  <a:srgbClr val="4A534E"/>
                </a:solidFill>
                <a:latin typeface="Calibri" pitchFamily="34" charset="0"/>
                <a:ea typeface="Calibri" pitchFamily="34" charset="-122"/>
                <a:cs typeface="Calibri" pitchFamily="34" charset="-120"/>
              </a:rPr>
              <a:t>The program is built from objects that keep their own data and actions together.</a:t>
            </a:r>
            <a:endParaRPr lang="en-US" sz="1300" dirty="0"/>
          </a:p>
        </p:txBody>
      </p:sp>
      <p:sp>
        <p:nvSpPr>
          <p:cNvPr id="47" name="Text 42"/>
          <p:cNvSpPr txBox="1"/>
          <p:nvPr/>
        </p:nvSpPr>
        <p:spPr>
          <a:xfrm>
            <a:off x="7772400" y="5687568"/>
            <a:ext cx="3703320" cy="256032"/>
          </a:xfrm>
          <a:prstGeom prst="rect">
            <a:avLst/>
          </a:prstGeom>
          <a:noFill/>
          <a:ln/>
        </p:spPr>
        <p:txBody>
          <a:bodyPr wrap="square" lIns="0" tIns="0" rIns="0" bIns="0" rtlCol="0" anchor="t"/>
          <a:lstStyle/>
          <a:p>
            <a:pPr indent="0" marL="0">
              <a:buNone/>
            </a:pPr>
            <a:r>
              <a:rPr lang="en-US" sz="1250" i="1" dirty="0">
                <a:solidFill>
                  <a:srgbClr val="4A534E"/>
                </a:solidFill>
                <a:latin typeface="Cambria" pitchFamily="34" charset="0"/>
                <a:ea typeface="Cambria" pitchFamily="34" charset="-122"/>
                <a:cs typeface="Cambria" pitchFamily="34" charset="-120"/>
              </a:rPr>
              <a:t>like the till, oven and products in a bakery</a:t>
            </a:r>
            <a:endParaRPr lang="en-US" sz="1250" dirty="0"/>
          </a:p>
        </p:txBody>
      </p:sp>
      <p:sp>
        <p:nvSpPr>
          <p:cNvPr id="48" name="Text 43"/>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CADDF5"/>
          </a:solidFill>
          <a:ln w="25400">
            <a:solidFill>
              <a:srgbClr val="2A78D6"/>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2</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PROCEDURAL · WHAT IT IS</a:t>
            </a:r>
            <a:endParaRPr lang="en-US" sz="1100" dirty="0"/>
          </a:p>
        </p:txBody>
      </p:sp>
      <p:sp>
        <p:nvSpPr>
          <p:cNvPr id="5" name="Text 3"/>
          <p:cNvSpPr txBox="1"/>
          <p:nvPr/>
        </p:nvSpPr>
        <p:spPr>
          <a:xfrm>
            <a:off x="548640" y="731520"/>
            <a:ext cx="9144000"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Procedural programming</a:t>
            </a:r>
            <a:endParaRPr lang="en-US" sz="3200" dirty="0"/>
          </a:p>
        </p:txBody>
      </p:sp>
      <p:sp>
        <p:nvSpPr>
          <p:cNvPr id="6" name="Shape 4"/>
          <p:cNvSpPr/>
          <p:nvPr/>
        </p:nvSpPr>
        <p:spPr>
          <a:xfrm>
            <a:off x="10253167" y="932688"/>
            <a:ext cx="1197864" cy="0"/>
          </a:xfrm>
          <a:prstGeom prst="line">
            <a:avLst/>
          </a:prstGeom>
          <a:noFill/>
          <a:ln w="19050">
            <a:solidFill>
              <a:srgbClr val="B7C0BA"/>
            </a:solidFill>
            <a:prstDash val="solid"/>
          </a:ln>
        </p:spPr>
      </p:sp>
      <p:sp>
        <p:nvSpPr>
          <p:cNvPr id="7" name="Shape 5"/>
          <p:cNvSpPr/>
          <p:nvPr/>
        </p:nvSpPr>
        <p:spPr>
          <a:xfrm>
            <a:off x="9997135" y="676656"/>
            <a:ext cx="512064" cy="512064"/>
          </a:xfrm>
          <a:prstGeom prst="ellipse">
            <a:avLst/>
          </a:prstGeom>
          <a:solidFill>
            <a:srgbClr val="CADDF5"/>
          </a:solidFill>
          <a:ln w="31750">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10120031" y="799551"/>
            <a:ext cx="266273" cy="266273"/>
          </a:xfrm>
          <a:prstGeom prst="rect">
            <a:avLst/>
          </a:prstGeom>
        </p:spPr>
      </p:pic>
      <p:sp>
        <p:nvSpPr>
          <p:cNvPr id="9" name="Shape 6"/>
          <p:cNvSpPr/>
          <p:nvPr/>
        </p:nvSpPr>
        <p:spPr>
          <a:xfrm>
            <a:off x="10692079" y="740664"/>
            <a:ext cx="384048" cy="384048"/>
          </a:xfrm>
          <a:prstGeom prst="ellipse">
            <a:avLst/>
          </a:prstGeom>
          <a:solidFill>
            <a:srgbClr val="FFFFFF"/>
          </a:solidFill>
          <a:ln w="22225">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10784251" y="832836"/>
            <a:ext cx="199705" cy="199705"/>
          </a:xfrm>
          <a:prstGeom prst="rect">
            <a:avLst/>
          </a:prstGeom>
        </p:spPr>
      </p:pic>
      <p:sp>
        <p:nvSpPr>
          <p:cNvPr id="11" name="Shape 7"/>
          <p:cNvSpPr/>
          <p:nvPr/>
        </p:nvSpPr>
        <p:spPr>
          <a:xfrm>
            <a:off x="11259007" y="740664"/>
            <a:ext cx="384048" cy="384048"/>
          </a:xfrm>
          <a:prstGeom prst="ellipse">
            <a:avLst/>
          </a:prstGeom>
          <a:solidFill>
            <a:srgbClr val="FFFFFF"/>
          </a:solidFill>
          <a:ln w="22225">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11351179" y="832836"/>
            <a:ext cx="199705" cy="199705"/>
          </a:xfrm>
          <a:prstGeom prst="rect">
            <a:avLst/>
          </a:prstGeom>
        </p:spPr>
      </p:pic>
      <p:sp>
        <p:nvSpPr>
          <p:cNvPr id="13" name="Shape 8"/>
          <p:cNvSpPr/>
          <p:nvPr/>
        </p:nvSpPr>
        <p:spPr>
          <a:xfrm>
            <a:off x="548640" y="1554480"/>
            <a:ext cx="5715000" cy="2212848"/>
          </a:xfrm>
          <a:prstGeom prst="roundRect">
            <a:avLst>
              <a:gd name="adj" fmla="val 4959"/>
            </a:avLst>
          </a:prstGeom>
          <a:solidFill>
            <a:srgbClr val="EEF4FC"/>
          </a:solidFill>
          <a:ln w="12700">
            <a:solidFill>
              <a:srgbClr val="CADDF5"/>
            </a:solidFill>
            <a:prstDash val="solid"/>
          </a:ln>
        </p:spPr>
      </p:sp>
      <p:sp>
        <p:nvSpPr>
          <p:cNvPr id="14" name="Text 9"/>
          <p:cNvSpPr txBox="1"/>
          <p:nvPr/>
        </p:nvSpPr>
        <p:spPr>
          <a:xfrm>
            <a:off x="768096" y="1691640"/>
            <a:ext cx="5276088" cy="384048"/>
          </a:xfrm>
          <a:prstGeom prst="rect">
            <a:avLst/>
          </a:prstGeom>
          <a:noFill/>
          <a:ln/>
        </p:spPr>
        <p:txBody>
          <a:bodyPr wrap="square" lIns="0" tIns="0" rIns="0" bIns="0" rtlCol="0" anchor="ctr"/>
          <a:lstStyle/>
          <a:p>
            <a:pPr indent="0" marL="0">
              <a:buNone/>
            </a:pPr>
            <a:r>
              <a:rPr lang="en-US" sz="1900" b="1" dirty="0">
                <a:solidFill>
                  <a:srgbClr val="1B1F1D"/>
                </a:solidFill>
                <a:latin typeface="Cambria" pitchFamily="34" charset="0"/>
                <a:ea typeface="Cambria" pitchFamily="34" charset="-122"/>
                <a:cs typeface="Cambria" pitchFamily="34" charset="-120"/>
              </a:rPr>
              <a:t>procedural programming</a:t>
            </a:r>
            <a:r>
              <a:rPr lang="en-US" sz="1300" i="1" dirty="0">
                <a:solidFill>
                  <a:srgbClr val="5F6964"/>
                </a:solidFill>
                <a:latin typeface="Calibri" pitchFamily="34" charset="0"/>
                <a:ea typeface="Calibri" pitchFamily="34" charset="-122"/>
                <a:cs typeface="Calibri" pitchFamily="34" charset="-120"/>
              </a:rPr>
              <a:t>   noun</a:t>
            </a:r>
            <a:endParaRPr lang="en-US" sz="1400" dirty="0"/>
          </a:p>
        </p:txBody>
      </p:sp>
      <p:sp>
        <p:nvSpPr>
          <p:cNvPr id="15" name="Text 10"/>
          <p:cNvSpPr txBox="1"/>
          <p:nvPr/>
        </p:nvSpPr>
        <p:spPr>
          <a:xfrm>
            <a:off x="768096" y="2121408"/>
            <a:ext cx="5276088" cy="1170432"/>
          </a:xfrm>
          <a:prstGeom prst="rect">
            <a:avLst/>
          </a:prstGeom>
          <a:noFill/>
          <a:ln/>
        </p:spPr>
        <p:txBody>
          <a:bodyPr wrap="square" lIns="0" tIns="0" rIns="0" bIns="0" rtlCol="0" anchor="t"/>
          <a:lstStyle/>
          <a:p>
            <a:pPr indent="0" marL="0">
              <a:lnSpc>
                <a:spcPct val="105000"/>
              </a:lnSpc>
              <a:buNone/>
            </a:pPr>
            <a:r>
              <a:rPr lang="en-US" sz="1400" dirty="0">
                <a:solidFill>
                  <a:srgbClr val="1B1F1D"/>
                </a:solidFill>
                <a:latin typeface="Calibri" pitchFamily="34" charset="0"/>
                <a:ea typeface="Calibri" pitchFamily="34" charset="-122"/>
                <a:cs typeface="Calibri" pitchFamily="34" charset="-120"/>
              </a:rPr>
              <a:t>A style of programming where a program is a list of instructions that the computer carries out in order, from top to bottom. The instructions are grouped into procedures (also called functions or subroutines) that can be called whenever they're needed </a:t>
            </a:r>
            <a:r>
              <a:rPr lang="en-US" sz="1100" dirty="0">
                <a:solidFill>
                  <a:srgbClr val="5F6964"/>
                </a:solidFill>
                <a:latin typeface="Calibri" pitchFamily="34" charset="0"/>
                <a:ea typeface="Calibri" pitchFamily="34" charset="-122"/>
                <a:cs typeface="Calibri" pitchFamily="34" charset="-120"/>
              </a:rPr>
              <a:t>(Sebesta, 2016)</a:t>
            </a:r>
            <a:endParaRPr lang="en-US" sz="1400" dirty="0"/>
          </a:p>
        </p:txBody>
      </p:sp>
      <p:sp>
        <p:nvSpPr>
          <p:cNvPr id="16" name="Text 11"/>
          <p:cNvSpPr txBox="1"/>
          <p:nvPr/>
        </p:nvSpPr>
        <p:spPr>
          <a:xfrm>
            <a:off x="768096" y="3310128"/>
            <a:ext cx="5276088" cy="347472"/>
          </a:xfrm>
          <a:prstGeom prst="rect">
            <a:avLst/>
          </a:prstGeom>
          <a:noFill/>
          <a:ln/>
        </p:spPr>
        <p:txBody>
          <a:bodyPr wrap="square" lIns="0" tIns="0" rIns="0" bIns="0" rtlCol="0" anchor="b"/>
          <a:lstStyle/>
          <a:p>
            <a:pPr indent="0" marL="0">
              <a:buNone/>
            </a:pPr>
            <a:r>
              <a:rPr lang="en-US" sz="950" dirty="0">
                <a:solidFill>
                  <a:srgbClr val="4A534E"/>
                </a:solidFill>
                <a:latin typeface="Consolas" pitchFamily="34" charset="0"/>
                <a:ea typeface="Consolas" pitchFamily="34" charset="-122"/>
                <a:cs typeface="Consolas" pitchFamily="34" charset="-120"/>
              </a:rPr>
              <a:t>a type of imperative programming · e.g. C, Pascal, BASIC, Fortran, COBOL, or Python written this way</a:t>
            </a:r>
            <a:endParaRPr lang="en-US" sz="950" dirty="0"/>
          </a:p>
        </p:txBody>
      </p:sp>
      <p:sp>
        <p:nvSpPr>
          <p:cNvPr id="17" name="Text 12"/>
          <p:cNvSpPr txBox="1"/>
          <p:nvPr/>
        </p:nvSpPr>
        <p:spPr>
          <a:xfrm>
            <a:off x="548640" y="3913632"/>
            <a:ext cx="571500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KEY FEATURES</a:t>
            </a:r>
            <a:endParaRPr lang="en-US" sz="1000" dirty="0"/>
          </a:p>
        </p:txBody>
      </p:sp>
      <p:sp>
        <p:nvSpPr>
          <p:cNvPr id="18" name="Text 13"/>
          <p:cNvSpPr txBox="1"/>
          <p:nvPr/>
        </p:nvSpPr>
        <p:spPr>
          <a:xfrm>
            <a:off x="548640" y="4187952"/>
            <a:ext cx="2734056" cy="640080"/>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Sequence, selection, iteration</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Steps in order, decisions with </a:t>
            </a:r>
            <a:r>
              <a:rPr lang="en-US" sz="1012" dirty="0">
                <a:solidFill>
                  <a:srgbClr val="4A534E"/>
                </a:solidFill>
                <a:latin typeface="Consolas" pitchFamily="34" charset="0"/>
                <a:ea typeface="Consolas" pitchFamily="34" charset="-122"/>
                <a:cs typeface="Consolas" pitchFamily="34" charset="-120"/>
              </a:rPr>
              <a:t>if</a:t>
            </a:r>
            <a:r>
              <a:rPr lang="en-US" sz="1100" dirty="0">
                <a:solidFill>
                  <a:srgbClr val="4A534E"/>
                </a:solidFill>
                <a:latin typeface="Calibri" pitchFamily="34" charset="0"/>
                <a:ea typeface="Calibri" pitchFamily="34" charset="-122"/>
                <a:cs typeface="Calibri" pitchFamily="34" charset="-120"/>
              </a:rPr>
              <a:t>, and loops with </a:t>
            </a:r>
            <a:r>
              <a:rPr lang="en-US" sz="1012" dirty="0">
                <a:solidFill>
                  <a:srgbClr val="4A534E"/>
                </a:solidFill>
                <a:latin typeface="Consolas" pitchFamily="34" charset="0"/>
                <a:ea typeface="Consolas" pitchFamily="34" charset="-122"/>
                <a:cs typeface="Consolas" pitchFamily="34" charset="-120"/>
              </a:rPr>
              <a:t>for</a:t>
            </a:r>
            <a:r>
              <a:rPr lang="en-US" sz="1100" dirty="0">
                <a:solidFill>
                  <a:srgbClr val="4A534E"/>
                </a:solidFill>
                <a:latin typeface="Calibri" pitchFamily="34" charset="0"/>
                <a:ea typeface="Calibri" pitchFamily="34" charset="-122"/>
                <a:cs typeface="Calibri" pitchFamily="34" charset="-120"/>
              </a:rPr>
              <a:t> and </a:t>
            </a:r>
            <a:r>
              <a:rPr lang="en-US" sz="1012" dirty="0">
                <a:solidFill>
                  <a:srgbClr val="4A534E"/>
                </a:solidFill>
                <a:latin typeface="Consolas" pitchFamily="34" charset="0"/>
                <a:ea typeface="Consolas" pitchFamily="34" charset="-122"/>
                <a:cs typeface="Consolas" pitchFamily="34" charset="-120"/>
              </a:rPr>
              <a:t>while</a:t>
            </a:r>
            <a:r>
              <a:rPr lang="en-US" sz="1100" dirty="0">
                <a:solidFill>
                  <a:srgbClr val="4A534E"/>
                </a:solidFill>
                <a:latin typeface="Calibri" pitchFamily="34" charset="0"/>
                <a:ea typeface="Calibri" pitchFamily="34" charset="-122"/>
                <a:cs typeface="Calibri" pitchFamily="34" charset="-120"/>
              </a:rPr>
              <a:t>.</a:t>
            </a:r>
            <a:endParaRPr lang="en-US" sz="1400" dirty="0"/>
          </a:p>
        </p:txBody>
      </p:sp>
      <p:sp>
        <p:nvSpPr>
          <p:cNvPr id="19" name="Text 14"/>
          <p:cNvSpPr txBox="1"/>
          <p:nvPr/>
        </p:nvSpPr>
        <p:spPr>
          <a:xfrm>
            <a:off x="3538728" y="4187952"/>
            <a:ext cx="2734056" cy="640080"/>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Procedures (functions)</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Named blocks of code that do one job and can be called again and again.</a:t>
            </a:r>
            <a:endParaRPr lang="en-US" sz="1400" dirty="0"/>
          </a:p>
        </p:txBody>
      </p:sp>
      <p:sp>
        <p:nvSpPr>
          <p:cNvPr id="20" name="Text 15"/>
          <p:cNvSpPr txBox="1"/>
          <p:nvPr/>
        </p:nvSpPr>
        <p:spPr>
          <a:xfrm>
            <a:off x="548640" y="4864608"/>
            <a:ext cx="2734056" cy="640080"/>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Parameters and return values</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Data goes in as parameters, and the answer comes back with </a:t>
            </a:r>
            <a:r>
              <a:rPr lang="en-US" sz="1012" dirty="0">
                <a:solidFill>
                  <a:srgbClr val="4A534E"/>
                </a:solidFill>
                <a:latin typeface="Consolas" pitchFamily="34" charset="0"/>
                <a:ea typeface="Consolas" pitchFamily="34" charset="-122"/>
                <a:cs typeface="Consolas" pitchFamily="34" charset="-120"/>
              </a:rPr>
              <a:t>return</a:t>
            </a:r>
            <a:r>
              <a:rPr lang="en-US" sz="1100" dirty="0">
                <a:solidFill>
                  <a:srgbClr val="4A534E"/>
                </a:solidFill>
                <a:latin typeface="Calibri" pitchFamily="34" charset="0"/>
                <a:ea typeface="Calibri" pitchFamily="34" charset="-122"/>
                <a:cs typeface="Calibri" pitchFamily="34" charset="-120"/>
              </a:rPr>
              <a:t>.</a:t>
            </a:r>
            <a:endParaRPr lang="en-US" sz="1400" dirty="0"/>
          </a:p>
        </p:txBody>
      </p:sp>
      <p:sp>
        <p:nvSpPr>
          <p:cNvPr id="21" name="Text 16"/>
          <p:cNvSpPr txBox="1"/>
          <p:nvPr/>
        </p:nvSpPr>
        <p:spPr>
          <a:xfrm>
            <a:off x="3538728" y="4864608"/>
            <a:ext cx="2734056" cy="640080"/>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Local and global variables</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Local variables only exist inside their procedure; global ones anywhere.</a:t>
            </a:r>
            <a:endParaRPr lang="en-US" sz="1400" dirty="0"/>
          </a:p>
        </p:txBody>
      </p:sp>
      <p:sp>
        <p:nvSpPr>
          <p:cNvPr id="22" name="Text 17"/>
          <p:cNvSpPr txBox="1"/>
          <p:nvPr/>
        </p:nvSpPr>
        <p:spPr>
          <a:xfrm>
            <a:off x="548640" y="5541264"/>
            <a:ext cx="2734056" cy="640080"/>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Top-down design</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A big problem is broken down into smaller procedures (decomposition).</a:t>
            </a:r>
            <a:endParaRPr lang="en-US" sz="1400" dirty="0"/>
          </a:p>
        </p:txBody>
      </p:sp>
      <p:sp>
        <p:nvSpPr>
          <p:cNvPr id="23" name="Text 18"/>
          <p:cNvSpPr txBox="1"/>
          <p:nvPr/>
        </p:nvSpPr>
        <p:spPr>
          <a:xfrm>
            <a:off x="3538728" y="5541264"/>
            <a:ext cx="2734056" cy="640080"/>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Data is kept separate</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Data is passed from procedure to procedure; it doesn't belong to them.</a:t>
            </a:r>
            <a:endParaRPr lang="en-US" sz="1400" dirty="0"/>
          </a:p>
        </p:txBody>
      </p:sp>
      <p:sp>
        <p:nvSpPr>
          <p:cNvPr id="24" name="Shape 19"/>
          <p:cNvSpPr/>
          <p:nvPr/>
        </p:nvSpPr>
        <p:spPr>
          <a:xfrm>
            <a:off x="6492240" y="1554480"/>
            <a:ext cx="5148072" cy="4617720"/>
          </a:xfrm>
          <a:prstGeom prst="roundRect">
            <a:avLst>
              <a:gd name="adj" fmla="val 2376"/>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25" name="Text 20"/>
          <p:cNvSpPr txBox="1"/>
          <p:nvPr/>
        </p:nvSpPr>
        <p:spPr>
          <a:xfrm>
            <a:off x="6693408" y="1700784"/>
            <a:ext cx="475488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TOP-DOWN DESIGN: A STRUCTURE CHART OF MY EXAMPLE</a:t>
            </a:r>
            <a:endParaRPr lang="en-US" sz="1000" dirty="0"/>
          </a:p>
        </p:txBody>
      </p:sp>
      <p:sp>
        <p:nvSpPr>
          <p:cNvPr id="26" name="Shape 21"/>
          <p:cNvSpPr/>
          <p:nvPr/>
        </p:nvSpPr>
        <p:spPr>
          <a:xfrm>
            <a:off x="9070848" y="2706624"/>
            <a:ext cx="0" cy="265176"/>
          </a:xfrm>
          <a:prstGeom prst="line">
            <a:avLst/>
          </a:prstGeom>
          <a:noFill/>
          <a:ln w="15875">
            <a:solidFill>
              <a:srgbClr val="4A534E"/>
            </a:solidFill>
            <a:prstDash val="solid"/>
          </a:ln>
        </p:spPr>
      </p:sp>
      <p:sp>
        <p:nvSpPr>
          <p:cNvPr id="27" name="Shape 22"/>
          <p:cNvSpPr/>
          <p:nvPr/>
        </p:nvSpPr>
        <p:spPr>
          <a:xfrm>
            <a:off x="7516368" y="2971800"/>
            <a:ext cx="3108960" cy="0"/>
          </a:xfrm>
          <a:prstGeom prst="line">
            <a:avLst/>
          </a:prstGeom>
          <a:noFill/>
          <a:ln w="15875">
            <a:solidFill>
              <a:srgbClr val="4A534E"/>
            </a:solidFill>
            <a:prstDash val="solid"/>
          </a:ln>
        </p:spPr>
      </p:sp>
      <p:sp>
        <p:nvSpPr>
          <p:cNvPr id="28" name="Shape 23"/>
          <p:cNvSpPr/>
          <p:nvPr/>
        </p:nvSpPr>
        <p:spPr>
          <a:xfrm>
            <a:off x="7516368" y="2971800"/>
            <a:ext cx="0" cy="594360"/>
          </a:xfrm>
          <a:prstGeom prst="line">
            <a:avLst/>
          </a:prstGeom>
          <a:noFill/>
          <a:ln w="15875">
            <a:solidFill>
              <a:srgbClr val="4A534E"/>
            </a:solidFill>
            <a:prstDash val="solid"/>
          </a:ln>
        </p:spPr>
      </p:sp>
      <p:sp>
        <p:nvSpPr>
          <p:cNvPr id="29" name="Shape 24"/>
          <p:cNvSpPr/>
          <p:nvPr/>
        </p:nvSpPr>
        <p:spPr>
          <a:xfrm>
            <a:off x="9070848" y="2971800"/>
            <a:ext cx="0" cy="594360"/>
          </a:xfrm>
          <a:prstGeom prst="line">
            <a:avLst/>
          </a:prstGeom>
          <a:noFill/>
          <a:ln w="15875">
            <a:solidFill>
              <a:srgbClr val="4A534E"/>
            </a:solidFill>
            <a:prstDash val="solid"/>
          </a:ln>
        </p:spPr>
      </p:sp>
      <p:sp>
        <p:nvSpPr>
          <p:cNvPr id="30" name="Shape 25"/>
          <p:cNvSpPr/>
          <p:nvPr/>
        </p:nvSpPr>
        <p:spPr>
          <a:xfrm>
            <a:off x="10625328" y="2971800"/>
            <a:ext cx="0" cy="594360"/>
          </a:xfrm>
          <a:prstGeom prst="line">
            <a:avLst/>
          </a:prstGeom>
          <a:noFill/>
          <a:ln w="15875">
            <a:solidFill>
              <a:srgbClr val="4A534E"/>
            </a:solidFill>
            <a:prstDash val="solid"/>
          </a:ln>
        </p:spPr>
      </p:sp>
      <p:sp>
        <p:nvSpPr>
          <p:cNvPr id="31" name="Shape 26"/>
          <p:cNvSpPr/>
          <p:nvPr/>
        </p:nvSpPr>
        <p:spPr>
          <a:xfrm>
            <a:off x="7516368" y="4169664"/>
            <a:ext cx="0" cy="356616"/>
          </a:xfrm>
          <a:prstGeom prst="line">
            <a:avLst/>
          </a:prstGeom>
          <a:noFill/>
          <a:ln w="15875">
            <a:solidFill>
              <a:srgbClr val="4A534E"/>
            </a:solidFill>
            <a:prstDash val="solid"/>
          </a:ln>
        </p:spPr>
      </p:sp>
      <p:sp>
        <p:nvSpPr>
          <p:cNvPr id="32" name="Shape 27"/>
          <p:cNvSpPr/>
          <p:nvPr/>
        </p:nvSpPr>
        <p:spPr>
          <a:xfrm>
            <a:off x="9070848" y="4169664"/>
            <a:ext cx="0" cy="356616"/>
          </a:xfrm>
          <a:prstGeom prst="line">
            <a:avLst/>
          </a:prstGeom>
          <a:noFill/>
          <a:ln w="15875">
            <a:solidFill>
              <a:srgbClr val="4A534E"/>
            </a:solidFill>
            <a:prstDash val="solid"/>
          </a:ln>
        </p:spPr>
      </p:sp>
      <p:sp>
        <p:nvSpPr>
          <p:cNvPr id="33" name="Shape 28"/>
          <p:cNvSpPr/>
          <p:nvPr/>
        </p:nvSpPr>
        <p:spPr>
          <a:xfrm>
            <a:off x="7927848" y="2103120"/>
            <a:ext cx="2286000" cy="603504"/>
          </a:xfrm>
          <a:prstGeom prst="roundRect">
            <a:avLst>
              <a:gd name="adj" fmla="val 12121"/>
            </a:avLst>
          </a:prstGeom>
          <a:solidFill>
            <a:srgbClr val="E1ECF9"/>
          </a:solidFill>
          <a:ln w="25400">
            <a:solidFill>
              <a:srgbClr val="2A78D6"/>
            </a:solidFill>
            <a:prstDash val="solid"/>
          </a:ln>
        </p:spPr>
      </p:sp>
      <p:sp>
        <p:nvSpPr>
          <p:cNvPr id="34" name="Text 29"/>
          <p:cNvSpPr txBox="1"/>
          <p:nvPr/>
        </p:nvSpPr>
        <p:spPr>
          <a:xfrm>
            <a:off x="7927848" y="2103120"/>
            <a:ext cx="2286000" cy="603504"/>
          </a:xfrm>
          <a:prstGeom prst="rect">
            <a:avLst/>
          </a:prstGeom>
          <a:noFill/>
          <a:ln/>
        </p:spPr>
        <p:txBody>
          <a:bodyPr wrap="square" lIns="0" tIns="0" rIns="0" bIns="0" rtlCol="0" anchor="ctr"/>
          <a:lstStyle/>
          <a:p>
            <a:pPr algn="ctr" indent="0" marL="0">
              <a:buNone/>
            </a:pPr>
            <a:r>
              <a:rPr lang="en-US" sz="1300" b="1" dirty="0">
                <a:solidFill>
                  <a:srgbClr val="1B1F1D"/>
                </a:solidFill>
                <a:latin typeface="Calibri" pitchFamily="34" charset="0"/>
                <a:ea typeface="Calibri" pitchFamily="34" charset="-122"/>
                <a:cs typeface="Calibri" pitchFamily="34" charset="-120"/>
              </a:rPr>
              <a:t>Work out what to pay</a:t>
            </a:r>
            <a:endParaRPr lang="en-US" sz="1400" dirty="0"/>
          </a:p>
          <a:p>
            <a:pPr algn="ctr" indent="0" marL="0">
              <a:buNone/>
            </a:pPr>
            <a:r>
              <a:rPr lang="en-US" sz="1050" dirty="0">
                <a:solidFill>
                  <a:srgbClr val="4A534E"/>
                </a:solidFill>
                <a:latin typeface="Calibri" pitchFamily="34" charset="0"/>
                <a:ea typeface="Calibri" pitchFamily="34" charset="-122"/>
                <a:cs typeface="Calibri" pitchFamily="34" charset="-120"/>
              </a:rPr>
              <a:t>the main program</a:t>
            </a:r>
            <a:endParaRPr lang="en-US" sz="1400" dirty="0"/>
          </a:p>
        </p:txBody>
      </p:sp>
      <p:sp>
        <p:nvSpPr>
          <p:cNvPr id="35" name="Shape 30"/>
          <p:cNvSpPr/>
          <p:nvPr/>
        </p:nvSpPr>
        <p:spPr>
          <a:xfrm>
            <a:off x="6775704" y="3566160"/>
            <a:ext cx="1481328" cy="603504"/>
          </a:xfrm>
          <a:prstGeom prst="roundRect">
            <a:avLst>
              <a:gd name="adj" fmla="val 9091"/>
            </a:avLst>
          </a:prstGeom>
          <a:solidFill>
            <a:srgbClr val="FFFFFF"/>
          </a:solidFill>
          <a:ln w="15875">
            <a:solidFill>
              <a:srgbClr val="4A534E"/>
            </a:solidFill>
            <a:prstDash val="solid"/>
          </a:ln>
        </p:spPr>
      </p:sp>
      <p:sp>
        <p:nvSpPr>
          <p:cNvPr id="36" name="Text 31"/>
          <p:cNvSpPr txBox="1"/>
          <p:nvPr/>
        </p:nvSpPr>
        <p:spPr>
          <a:xfrm>
            <a:off x="6775704" y="3566160"/>
            <a:ext cx="1481328" cy="603504"/>
          </a:xfrm>
          <a:prstGeom prst="rect">
            <a:avLst/>
          </a:prstGeom>
          <a:noFill/>
          <a:ln/>
        </p:spPr>
        <p:txBody>
          <a:bodyPr wrap="square" lIns="0" tIns="0" rIns="0" bIns="0" rtlCol="0" anchor="ctr"/>
          <a:lstStyle/>
          <a:p>
            <a:pPr algn="ctr" indent="0" marL="0">
              <a:buNone/>
            </a:pPr>
            <a:r>
              <a:rPr lang="en-US" sz="1000" b="1" dirty="0">
                <a:solidFill>
                  <a:srgbClr val="1B1F1D"/>
                </a:solidFill>
                <a:latin typeface="Consolas" pitchFamily="34" charset="0"/>
                <a:ea typeface="Consolas" pitchFamily="34" charset="-122"/>
                <a:cs typeface="Consolas" pitchFamily="34" charset="-120"/>
              </a:rPr>
              <a:t>add_up(prices)</a:t>
            </a:r>
            <a:endParaRPr lang="en-US" sz="1400" dirty="0"/>
          </a:p>
          <a:p>
            <a:pPr algn="ctr" indent="0" marL="0">
              <a:buNone/>
            </a:pPr>
            <a:r>
              <a:rPr lang="en-US" sz="1000" dirty="0">
                <a:solidFill>
                  <a:srgbClr val="4A534E"/>
                </a:solidFill>
                <a:latin typeface="Calibri" pitchFamily="34" charset="0"/>
                <a:ea typeface="Calibri" pitchFamily="34" charset="-122"/>
                <a:cs typeface="Calibri" pitchFamily="34" charset="-120"/>
              </a:rPr>
              <a:t>add up the basket</a:t>
            </a:r>
            <a:endParaRPr lang="en-US" sz="1400" dirty="0"/>
          </a:p>
        </p:txBody>
      </p:sp>
      <p:sp>
        <p:nvSpPr>
          <p:cNvPr id="37" name="Shape 32"/>
          <p:cNvSpPr/>
          <p:nvPr/>
        </p:nvSpPr>
        <p:spPr>
          <a:xfrm>
            <a:off x="8330184" y="3566160"/>
            <a:ext cx="1481328" cy="603504"/>
          </a:xfrm>
          <a:prstGeom prst="roundRect">
            <a:avLst>
              <a:gd name="adj" fmla="val 9091"/>
            </a:avLst>
          </a:prstGeom>
          <a:solidFill>
            <a:srgbClr val="FFFFFF"/>
          </a:solidFill>
          <a:ln w="15875">
            <a:solidFill>
              <a:srgbClr val="4A534E"/>
            </a:solidFill>
            <a:prstDash val="solid"/>
          </a:ln>
        </p:spPr>
      </p:sp>
      <p:sp>
        <p:nvSpPr>
          <p:cNvPr id="38" name="Text 33"/>
          <p:cNvSpPr txBox="1"/>
          <p:nvPr/>
        </p:nvSpPr>
        <p:spPr>
          <a:xfrm>
            <a:off x="8330184" y="3566160"/>
            <a:ext cx="1481328" cy="603504"/>
          </a:xfrm>
          <a:prstGeom prst="rect">
            <a:avLst/>
          </a:prstGeom>
          <a:noFill/>
          <a:ln/>
        </p:spPr>
        <p:txBody>
          <a:bodyPr wrap="square" lIns="0" tIns="0" rIns="0" bIns="0" rtlCol="0" anchor="ctr"/>
          <a:lstStyle/>
          <a:p>
            <a:pPr algn="ctr" indent="0" marL="0">
              <a:buNone/>
            </a:pPr>
            <a:r>
              <a:rPr lang="en-US" sz="1000" b="1" dirty="0">
                <a:solidFill>
                  <a:srgbClr val="1B1F1D"/>
                </a:solidFill>
                <a:latin typeface="Consolas" pitchFamily="34" charset="0"/>
                <a:ea typeface="Consolas" pitchFamily="34" charset="-122"/>
                <a:cs typeface="Consolas" pitchFamily="34" charset="-120"/>
              </a:rPr>
              <a:t>apply_offer(total)</a:t>
            </a:r>
            <a:endParaRPr lang="en-US" sz="1400" dirty="0"/>
          </a:p>
          <a:p>
            <a:pPr algn="ctr" indent="0" marL="0">
              <a:buNone/>
            </a:pPr>
            <a:r>
              <a:rPr lang="en-US" sz="1000" dirty="0">
                <a:solidFill>
                  <a:srgbClr val="4A534E"/>
                </a:solidFill>
                <a:latin typeface="Calibri" pitchFamily="34" charset="0"/>
                <a:ea typeface="Calibri" pitchFamily="34" charset="-122"/>
                <a:cs typeface="Calibri" pitchFamily="34" charset="-120"/>
              </a:rPr>
              <a:t>take £1 off?</a:t>
            </a:r>
            <a:endParaRPr lang="en-US" sz="1400" dirty="0"/>
          </a:p>
        </p:txBody>
      </p:sp>
      <p:sp>
        <p:nvSpPr>
          <p:cNvPr id="39" name="Shape 34"/>
          <p:cNvSpPr/>
          <p:nvPr/>
        </p:nvSpPr>
        <p:spPr>
          <a:xfrm>
            <a:off x="9884664" y="3566160"/>
            <a:ext cx="1481328" cy="603504"/>
          </a:xfrm>
          <a:prstGeom prst="roundRect">
            <a:avLst>
              <a:gd name="adj" fmla="val 9091"/>
            </a:avLst>
          </a:prstGeom>
          <a:solidFill>
            <a:srgbClr val="FFFFFF"/>
          </a:solidFill>
          <a:ln w="15875">
            <a:solidFill>
              <a:srgbClr val="4A534E"/>
            </a:solidFill>
            <a:prstDash val="solid"/>
          </a:ln>
        </p:spPr>
      </p:sp>
      <p:sp>
        <p:nvSpPr>
          <p:cNvPr id="40" name="Text 35"/>
          <p:cNvSpPr txBox="1"/>
          <p:nvPr/>
        </p:nvSpPr>
        <p:spPr>
          <a:xfrm>
            <a:off x="9884664" y="3566160"/>
            <a:ext cx="1481328" cy="603504"/>
          </a:xfrm>
          <a:prstGeom prst="rect">
            <a:avLst/>
          </a:prstGeom>
          <a:noFill/>
          <a:ln/>
        </p:spPr>
        <p:txBody>
          <a:bodyPr wrap="square" lIns="0" tIns="0" rIns="0" bIns="0" rtlCol="0" anchor="ctr"/>
          <a:lstStyle/>
          <a:p>
            <a:pPr algn="ctr" indent="0" marL="0">
              <a:buNone/>
            </a:pPr>
            <a:r>
              <a:rPr lang="en-US" sz="1000" b="1" dirty="0">
                <a:solidFill>
                  <a:srgbClr val="1B1F1D"/>
                </a:solidFill>
                <a:latin typeface="Consolas" pitchFamily="34" charset="0"/>
                <a:ea typeface="Consolas" pitchFamily="34" charset="-122"/>
                <a:cs typeface="Consolas" pitchFamily="34" charset="-120"/>
              </a:rPr>
              <a:t>print(...)</a:t>
            </a:r>
            <a:endParaRPr lang="en-US" sz="1400" dirty="0"/>
          </a:p>
          <a:p>
            <a:pPr algn="ctr" indent="0" marL="0">
              <a:buNone/>
            </a:pPr>
            <a:r>
              <a:rPr lang="en-US" sz="1000" dirty="0">
                <a:solidFill>
                  <a:srgbClr val="4A534E"/>
                </a:solidFill>
                <a:latin typeface="Calibri" pitchFamily="34" charset="0"/>
                <a:ea typeface="Calibri" pitchFamily="34" charset="-122"/>
                <a:cs typeface="Calibri" pitchFamily="34" charset="-120"/>
              </a:rPr>
              <a:t>show the answer</a:t>
            </a:r>
            <a:endParaRPr lang="en-US" sz="1400" dirty="0"/>
          </a:p>
        </p:txBody>
      </p:sp>
      <p:sp>
        <p:nvSpPr>
          <p:cNvPr id="41" name="Text 36"/>
          <p:cNvSpPr txBox="1"/>
          <p:nvPr/>
        </p:nvSpPr>
        <p:spPr>
          <a:xfrm>
            <a:off x="7580376" y="3017520"/>
            <a:ext cx="822960" cy="201168"/>
          </a:xfrm>
          <a:prstGeom prst="rect">
            <a:avLst/>
          </a:prstGeom>
          <a:noFill/>
          <a:ln/>
        </p:spPr>
        <p:txBody>
          <a:bodyPr wrap="square" lIns="0" tIns="0" rIns="0" bIns="0" rtlCol="0" anchor="ctr"/>
          <a:lstStyle/>
          <a:p>
            <a:pPr indent="0" marL="0">
              <a:buNone/>
            </a:pPr>
            <a:r>
              <a:rPr lang="en-US" sz="900" dirty="0">
                <a:solidFill>
                  <a:srgbClr val="5F6964"/>
                </a:solidFill>
                <a:latin typeface="Consolas" pitchFamily="34" charset="0"/>
                <a:ea typeface="Consolas" pitchFamily="34" charset="-122"/>
                <a:cs typeface="Consolas" pitchFamily="34" charset="-120"/>
              </a:rPr>
              <a:t>↓ basket</a:t>
            </a:r>
            <a:endParaRPr lang="en-US" sz="900" dirty="0"/>
          </a:p>
        </p:txBody>
      </p:sp>
      <p:sp>
        <p:nvSpPr>
          <p:cNvPr id="42" name="Text 37"/>
          <p:cNvSpPr txBox="1"/>
          <p:nvPr/>
        </p:nvSpPr>
        <p:spPr>
          <a:xfrm>
            <a:off x="7580376" y="3264408"/>
            <a:ext cx="822960" cy="201168"/>
          </a:xfrm>
          <a:prstGeom prst="rect">
            <a:avLst/>
          </a:prstGeom>
          <a:noFill/>
          <a:ln/>
        </p:spPr>
        <p:txBody>
          <a:bodyPr wrap="square" lIns="0" tIns="0" rIns="0" bIns="0" rtlCol="0" anchor="ctr"/>
          <a:lstStyle/>
          <a:p>
            <a:pPr indent="0" marL="0">
              <a:buNone/>
            </a:pPr>
            <a:r>
              <a:rPr lang="en-US" sz="900" dirty="0">
                <a:solidFill>
                  <a:srgbClr val="5F6964"/>
                </a:solidFill>
                <a:latin typeface="Consolas" pitchFamily="34" charset="0"/>
                <a:ea typeface="Consolas" pitchFamily="34" charset="-122"/>
                <a:cs typeface="Consolas" pitchFamily="34" charset="-120"/>
              </a:rPr>
              <a:t>↑ subtotal</a:t>
            </a:r>
            <a:endParaRPr lang="en-US" sz="900" dirty="0"/>
          </a:p>
        </p:txBody>
      </p:sp>
      <p:sp>
        <p:nvSpPr>
          <p:cNvPr id="43" name="Text 38"/>
          <p:cNvSpPr txBox="1"/>
          <p:nvPr/>
        </p:nvSpPr>
        <p:spPr>
          <a:xfrm>
            <a:off x="9134856" y="3017520"/>
            <a:ext cx="822960" cy="201168"/>
          </a:xfrm>
          <a:prstGeom prst="rect">
            <a:avLst/>
          </a:prstGeom>
          <a:noFill/>
          <a:ln/>
        </p:spPr>
        <p:txBody>
          <a:bodyPr wrap="square" lIns="0" tIns="0" rIns="0" bIns="0" rtlCol="0" anchor="ctr"/>
          <a:lstStyle/>
          <a:p>
            <a:pPr indent="0" marL="0">
              <a:buNone/>
            </a:pPr>
            <a:r>
              <a:rPr lang="en-US" sz="900" dirty="0">
                <a:solidFill>
                  <a:srgbClr val="5F6964"/>
                </a:solidFill>
                <a:latin typeface="Consolas" pitchFamily="34" charset="0"/>
                <a:ea typeface="Consolas" pitchFamily="34" charset="-122"/>
                <a:cs typeface="Consolas" pitchFamily="34" charset="-120"/>
              </a:rPr>
              <a:t>↓ subtotal</a:t>
            </a:r>
            <a:endParaRPr lang="en-US" sz="900" dirty="0"/>
          </a:p>
        </p:txBody>
      </p:sp>
      <p:sp>
        <p:nvSpPr>
          <p:cNvPr id="44" name="Text 39"/>
          <p:cNvSpPr txBox="1"/>
          <p:nvPr/>
        </p:nvSpPr>
        <p:spPr>
          <a:xfrm>
            <a:off x="9134856" y="3264408"/>
            <a:ext cx="822960" cy="201168"/>
          </a:xfrm>
          <a:prstGeom prst="rect">
            <a:avLst/>
          </a:prstGeom>
          <a:noFill/>
          <a:ln/>
        </p:spPr>
        <p:txBody>
          <a:bodyPr wrap="square" lIns="0" tIns="0" rIns="0" bIns="0" rtlCol="0" anchor="ctr"/>
          <a:lstStyle/>
          <a:p>
            <a:pPr indent="0" marL="0">
              <a:buNone/>
            </a:pPr>
            <a:r>
              <a:rPr lang="en-US" sz="900" dirty="0">
                <a:solidFill>
                  <a:srgbClr val="5F6964"/>
                </a:solidFill>
                <a:latin typeface="Consolas" pitchFamily="34" charset="0"/>
                <a:ea typeface="Consolas" pitchFamily="34" charset="-122"/>
                <a:cs typeface="Consolas" pitchFamily="34" charset="-120"/>
              </a:rPr>
              <a:t>↑ to_pay</a:t>
            </a:r>
            <a:endParaRPr lang="en-US" sz="900" dirty="0"/>
          </a:p>
        </p:txBody>
      </p:sp>
      <p:sp>
        <p:nvSpPr>
          <p:cNvPr id="45" name="Text 40"/>
          <p:cNvSpPr txBox="1"/>
          <p:nvPr/>
        </p:nvSpPr>
        <p:spPr>
          <a:xfrm>
            <a:off x="10689336" y="3154680"/>
            <a:ext cx="822960" cy="201168"/>
          </a:xfrm>
          <a:prstGeom prst="rect">
            <a:avLst/>
          </a:prstGeom>
          <a:noFill/>
          <a:ln/>
        </p:spPr>
        <p:txBody>
          <a:bodyPr wrap="square" lIns="0" tIns="0" rIns="0" bIns="0" rtlCol="0" anchor="ctr"/>
          <a:lstStyle/>
          <a:p>
            <a:pPr indent="0" marL="0">
              <a:buNone/>
            </a:pPr>
            <a:r>
              <a:rPr lang="en-US" sz="900" dirty="0">
                <a:solidFill>
                  <a:srgbClr val="5F6964"/>
                </a:solidFill>
                <a:latin typeface="Consolas" pitchFamily="34" charset="0"/>
                <a:ea typeface="Consolas" pitchFamily="34" charset="-122"/>
                <a:cs typeface="Consolas" pitchFamily="34" charset="-120"/>
              </a:rPr>
              <a:t>↓ to_pay</a:t>
            </a:r>
            <a:endParaRPr lang="en-US" sz="900" dirty="0"/>
          </a:p>
        </p:txBody>
      </p:sp>
      <p:sp>
        <p:nvSpPr>
          <p:cNvPr id="46" name="Shape 41"/>
          <p:cNvSpPr/>
          <p:nvPr/>
        </p:nvSpPr>
        <p:spPr>
          <a:xfrm>
            <a:off x="6775704" y="4526280"/>
            <a:ext cx="1481328" cy="676656"/>
          </a:xfrm>
          <a:prstGeom prst="roundRect">
            <a:avLst>
              <a:gd name="adj" fmla="val 8108"/>
            </a:avLst>
          </a:prstGeom>
          <a:solidFill>
            <a:srgbClr val="FFFFFF"/>
          </a:solidFill>
          <a:ln w="15875">
            <a:solidFill>
              <a:srgbClr val="4A534E"/>
            </a:solidFill>
            <a:prstDash val="solid"/>
          </a:ln>
        </p:spPr>
      </p:sp>
      <p:sp>
        <p:nvSpPr>
          <p:cNvPr id="47" name="Text 42"/>
          <p:cNvSpPr txBox="1"/>
          <p:nvPr/>
        </p:nvSpPr>
        <p:spPr>
          <a:xfrm>
            <a:off x="6775704" y="4572000"/>
            <a:ext cx="1481328" cy="603504"/>
          </a:xfrm>
          <a:prstGeom prst="rect">
            <a:avLst/>
          </a:prstGeom>
          <a:noFill/>
          <a:ln/>
        </p:spPr>
        <p:txBody>
          <a:bodyPr wrap="square" lIns="0" tIns="0" rIns="0" bIns="0" rtlCol="0" anchor="ctr"/>
          <a:lstStyle/>
          <a:p>
            <a:pPr algn="ctr" indent="0" marL="0">
              <a:buNone/>
            </a:pPr>
            <a:r>
              <a:rPr lang="en-US" sz="950" dirty="0">
                <a:solidFill>
                  <a:srgbClr val="1B1F1D"/>
                </a:solidFill>
                <a:latin typeface="Consolas" pitchFamily="34" charset="0"/>
                <a:ea typeface="Consolas" pitchFamily="34" charset="-122"/>
                <a:cs typeface="Consolas" pitchFamily="34" charset="-120"/>
              </a:rPr>
              <a:t>for price in prices:</a:t>
            </a:r>
            <a:endParaRPr lang="en-US" sz="1400" dirty="0"/>
          </a:p>
          <a:p>
            <a:pPr algn="ctr" indent="0" marL="0">
              <a:buNone/>
            </a:pPr>
            <a:r>
              <a:rPr lang="en-US" sz="1000" dirty="0">
                <a:solidFill>
                  <a:srgbClr val="4A534E"/>
                </a:solidFill>
                <a:latin typeface="Calibri" pitchFamily="34" charset="0"/>
                <a:ea typeface="Calibri" pitchFamily="34" charset="-122"/>
                <a:cs typeface="Calibri" pitchFamily="34" charset="-120"/>
              </a:rPr>
              <a:t>loop: add each price</a:t>
            </a:r>
            <a:endParaRPr lang="en-US" sz="1400" dirty="0"/>
          </a:p>
        </p:txBody>
      </p:sp>
      <p:sp>
        <p:nvSpPr>
          <p:cNvPr id="48" name="Text 43"/>
          <p:cNvSpPr txBox="1"/>
          <p:nvPr/>
        </p:nvSpPr>
        <p:spPr>
          <a:xfrm>
            <a:off x="8065008" y="4535424"/>
            <a:ext cx="164592" cy="182880"/>
          </a:xfrm>
          <a:prstGeom prst="rect">
            <a:avLst/>
          </a:prstGeom>
          <a:noFill/>
          <a:ln/>
        </p:spPr>
        <p:txBody>
          <a:bodyPr wrap="square" lIns="0" tIns="0" rIns="0" bIns="0" rtlCol="0" anchor="ctr"/>
          <a:lstStyle/>
          <a:p>
            <a:pPr algn="ctr" indent="0" marL="0">
              <a:buNone/>
            </a:pPr>
            <a:r>
              <a:rPr lang="en-US" sz="1200" b="1" dirty="0">
                <a:solidFill>
                  <a:srgbClr val="1B1F1D"/>
                </a:solidFill>
                <a:latin typeface="Consolas" pitchFamily="34" charset="0"/>
                <a:ea typeface="Consolas" pitchFamily="34" charset="-122"/>
                <a:cs typeface="Consolas" pitchFamily="34" charset="-120"/>
              </a:rPr>
              <a:t>*</a:t>
            </a:r>
            <a:endParaRPr lang="en-US" sz="1200" dirty="0"/>
          </a:p>
        </p:txBody>
      </p:sp>
      <p:sp>
        <p:nvSpPr>
          <p:cNvPr id="49" name="Shape 44"/>
          <p:cNvSpPr/>
          <p:nvPr/>
        </p:nvSpPr>
        <p:spPr>
          <a:xfrm>
            <a:off x="8330184" y="4526280"/>
            <a:ext cx="1481328" cy="676656"/>
          </a:xfrm>
          <a:prstGeom prst="roundRect">
            <a:avLst>
              <a:gd name="adj" fmla="val 8108"/>
            </a:avLst>
          </a:prstGeom>
          <a:solidFill>
            <a:srgbClr val="FFFFFF"/>
          </a:solidFill>
          <a:ln w="15875">
            <a:solidFill>
              <a:srgbClr val="4A534E"/>
            </a:solidFill>
            <a:prstDash val="solid"/>
          </a:ln>
        </p:spPr>
      </p:sp>
      <p:sp>
        <p:nvSpPr>
          <p:cNvPr id="50" name="Text 45"/>
          <p:cNvSpPr txBox="1"/>
          <p:nvPr/>
        </p:nvSpPr>
        <p:spPr>
          <a:xfrm>
            <a:off x="8330184" y="4572000"/>
            <a:ext cx="1481328" cy="603504"/>
          </a:xfrm>
          <a:prstGeom prst="rect">
            <a:avLst/>
          </a:prstGeom>
          <a:noFill/>
          <a:ln/>
        </p:spPr>
        <p:txBody>
          <a:bodyPr wrap="square" lIns="0" tIns="0" rIns="0" bIns="0" rtlCol="0" anchor="ctr"/>
          <a:lstStyle/>
          <a:p>
            <a:pPr algn="ctr" indent="0" marL="0">
              <a:buNone/>
            </a:pPr>
            <a:r>
              <a:rPr lang="en-US" sz="950" dirty="0">
                <a:solidFill>
                  <a:srgbClr val="1B1F1D"/>
                </a:solidFill>
                <a:latin typeface="Consolas" pitchFamily="34" charset="0"/>
                <a:ea typeface="Consolas" pitchFamily="34" charset="-122"/>
                <a:cs typeface="Consolas" pitchFamily="34" charset="-120"/>
              </a:rPr>
              <a:t>if total &gt;= 5:</a:t>
            </a:r>
            <a:endParaRPr lang="en-US" sz="1400" dirty="0"/>
          </a:p>
          <a:p>
            <a:pPr algn="ctr" indent="0" marL="0">
              <a:buNone/>
            </a:pPr>
            <a:r>
              <a:rPr lang="en-US" sz="1000" dirty="0">
                <a:solidFill>
                  <a:srgbClr val="4A534E"/>
                </a:solidFill>
                <a:latin typeface="Calibri" pitchFamily="34" charset="0"/>
                <a:ea typeface="Calibri" pitchFamily="34" charset="-122"/>
                <a:cs typeface="Calibri" pitchFamily="34" charset="-120"/>
              </a:rPr>
              <a:t>yes: take £1 off</a:t>
            </a:r>
            <a:endParaRPr lang="en-US" sz="1400" dirty="0"/>
          </a:p>
        </p:txBody>
      </p:sp>
      <p:sp>
        <p:nvSpPr>
          <p:cNvPr id="51" name="Text 46"/>
          <p:cNvSpPr txBox="1"/>
          <p:nvPr/>
        </p:nvSpPr>
        <p:spPr>
          <a:xfrm>
            <a:off x="9619488" y="4535424"/>
            <a:ext cx="164592" cy="182880"/>
          </a:xfrm>
          <a:prstGeom prst="rect">
            <a:avLst/>
          </a:prstGeom>
          <a:noFill/>
          <a:ln/>
        </p:spPr>
        <p:txBody>
          <a:bodyPr wrap="square" lIns="0" tIns="0" rIns="0" bIns="0" rtlCol="0" anchor="ctr"/>
          <a:lstStyle/>
          <a:p>
            <a:pPr algn="ctr" indent="0" marL="0">
              <a:buNone/>
            </a:pPr>
            <a:r>
              <a:rPr lang="en-US" sz="1200" b="1" dirty="0">
                <a:solidFill>
                  <a:srgbClr val="1B1F1D"/>
                </a:solidFill>
                <a:latin typeface="Consolas" pitchFamily="34" charset="0"/>
                <a:ea typeface="Consolas" pitchFamily="34" charset="-122"/>
                <a:cs typeface="Consolas" pitchFamily="34" charset="-120"/>
              </a:rPr>
              <a:t>o</a:t>
            </a:r>
            <a:endParaRPr lang="en-US" sz="1200" dirty="0"/>
          </a:p>
        </p:txBody>
      </p:sp>
      <p:sp>
        <p:nvSpPr>
          <p:cNvPr id="52" name="Text 47"/>
          <p:cNvSpPr txBox="1"/>
          <p:nvPr/>
        </p:nvSpPr>
        <p:spPr>
          <a:xfrm>
            <a:off x="6693408" y="5376672"/>
            <a:ext cx="4754880" cy="685800"/>
          </a:xfrm>
          <a:prstGeom prst="rect">
            <a:avLst/>
          </a:prstGeom>
          <a:noFill/>
          <a:ln/>
        </p:spPr>
        <p:txBody>
          <a:bodyPr wrap="square" lIns="0" tIns="0" rIns="0" bIns="0" rtlCol="0" anchor="t"/>
          <a:lstStyle/>
          <a:p>
            <a:pPr indent="0" marL="0">
              <a:buNone/>
            </a:pPr>
            <a:r>
              <a:rPr lang="en-US" sz="1150" dirty="0">
                <a:solidFill>
                  <a:srgbClr val="4A534E"/>
                </a:solidFill>
                <a:latin typeface="Calibri" pitchFamily="34" charset="0"/>
                <a:ea typeface="Calibri" pitchFamily="34" charset="-122"/>
                <a:cs typeface="Calibri" pitchFamily="34" charset="-120"/>
              </a:rPr>
              <a:t>Read it left to right: the main program calls each procedure in turn. ↓ is data going in (a parameter), ↑ is data coming back (a return value), * is a loop and o is a decision.</a:t>
            </a:r>
            <a:endParaRPr lang="en-US" sz="1150" dirty="0"/>
          </a:p>
        </p:txBody>
      </p:sp>
      <p:sp>
        <p:nvSpPr>
          <p:cNvPr id="53" name="Text 48"/>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CADDF5"/>
          </a:solidFill>
          <a:ln w="25400">
            <a:solidFill>
              <a:srgbClr val="2A78D6"/>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2</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PROCEDURAL · CODE EXAMPLE</a:t>
            </a:r>
            <a:endParaRPr lang="en-US" sz="1100" dirty="0"/>
          </a:p>
        </p:txBody>
      </p:sp>
      <p:sp>
        <p:nvSpPr>
          <p:cNvPr id="5" name="Text 3"/>
          <p:cNvSpPr txBox="1"/>
          <p:nvPr/>
        </p:nvSpPr>
        <p:spPr>
          <a:xfrm>
            <a:off x="548640" y="731520"/>
            <a:ext cx="9144000"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Example: adding up the basket</a:t>
            </a:r>
            <a:endParaRPr lang="en-US" sz="3200" dirty="0"/>
          </a:p>
        </p:txBody>
      </p:sp>
      <p:sp>
        <p:nvSpPr>
          <p:cNvPr id="6" name="Shape 4"/>
          <p:cNvSpPr/>
          <p:nvPr/>
        </p:nvSpPr>
        <p:spPr>
          <a:xfrm>
            <a:off x="10253167" y="932688"/>
            <a:ext cx="1197864" cy="0"/>
          </a:xfrm>
          <a:prstGeom prst="line">
            <a:avLst/>
          </a:prstGeom>
          <a:noFill/>
          <a:ln w="19050">
            <a:solidFill>
              <a:srgbClr val="B7C0BA"/>
            </a:solidFill>
            <a:prstDash val="solid"/>
          </a:ln>
        </p:spPr>
      </p:sp>
      <p:sp>
        <p:nvSpPr>
          <p:cNvPr id="7" name="Shape 5"/>
          <p:cNvSpPr/>
          <p:nvPr/>
        </p:nvSpPr>
        <p:spPr>
          <a:xfrm>
            <a:off x="9997135" y="676656"/>
            <a:ext cx="512064" cy="512064"/>
          </a:xfrm>
          <a:prstGeom prst="ellipse">
            <a:avLst/>
          </a:prstGeom>
          <a:solidFill>
            <a:srgbClr val="CADDF5"/>
          </a:solidFill>
          <a:ln w="31750">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10120031" y="799551"/>
            <a:ext cx="266273" cy="266273"/>
          </a:xfrm>
          <a:prstGeom prst="rect">
            <a:avLst/>
          </a:prstGeom>
        </p:spPr>
      </p:pic>
      <p:sp>
        <p:nvSpPr>
          <p:cNvPr id="9" name="Shape 6"/>
          <p:cNvSpPr/>
          <p:nvPr/>
        </p:nvSpPr>
        <p:spPr>
          <a:xfrm>
            <a:off x="10692079" y="740664"/>
            <a:ext cx="384048" cy="384048"/>
          </a:xfrm>
          <a:prstGeom prst="ellipse">
            <a:avLst/>
          </a:prstGeom>
          <a:solidFill>
            <a:srgbClr val="FFFFFF"/>
          </a:solidFill>
          <a:ln w="22225">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10784251" y="832836"/>
            <a:ext cx="199705" cy="199705"/>
          </a:xfrm>
          <a:prstGeom prst="rect">
            <a:avLst/>
          </a:prstGeom>
        </p:spPr>
      </p:pic>
      <p:sp>
        <p:nvSpPr>
          <p:cNvPr id="11" name="Shape 7"/>
          <p:cNvSpPr/>
          <p:nvPr/>
        </p:nvSpPr>
        <p:spPr>
          <a:xfrm>
            <a:off x="11259007" y="740664"/>
            <a:ext cx="384048" cy="384048"/>
          </a:xfrm>
          <a:prstGeom prst="ellipse">
            <a:avLst/>
          </a:prstGeom>
          <a:solidFill>
            <a:srgbClr val="FFFFFF"/>
          </a:solidFill>
          <a:ln w="22225">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11351179" y="832836"/>
            <a:ext cx="199705" cy="199705"/>
          </a:xfrm>
          <a:prstGeom prst="rect">
            <a:avLst/>
          </a:prstGeom>
        </p:spPr>
      </p:pic>
      <p:sp>
        <p:nvSpPr>
          <p:cNvPr id="13" name="Shape 8"/>
          <p:cNvSpPr/>
          <p:nvPr/>
        </p:nvSpPr>
        <p:spPr>
          <a:xfrm>
            <a:off x="548640" y="1554480"/>
            <a:ext cx="5943600" cy="4216908"/>
          </a:xfrm>
          <a:prstGeom prst="roundRect">
            <a:avLst>
              <a:gd name="adj" fmla="val 1735"/>
            </a:avLst>
          </a:prstGeom>
          <a:solidFill>
            <a:srgbClr val="FBFCFA"/>
          </a:solidFill>
          <a:ln/>
          <a:effectLst>
            <a:outerShdw sx="100000" sy="100000" kx="0" ky="0" algn="bl" rotWithShape="0" blurRad="101600" dist="25400" dir="5400000">
              <a:srgbClr val="000000">
                <a:alpha val="14000"/>
              </a:srgbClr>
            </a:outerShdw>
          </a:effectLst>
        </p:spPr>
      </p:sp>
      <p:sp>
        <p:nvSpPr>
          <p:cNvPr id="14" name="Shape 9"/>
          <p:cNvSpPr/>
          <p:nvPr/>
        </p:nvSpPr>
        <p:spPr>
          <a:xfrm>
            <a:off x="548640" y="1554480"/>
            <a:ext cx="5943600" cy="438912"/>
          </a:xfrm>
          <a:prstGeom prst="roundRect">
            <a:avLst>
              <a:gd name="adj" fmla="val 16667"/>
            </a:avLst>
          </a:prstGeom>
          <a:solidFill>
            <a:srgbClr val="E1ECF9"/>
          </a:solidFill>
          <a:ln/>
        </p:spPr>
      </p:sp>
      <p:sp>
        <p:nvSpPr>
          <p:cNvPr id="15" name="Shape 10"/>
          <p:cNvSpPr/>
          <p:nvPr/>
        </p:nvSpPr>
        <p:spPr>
          <a:xfrm>
            <a:off x="548640" y="1883664"/>
            <a:ext cx="5943600" cy="109728"/>
          </a:xfrm>
          <a:prstGeom prst="rect">
            <a:avLst/>
          </a:prstGeom>
          <a:solidFill>
            <a:srgbClr val="FBFCFA"/>
          </a:solidFill>
          <a:ln/>
        </p:spPr>
      </p:sp>
      <p:sp>
        <p:nvSpPr>
          <p:cNvPr id="16" name="Shape 11"/>
          <p:cNvSpPr/>
          <p:nvPr/>
        </p:nvSpPr>
        <p:spPr>
          <a:xfrm>
            <a:off x="548640" y="1883664"/>
            <a:ext cx="5943600" cy="0"/>
          </a:xfrm>
          <a:prstGeom prst="line">
            <a:avLst/>
          </a:prstGeom>
          <a:noFill/>
          <a:ln w="9525">
            <a:solidFill>
              <a:srgbClr val="DFE3DE"/>
            </a:solidFill>
            <a:prstDash val="solid"/>
          </a:ln>
        </p:spPr>
      </p:sp>
      <p:sp>
        <p:nvSpPr>
          <p:cNvPr id="17" name="Shape 12"/>
          <p:cNvSpPr/>
          <p:nvPr/>
        </p:nvSpPr>
        <p:spPr>
          <a:xfrm>
            <a:off x="704088" y="1664208"/>
            <a:ext cx="109728" cy="109728"/>
          </a:xfrm>
          <a:prstGeom prst="ellipse">
            <a:avLst/>
          </a:prstGeom>
          <a:solidFill>
            <a:srgbClr val="2A78D6"/>
          </a:solidFill>
          <a:ln/>
        </p:spPr>
      </p:sp>
      <p:sp>
        <p:nvSpPr>
          <p:cNvPr id="18" name="Text 13"/>
          <p:cNvSpPr txBox="1"/>
          <p:nvPr/>
        </p:nvSpPr>
        <p:spPr>
          <a:xfrm>
            <a:off x="896112" y="1554480"/>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basket_procedural.py</a:t>
            </a:r>
            <a:endParaRPr lang="en-US" sz="1050" dirty="0"/>
          </a:p>
        </p:txBody>
      </p:sp>
      <p:sp>
        <p:nvSpPr>
          <p:cNvPr id="19" name="Text 14"/>
          <p:cNvSpPr txBox="1"/>
          <p:nvPr/>
        </p:nvSpPr>
        <p:spPr>
          <a:xfrm>
            <a:off x="3474720" y="1554480"/>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Python 3</a:t>
            </a:r>
            <a:endParaRPr lang="en-US" sz="1050" dirty="0"/>
          </a:p>
        </p:txBody>
      </p:sp>
      <p:sp>
        <p:nvSpPr>
          <p:cNvPr id="20" name="Text 15"/>
          <p:cNvSpPr txBox="1"/>
          <p:nvPr/>
        </p:nvSpPr>
        <p:spPr>
          <a:xfrm>
            <a:off x="694944" y="1975104"/>
            <a:ext cx="5724144" cy="3238500"/>
          </a:xfrm>
          <a:prstGeom prst="rect">
            <a:avLst/>
          </a:prstGeom>
          <a:noFill/>
          <a:ln/>
        </p:spPr>
        <p:txBody>
          <a:bodyPr wrap="square" lIns="0" tIns="0" rIns="0" bIns="0" rtlCol="0" anchor="t"/>
          <a:lstStyle/>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1  </a:t>
            </a:r>
            <a:r>
              <a:rPr lang="en-US" sz="1100" i="1" dirty="0">
                <a:solidFill>
                  <a:srgbClr val="4A534E"/>
                </a:solidFill>
                <a:latin typeface="Consolas" pitchFamily="34" charset="0"/>
                <a:ea typeface="Consolas" pitchFamily="34" charset="-122"/>
                <a:cs typeface="Consolas" pitchFamily="34" charset="-120"/>
              </a:rPr>
              <a:t># Procedural: a list of steps, split into functions</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2  </a:t>
            </a:r>
            <a:r>
              <a:rPr lang="en-US" sz="1100" dirty="0">
                <a:solidFill>
                  <a:srgbClr val="1B1F1D"/>
                </a:solidFill>
                <a:latin typeface="Consolas" pitchFamily="34" charset="0"/>
                <a:ea typeface="Consolas" pitchFamily="34" charset="-122"/>
                <a:cs typeface="Consolas" pitchFamily="34" charset="-120"/>
              </a:rPr>
              <a:t> </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3  </a:t>
            </a:r>
            <a:r>
              <a:rPr lang="en-US" sz="1100" b="1" dirty="0">
                <a:solidFill>
                  <a:srgbClr val="B8323A"/>
                </a:solidFill>
                <a:latin typeface="Consolas" pitchFamily="34" charset="0"/>
                <a:ea typeface="Consolas" pitchFamily="34" charset="-122"/>
                <a:cs typeface="Consolas" pitchFamily="34" charset="-120"/>
              </a:rPr>
              <a:t>def</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3456C0"/>
                </a:solidFill>
                <a:latin typeface="Consolas" pitchFamily="34" charset="0"/>
                <a:ea typeface="Consolas" pitchFamily="34" charset="-122"/>
                <a:cs typeface="Consolas" pitchFamily="34" charset="-120"/>
              </a:rPr>
              <a:t>add_up</a:t>
            </a:r>
            <a:r>
              <a:rPr lang="en-US" sz="1100" dirty="0">
                <a:solidFill>
                  <a:srgbClr val="1B1F1D"/>
                </a:solidFill>
                <a:latin typeface="Consolas" pitchFamily="34" charset="0"/>
                <a:ea typeface="Consolas" pitchFamily="34" charset="-122"/>
                <a:cs typeface="Consolas" pitchFamily="34" charset="-120"/>
              </a:rPr>
              <a:t>(prices):              </a:t>
            </a:r>
            <a:r>
              <a:rPr lang="en-US" sz="1100" i="1" dirty="0">
                <a:solidFill>
                  <a:srgbClr val="4A534E"/>
                </a:solidFill>
                <a:latin typeface="Consolas" pitchFamily="34" charset="0"/>
                <a:ea typeface="Consolas" pitchFamily="34" charset="-122"/>
                <a:cs typeface="Consolas" pitchFamily="34" charset="-120"/>
              </a:rPr>
              <a:t># a procedure (function)</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4  </a:t>
            </a:r>
            <a:r>
              <a:rPr lang="en-US" sz="1100" dirty="0">
                <a:solidFill>
                  <a:srgbClr val="1B1F1D"/>
                </a:solidFill>
                <a:latin typeface="Consolas" pitchFamily="34" charset="0"/>
                <a:ea typeface="Consolas" pitchFamily="34" charset="-122"/>
                <a:cs typeface="Consolas" pitchFamily="34" charset="-120"/>
              </a:rPr>
              <a:t>    total = </a:t>
            </a:r>
            <a:r>
              <a:rPr lang="en-US" sz="1100" dirty="0">
                <a:solidFill>
                  <a:srgbClr val="A35A00"/>
                </a:solidFill>
                <a:latin typeface="Consolas" pitchFamily="34" charset="0"/>
                <a:ea typeface="Consolas" pitchFamily="34" charset="-122"/>
                <a:cs typeface="Consolas" pitchFamily="34" charset="-120"/>
              </a:rPr>
              <a:t>0</a:t>
            </a:r>
            <a:r>
              <a:rPr lang="en-US" sz="1100" dirty="0">
                <a:solidFill>
                  <a:srgbClr val="1B1F1D"/>
                </a:solidFill>
                <a:latin typeface="Consolas" pitchFamily="34" charset="0"/>
                <a:ea typeface="Consolas" pitchFamily="34" charset="-122"/>
                <a:cs typeface="Consolas" pitchFamily="34" charset="-120"/>
              </a:rPr>
              <a:t>                    </a:t>
            </a:r>
            <a:r>
              <a:rPr lang="en-US" sz="1100" i="1" dirty="0">
                <a:solidFill>
                  <a:srgbClr val="4A534E"/>
                </a:solidFill>
                <a:latin typeface="Consolas" pitchFamily="34" charset="0"/>
                <a:ea typeface="Consolas" pitchFamily="34" charset="-122"/>
                <a:cs typeface="Consolas" pitchFamily="34" charset="-120"/>
              </a:rPr>
              <a:t># a local variable</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5  </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for</a:t>
            </a:r>
            <a:r>
              <a:rPr lang="en-US" sz="1100" dirty="0">
                <a:solidFill>
                  <a:srgbClr val="1B1F1D"/>
                </a:solidFill>
                <a:latin typeface="Consolas" pitchFamily="34" charset="0"/>
                <a:ea typeface="Consolas" pitchFamily="34" charset="-122"/>
                <a:cs typeface="Consolas" pitchFamily="34" charset="-120"/>
              </a:rPr>
              <a:t> price </a:t>
            </a:r>
            <a:r>
              <a:rPr lang="en-US" sz="1100" b="1" dirty="0">
                <a:solidFill>
                  <a:srgbClr val="B8323A"/>
                </a:solidFill>
                <a:latin typeface="Consolas" pitchFamily="34" charset="0"/>
                <a:ea typeface="Consolas" pitchFamily="34" charset="-122"/>
                <a:cs typeface="Consolas" pitchFamily="34" charset="-120"/>
              </a:rPr>
              <a:t>in</a:t>
            </a:r>
            <a:r>
              <a:rPr lang="en-US" sz="1100" dirty="0">
                <a:solidFill>
                  <a:srgbClr val="1B1F1D"/>
                </a:solidFill>
                <a:latin typeface="Consolas" pitchFamily="34" charset="0"/>
                <a:ea typeface="Consolas" pitchFamily="34" charset="-122"/>
                <a:cs typeface="Consolas" pitchFamily="34" charset="-120"/>
              </a:rPr>
              <a:t> prices:         </a:t>
            </a:r>
            <a:r>
              <a:rPr lang="en-US" sz="1100" i="1" dirty="0">
                <a:solidFill>
                  <a:srgbClr val="4A534E"/>
                </a:solidFill>
                <a:latin typeface="Consolas" pitchFamily="34" charset="0"/>
                <a:ea typeface="Consolas" pitchFamily="34" charset="-122"/>
                <a:cs typeface="Consolas" pitchFamily="34" charset="-120"/>
              </a:rPr>
              <a:t># iteration (a loop)</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6  </a:t>
            </a:r>
            <a:r>
              <a:rPr lang="en-US" sz="1100" dirty="0">
                <a:solidFill>
                  <a:srgbClr val="1B1F1D"/>
                </a:solidFill>
                <a:latin typeface="Consolas" pitchFamily="34" charset="0"/>
                <a:ea typeface="Consolas" pitchFamily="34" charset="-122"/>
                <a:cs typeface="Consolas" pitchFamily="34" charset="-120"/>
              </a:rPr>
              <a:t>        total = total + price</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7  </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return</a:t>
            </a:r>
            <a:r>
              <a:rPr lang="en-US" sz="1100" dirty="0">
                <a:solidFill>
                  <a:srgbClr val="1B1F1D"/>
                </a:solidFill>
                <a:latin typeface="Consolas" pitchFamily="34" charset="0"/>
                <a:ea typeface="Consolas" pitchFamily="34" charset="-122"/>
                <a:cs typeface="Consolas" pitchFamily="34" charset="-120"/>
              </a:rPr>
              <a:t> total                 </a:t>
            </a:r>
            <a:r>
              <a:rPr lang="en-US" sz="1100" i="1" dirty="0">
                <a:solidFill>
                  <a:srgbClr val="4A534E"/>
                </a:solidFill>
                <a:latin typeface="Consolas" pitchFamily="34" charset="0"/>
                <a:ea typeface="Consolas" pitchFamily="34" charset="-122"/>
                <a:cs typeface="Consolas" pitchFamily="34" charset="-120"/>
              </a:rPr>
              <a:t># send the answer back</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8  </a:t>
            </a:r>
            <a:r>
              <a:rPr lang="en-US" sz="1100" dirty="0">
                <a:solidFill>
                  <a:srgbClr val="1B1F1D"/>
                </a:solidFill>
                <a:latin typeface="Consolas" pitchFamily="34" charset="0"/>
                <a:ea typeface="Consolas" pitchFamily="34" charset="-122"/>
                <a:cs typeface="Consolas" pitchFamily="34" charset="-120"/>
              </a:rPr>
              <a:t> </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9  </a:t>
            </a:r>
            <a:r>
              <a:rPr lang="en-US" sz="1100" b="1" dirty="0">
                <a:solidFill>
                  <a:srgbClr val="B8323A"/>
                </a:solidFill>
                <a:latin typeface="Consolas" pitchFamily="34" charset="0"/>
                <a:ea typeface="Consolas" pitchFamily="34" charset="-122"/>
                <a:cs typeface="Consolas" pitchFamily="34" charset="-120"/>
              </a:rPr>
              <a:t>def</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3456C0"/>
                </a:solidFill>
                <a:latin typeface="Consolas" pitchFamily="34" charset="0"/>
                <a:ea typeface="Consolas" pitchFamily="34" charset="-122"/>
                <a:cs typeface="Consolas" pitchFamily="34" charset="-120"/>
              </a:rPr>
              <a:t>apply_offer</a:t>
            </a:r>
            <a:r>
              <a:rPr lang="en-US" sz="1100" dirty="0">
                <a:solidFill>
                  <a:srgbClr val="1B1F1D"/>
                </a:solidFill>
                <a:latin typeface="Consolas" pitchFamily="34" charset="0"/>
                <a:ea typeface="Consolas" pitchFamily="34" charset="-122"/>
                <a:cs typeface="Consolas" pitchFamily="34" charset="-120"/>
              </a:rPr>
              <a:t>(total):</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10  </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if</a:t>
            </a:r>
            <a:r>
              <a:rPr lang="en-US" sz="1100" dirty="0">
                <a:solidFill>
                  <a:srgbClr val="1B1F1D"/>
                </a:solidFill>
                <a:latin typeface="Consolas" pitchFamily="34" charset="0"/>
                <a:ea typeface="Consolas" pitchFamily="34" charset="-122"/>
                <a:cs typeface="Consolas" pitchFamily="34" charset="-120"/>
              </a:rPr>
              <a:t> total &gt;= </a:t>
            </a:r>
            <a:r>
              <a:rPr lang="en-US" sz="1100" dirty="0">
                <a:solidFill>
                  <a:srgbClr val="A35A00"/>
                </a:solidFill>
                <a:latin typeface="Consolas" pitchFamily="34" charset="0"/>
                <a:ea typeface="Consolas" pitchFamily="34" charset="-122"/>
                <a:cs typeface="Consolas" pitchFamily="34" charset="-120"/>
              </a:rPr>
              <a:t>5</a:t>
            </a:r>
            <a:r>
              <a:rPr lang="en-US" sz="1100" dirty="0">
                <a:solidFill>
                  <a:srgbClr val="1B1F1D"/>
                </a:solidFill>
                <a:latin typeface="Consolas" pitchFamily="34" charset="0"/>
                <a:ea typeface="Consolas" pitchFamily="34" charset="-122"/>
                <a:cs typeface="Consolas" pitchFamily="34" charset="-120"/>
              </a:rPr>
              <a:t>:               </a:t>
            </a:r>
            <a:r>
              <a:rPr lang="en-US" sz="1100" i="1" dirty="0">
                <a:solidFill>
                  <a:srgbClr val="4A534E"/>
                </a:solidFill>
                <a:latin typeface="Consolas" pitchFamily="34" charset="0"/>
                <a:ea typeface="Consolas" pitchFamily="34" charset="-122"/>
                <a:cs typeface="Consolas" pitchFamily="34" charset="-120"/>
              </a:rPr>
              <a:t># selection (a decision)</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11  </a:t>
            </a:r>
            <a:r>
              <a:rPr lang="en-US" sz="1100" dirty="0">
                <a:solidFill>
                  <a:srgbClr val="1B1F1D"/>
                </a:solidFill>
                <a:latin typeface="Consolas" pitchFamily="34" charset="0"/>
                <a:ea typeface="Consolas" pitchFamily="34" charset="-122"/>
                <a:cs typeface="Consolas" pitchFamily="34" charset="-120"/>
              </a:rPr>
              <a:t>        total = total - </a:t>
            </a:r>
            <a:r>
              <a:rPr lang="en-US" sz="1100" dirty="0">
                <a:solidFill>
                  <a:srgbClr val="A35A00"/>
                </a:solidFill>
                <a:latin typeface="Consolas" pitchFamily="34" charset="0"/>
                <a:ea typeface="Consolas" pitchFamily="34" charset="-122"/>
                <a:cs typeface="Consolas" pitchFamily="34" charset="-120"/>
              </a:rPr>
              <a:t>1</a:t>
            </a:r>
            <a:r>
              <a:rPr lang="en-US" sz="1100" dirty="0">
                <a:solidFill>
                  <a:srgbClr val="1B1F1D"/>
                </a:solidFill>
                <a:latin typeface="Consolas" pitchFamily="34" charset="0"/>
                <a:ea typeface="Consolas" pitchFamily="34" charset="-122"/>
                <a:cs typeface="Consolas" pitchFamily="34" charset="-120"/>
              </a:rPr>
              <a:t>        </a:t>
            </a:r>
            <a:r>
              <a:rPr lang="en-US" sz="1100" i="1" dirty="0">
                <a:solidFill>
                  <a:srgbClr val="4A534E"/>
                </a:solidFill>
                <a:latin typeface="Consolas" pitchFamily="34" charset="0"/>
                <a:ea typeface="Consolas" pitchFamily="34" charset="-122"/>
                <a:cs typeface="Consolas" pitchFamily="34" charset="-120"/>
              </a:rPr>
              <a:t># £1 off orders of £5+</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12  </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return</a:t>
            </a:r>
            <a:r>
              <a:rPr lang="en-US" sz="1100" dirty="0">
                <a:solidFill>
                  <a:srgbClr val="1B1F1D"/>
                </a:solidFill>
                <a:latin typeface="Consolas" pitchFamily="34" charset="0"/>
                <a:ea typeface="Consolas" pitchFamily="34" charset="-122"/>
                <a:cs typeface="Consolas" pitchFamily="34" charset="-120"/>
              </a:rPr>
              <a:t> total</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13  </a:t>
            </a:r>
            <a:r>
              <a:rPr lang="en-US" sz="1100" dirty="0">
                <a:solidFill>
                  <a:srgbClr val="1B1F1D"/>
                </a:solidFill>
                <a:latin typeface="Consolas" pitchFamily="34" charset="0"/>
                <a:ea typeface="Consolas" pitchFamily="34" charset="-122"/>
                <a:cs typeface="Consolas" pitchFamily="34" charset="-120"/>
              </a:rPr>
              <a:t> </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14  </a:t>
            </a:r>
            <a:r>
              <a:rPr lang="en-US" sz="1100" dirty="0">
                <a:solidFill>
                  <a:srgbClr val="1B1F1D"/>
                </a:solidFill>
                <a:latin typeface="Consolas" pitchFamily="34" charset="0"/>
                <a:ea typeface="Consolas" pitchFamily="34" charset="-122"/>
                <a:cs typeface="Consolas" pitchFamily="34" charset="-120"/>
              </a:rPr>
              <a:t>basket = [</a:t>
            </a:r>
            <a:r>
              <a:rPr lang="en-US" sz="1100" dirty="0">
                <a:solidFill>
                  <a:srgbClr val="A35A00"/>
                </a:solidFill>
                <a:latin typeface="Consolas" pitchFamily="34" charset="0"/>
                <a:ea typeface="Consolas" pitchFamily="34" charset="-122"/>
                <a:cs typeface="Consolas" pitchFamily="34" charset="-120"/>
              </a:rPr>
              <a:t>1.25</a:t>
            </a:r>
            <a:r>
              <a:rPr lang="en-US" sz="1100" dirty="0">
                <a:solidFill>
                  <a:srgbClr val="1B1F1D"/>
                </a:solidFill>
                <a:latin typeface="Consolas" pitchFamily="34" charset="0"/>
                <a:ea typeface="Consolas" pitchFamily="34" charset="-122"/>
                <a:cs typeface="Consolas" pitchFamily="34" charset="-120"/>
              </a:rPr>
              <a:t>, </a:t>
            </a:r>
            <a:r>
              <a:rPr lang="en-US" sz="1100" dirty="0">
                <a:solidFill>
                  <a:srgbClr val="A35A00"/>
                </a:solidFill>
                <a:latin typeface="Consolas" pitchFamily="34" charset="0"/>
                <a:ea typeface="Consolas" pitchFamily="34" charset="-122"/>
                <a:cs typeface="Consolas" pitchFamily="34" charset="-120"/>
              </a:rPr>
              <a:t>3.50</a:t>
            </a:r>
            <a:r>
              <a:rPr lang="en-US" sz="1100" dirty="0">
                <a:solidFill>
                  <a:srgbClr val="1B1F1D"/>
                </a:solidFill>
                <a:latin typeface="Consolas" pitchFamily="34" charset="0"/>
                <a:ea typeface="Consolas" pitchFamily="34" charset="-122"/>
                <a:cs typeface="Consolas" pitchFamily="34" charset="-120"/>
              </a:rPr>
              <a:t>, </a:t>
            </a:r>
            <a:r>
              <a:rPr lang="en-US" sz="1100" dirty="0">
                <a:solidFill>
                  <a:srgbClr val="A35A00"/>
                </a:solidFill>
                <a:latin typeface="Consolas" pitchFamily="34" charset="0"/>
                <a:ea typeface="Consolas" pitchFamily="34" charset="-122"/>
                <a:cs typeface="Consolas" pitchFamily="34" charset="-120"/>
              </a:rPr>
              <a:t>0.75</a:t>
            </a:r>
            <a:r>
              <a:rPr lang="en-US" sz="1100" dirty="0">
                <a:solidFill>
                  <a:srgbClr val="1B1F1D"/>
                </a:solidFill>
                <a:latin typeface="Consolas" pitchFamily="34" charset="0"/>
                <a:ea typeface="Consolas" pitchFamily="34" charset="-122"/>
                <a:cs typeface="Consolas" pitchFamily="34" charset="-120"/>
              </a:rPr>
              <a:t>]      </a:t>
            </a:r>
            <a:r>
              <a:rPr lang="en-US" sz="1100" i="1" dirty="0">
                <a:solidFill>
                  <a:srgbClr val="4A534E"/>
                </a:solidFill>
                <a:latin typeface="Consolas" pitchFamily="34" charset="0"/>
                <a:ea typeface="Consolas" pitchFamily="34" charset="-122"/>
                <a:cs typeface="Consolas" pitchFamily="34" charset="-120"/>
              </a:rPr>
              <a:t># croissant, sourdough, cookie</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15  </a:t>
            </a:r>
            <a:r>
              <a:rPr lang="en-US" sz="1100" dirty="0">
                <a:solidFill>
                  <a:srgbClr val="1B1F1D"/>
                </a:solidFill>
                <a:latin typeface="Consolas" pitchFamily="34" charset="0"/>
                <a:ea typeface="Consolas" pitchFamily="34" charset="-122"/>
                <a:cs typeface="Consolas" pitchFamily="34" charset="-120"/>
              </a:rPr>
              <a:t>subtotal = add_up(basket)        </a:t>
            </a:r>
            <a:r>
              <a:rPr lang="en-US" sz="1100" i="1" dirty="0">
                <a:solidFill>
                  <a:srgbClr val="4A534E"/>
                </a:solidFill>
                <a:latin typeface="Consolas" pitchFamily="34" charset="0"/>
                <a:ea typeface="Consolas" pitchFamily="34" charset="-122"/>
                <a:cs typeface="Consolas" pitchFamily="34" charset="-120"/>
              </a:rPr>
              <a:t># call the function</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16  </a:t>
            </a:r>
            <a:r>
              <a:rPr lang="en-US" sz="1100" dirty="0">
                <a:solidFill>
                  <a:srgbClr val="1B1F1D"/>
                </a:solidFill>
                <a:latin typeface="Consolas" pitchFamily="34" charset="0"/>
                <a:ea typeface="Consolas" pitchFamily="34" charset="-122"/>
                <a:cs typeface="Consolas" pitchFamily="34" charset="-120"/>
              </a:rPr>
              <a:t>to_pay = apply_offer(subtotal)</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17  </a:t>
            </a:r>
            <a:r>
              <a:rPr lang="en-US" sz="1100" dirty="0">
                <a:solidFill>
                  <a:srgbClr val="3456C0"/>
                </a:solidFill>
                <a:latin typeface="Consolas" pitchFamily="34" charset="0"/>
                <a:ea typeface="Consolas" pitchFamily="34" charset="-122"/>
                <a:cs typeface="Consolas" pitchFamily="34" charset="-120"/>
              </a:rPr>
              <a:t>print</a:t>
            </a:r>
            <a:r>
              <a:rPr lang="en-US" sz="1100" dirty="0">
                <a:solidFill>
                  <a:srgbClr val="1B1F1D"/>
                </a:solidFill>
                <a:latin typeface="Consolas" pitchFamily="34" charset="0"/>
                <a:ea typeface="Consolas" pitchFamily="34" charset="-122"/>
                <a:cs typeface="Consolas" pitchFamily="34" charset="-120"/>
              </a:rPr>
              <a:t>(</a:t>
            </a:r>
            <a:r>
              <a:rPr lang="en-US" sz="1100" dirty="0">
                <a:solidFill>
                  <a:srgbClr val="1D7A4E"/>
                </a:solidFill>
                <a:latin typeface="Consolas" pitchFamily="34" charset="0"/>
                <a:ea typeface="Consolas" pitchFamily="34" charset="-122"/>
                <a:cs typeface="Consolas" pitchFamily="34" charset="-120"/>
              </a:rPr>
              <a:t>f"To pay: £{to_pay:.2f}"</a:t>
            </a:r>
            <a:r>
              <a:rPr lang="en-US" sz="1100" dirty="0">
                <a:solidFill>
                  <a:srgbClr val="1B1F1D"/>
                </a:solidFill>
                <a:latin typeface="Consolas" pitchFamily="34" charset="0"/>
                <a:ea typeface="Consolas" pitchFamily="34" charset="-122"/>
                <a:cs typeface="Consolas" pitchFamily="34" charset="-120"/>
              </a:rPr>
              <a:t>)</a:t>
            </a:r>
            <a:endParaRPr lang="en-US" sz="1100" dirty="0"/>
          </a:p>
        </p:txBody>
      </p:sp>
      <p:sp>
        <p:nvSpPr>
          <p:cNvPr id="21" name="Shape 16"/>
          <p:cNvSpPr/>
          <p:nvPr/>
        </p:nvSpPr>
        <p:spPr>
          <a:xfrm>
            <a:off x="548640" y="5332476"/>
            <a:ext cx="5943600" cy="438912"/>
          </a:xfrm>
          <a:prstGeom prst="roundRect">
            <a:avLst>
              <a:gd name="adj" fmla="val 16667"/>
            </a:avLst>
          </a:prstGeom>
          <a:solidFill>
            <a:srgbClr val="1D2320"/>
          </a:solidFill>
          <a:ln/>
        </p:spPr>
      </p:sp>
      <p:sp>
        <p:nvSpPr>
          <p:cNvPr id="22" name="Shape 17"/>
          <p:cNvSpPr/>
          <p:nvPr/>
        </p:nvSpPr>
        <p:spPr>
          <a:xfrm>
            <a:off x="548640" y="5332476"/>
            <a:ext cx="5943600" cy="109728"/>
          </a:xfrm>
          <a:prstGeom prst="rect">
            <a:avLst/>
          </a:prstGeom>
          <a:solidFill>
            <a:srgbClr val="1D2320"/>
          </a:solidFill>
          <a:ln/>
        </p:spPr>
      </p:sp>
      <p:sp>
        <p:nvSpPr>
          <p:cNvPr id="23" name="Text 18"/>
          <p:cNvSpPr txBox="1"/>
          <p:nvPr/>
        </p:nvSpPr>
        <p:spPr>
          <a:xfrm>
            <a:off x="713232" y="5442204"/>
            <a:ext cx="822960" cy="201168"/>
          </a:xfrm>
          <a:prstGeom prst="rect">
            <a:avLst/>
          </a:prstGeom>
          <a:noFill/>
          <a:ln/>
        </p:spPr>
        <p:txBody>
          <a:bodyPr wrap="square" lIns="0" tIns="0" rIns="0" bIns="0" rtlCol="0" anchor="ctr"/>
          <a:lstStyle/>
          <a:p>
            <a:pPr indent="0" marL="0">
              <a:buNone/>
            </a:pPr>
            <a:r>
              <a:rPr lang="en-US" sz="850" spc="150" kern="0" dirty="0">
                <a:solidFill>
                  <a:srgbClr val="9AA7A0"/>
                </a:solidFill>
                <a:latin typeface="Calibri" pitchFamily="34" charset="0"/>
                <a:ea typeface="Calibri" pitchFamily="34" charset="-122"/>
                <a:cs typeface="Calibri" pitchFamily="34" charset="-120"/>
              </a:rPr>
              <a:t>OUTPUT</a:t>
            </a:r>
            <a:endParaRPr lang="en-US" sz="850" dirty="0"/>
          </a:p>
        </p:txBody>
      </p:sp>
      <p:sp>
        <p:nvSpPr>
          <p:cNvPr id="24" name="Text 19"/>
          <p:cNvSpPr txBox="1"/>
          <p:nvPr/>
        </p:nvSpPr>
        <p:spPr>
          <a:xfrm>
            <a:off x="1508760" y="5433060"/>
            <a:ext cx="4846320" cy="201168"/>
          </a:xfrm>
          <a:prstGeom prst="rect">
            <a:avLst/>
          </a:prstGeom>
          <a:noFill/>
          <a:ln/>
        </p:spPr>
        <p:txBody>
          <a:bodyPr wrap="square" lIns="0" tIns="0" rIns="0" bIns="0" rtlCol="0" anchor="t"/>
          <a:lstStyle/>
          <a:p>
            <a:pPr indent="0" marL="0">
              <a:lnSpc>
                <a:spcPts val="1580"/>
              </a:lnSpc>
              <a:buNone/>
            </a:pPr>
            <a:r>
              <a:rPr lang="en-US" sz="1100" dirty="0">
                <a:solidFill>
                  <a:srgbClr val="A6E3BF"/>
                </a:solidFill>
                <a:latin typeface="Consolas" pitchFamily="34" charset="0"/>
                <a:ea typeface="Consolas" pitchFamily="34" charset="-122"/>
                <a:cs typeface="Consolas" pitchFamily="34" charset="-120"/>
              </a:rPr>
              <a:t>To pay: £4.50</a:t>
            </a:r>
            <a:endParaRPr lang="en-US" sz="1100" dirty="0"/>
          </a:p>
        </p:txBody>
      </p:sp>
      <p:sp>
        <p:nvSpPr>
          <p:cNvPr id="25" name="Shape 20"/>
          <p:cNvSpPr/>
          <p:nvPr/>
        </p:nvSpPr>
        <p:spPr>
          <a:xfrm>
            <a:off x="548640" y="1554480"/>
            <a:ext cx="5943600" cy="4216908"/>
          </a:xfrm>
          <a:prstGeom prst="roundRect">
            <a:avLst>
              <a:gd name="adj" fmla="val 1735"/>
            </a:avLst>
          </a:prstGeom>
          <a:ln w="12700">
            <a:solidFill>
              <a:srgbClr val="DFE3DE"/>
            </a:solidFill>
            <a:prstDash val="solid"/>
          </a:ln>
        </p:spPr>
      </p:sp>
      <p:sp>
        <p:nvSpPr>
          <p:cNvPr id="26" name="Text 21"/>
          <p:cNvSpPr txBox="1"/>
          <p:nvPr/>
        </p:nvSpPr>
        <p:spPr>
          <a:xfrm>
            <a:off x="6766560" y="1554480"/>
            <a:ext cx="4873752"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TRACE TABLE: THE VALUES AS THE PROGRAM RUNS</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766560" y="1828800"/>
          <a:ext cx="4873752" cy="914400"/>
        </p:xfrm>
        <a:graphic>
          <a:graphicData uri="http://schemas.openxmlformats.org/drawingml/2006/table">
            <a:tbl>
              <a:tblPr/>
              <a:tblGrid>
                <a:gridCol w="713232"/>
                <a:gridCol w="621792"/>
                <a:gridCol w="621792"/>
                <a:gridCol w="786384"/>
                <a:gridCol w="694944"/>
                <a:gridCol w="1435608"/>
              </a:tblGrid>
              <a:tr h="283464">
                <a:tc>
                  <a:txBody>
                    <a:bodyPr/>
                    <a:lstStyle/>
                    <a:p>
                      <a:pPr indent="0" marL="0">
                        <a:buNone/>
                      </a:pPr>
                      <a:r>
                        <a:rPr lang="en-US" sz="1200" b="1" dirty="0">
                          <a:solidFill>
                            <a:srgbClr val="1B1F1D"/>
                          </a:solidFill>
                          <a:latin typeface="Calibri" pitchFamily="34" charset="0"/>
                          <a:ea typeface="Calibri" pitchFamily="34" charset="-122"/>
                          <a:cs typeface="Calibri" pitchFamily="34" charset="-120"/>
                        </a:rPr>
                        <a:t>Line</a:t>
                      </a:r>
                      <a:endParaRPr lang="en-US" sz="1200" dirty="0">
                        <a:latin typeface="Calibri" charset="0"/>
                        <a:ea typeface="Calibri" charset="0"/>
                        <a:cs typeface="Calibri"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CADDF5"/>
                    </a:solidFill>
                  </a:tcPr>
                </a:tc>
                <a:tc>
                  <a:txBody>
                    <a:bodyPr/>
                    <a:lstStyle/>
                    <a:p>
                      <a:pPr indent="0" marL="0">
                        <a:buNone/>
                      </a:pPr>
                      <a:r>
                        <a:rPr lang="en-US" sz="1200" b="1" dirty="0">
                          <a:solidFill>
                            <a:srgbClr val="1B1F1D"/>
                          </a:solidFill>
                          <a:latin typeface="Calibri" pitchFamily="34" charset="0"/>
                          <a:ea typeface="Calibri" pitchFamily="34" charset="-122"/>
                          <a:cs typeface="Calibri" pitchFamily="34" charset="-120"/>
                        </a:rPr>
                        <a:t>price</a:t>
                      </a:r>
                      <a:endParaRPr lang="en-US" sz="1200" dirty="0">
                        <a:latin typeface="Calibri" charset="0"/>
                        <a:ea typeface="Calibri" charset="0"/>
                        <a:cs typeface="Calibri"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CADDF5"/>
                    </a:solidFill>
                  </a:tcPr>
                </a:tc>
                <a:tc>
                  <a:txBody>
                    <a:bodyPr/>
                    <a:lstStyle/>
                    <a:p>
                      <a:pPr indent="0" marL="0">
                        <a:buNone/>
                      </a:pPr>
                      <a:r>
                        <a:rPr lang="en-US" sz="1200" b="1" dirty="0">
                          <a:solidFill>
                            <a:srgbClr val="1B1F1D"/>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CADDF5"/>
                    </a:solidFill>
                  </a:tcPr>
                </a:tc>
                <a:tc>
                  <a:txBody>
                    <a:bodyPr/>
                    <a:lstStyle/>
                    <a:p>
                      <a:pPr indent="0" marL="0">
                        <a:buNone/>
                      </a:pPr>
                      <a:r>
                        <a:rPr lang="en-US" sz="1200" b="1" dirty="0">
                          <a:solidFill>
                            <a:srgbClr val="1B1F1D"/>
                          </a:solidFill>
                          <a:latin typeface="Calibri" pitchFamily="34" charset="0"/>
                          <a:ea typeface="Calibri" pitchFamily="34" charset="-122"/>
                          <a:cs typeface="Calibri" pitchFamily="34" charset="-120"/>
                        </a:rPr>
                        <a:t>subtotal</a:t>
                      </a:r>
                      <a:endParaRPr lang="en-US" sz="1200" dirty="0">
                        <a:latin typeface="Calibri" charset="0"/>
                        <a:ea typeface="Calibri" charset="0"/>
                        <a:cs typeface="Calibri"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CADDF5"/>
                    </a:solidFill>
                  </a:tcPr>
                </a:tc>
                <a:tc>
                  <a:txBody>
                    <a:bodyPr/>
                    <a:lstStyle/>
                    <a:p>
                      <a:pPr indent="0" marL="0">
                        <a:buNone/>
                      </a:pPr>
                      <a:r>
                        <a:rPr lang="en-US" sz="1200" b="1" dirty="0">
                          <a:solidFill>
                            <a:srgbClr val="1B1F1D"/>
                          </a:solidFill>
                          <a:latin typeface="Calibri" pitchFamily="34" charset="0"/>
                          <a:ea typeface="Calibri" pitchFamily="34" charset="-122"/>
                          <a:cs typeface="Calibri" pitchFamily="34" charset="-120"/>
                        </a:rPr>
                        <a:t>to_pay</a:t>
                      </a:r>
                      <a:endParaRPr lang="en-US" sz="1200" dirty="0">
                        <a:latin typeface="Calibri" charset="0"/>
                        <a:ea typeface="Calibri" charset="0"/>
                        <a:cs typeface="Calibri"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CADDF5"/>
                    </a:solidFill>
                  </a:tcPr>
                </a:tc>
                <a:tc>
                  <a:txBody>
                    <a:bodyPr/>
                    <a:lstStyle/>
                    <a:p>
                      <a:pPr indent="0" marL="0">
                        <a:buNone/>
                      </a:pPr>
                      <a:r>
                        <a:rPr lang="en-US" sz="1200" b="1" dirty="0">
                          <a:solidFill>
                            <a:srgbClr val="1B1F1D"/>
                          </a:solidFill>
                          <a:latin typeface="Calibri" pitchFamily="34" charset="0"/>
                          <a:ea typeface="Calibri" pitchFamily="34" charset="-122"/>
                          <a:cs typeface="Calibri" pitchFamily="34" charset="-120"/>
                        </a:rPr>
                        <a:t>Output</a:t>
                      </a:r>
                      <a:endParaRPr lang="en-US" sz="1200" dirty="0">
                        <a:latin typeface="Calibri" charset="0"/>
                        <a:ea typeface="Calibri" charset="0"/>
                        <a:cs typeface="Calibri"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CADDF5"/>
                    </a:solidFill>
                  </a:tcPr>
                </a:tc>
              </a:tr>
              <a:tr h="283464">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4</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0</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r>
              <a:tr h="283464">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5–6</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1.25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1.25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r>
              <a:tr h="283464">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5–6</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3.5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4.75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r>
              <a:tr h="283464">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5–6</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0.75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5.5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r>
              <a:tr h="283464">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15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5.5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r>
              <a:tr h="283464">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10–11</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4.5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EEF4FC"/>
                    </a:solidFill>
                  </a:tcPr>
                </a:tc>
              </a:tr>
              <a:tr h="283464">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16</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4.5</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r>
              <a:tr h="283464">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17</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To pay: £4.50</a:t>
                      </a:r>
                      <a:endParaRPr lang="en-US" sz="115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r>
            </a:tbl>
          </a:graphicData>
        </a:graphic>
      </p:graphicFrame>
      <p:sp>
        <p:nvSpPr>
          <p:cNvPr id="28" name="Text 22"/>
          <p:cNvSpPr txBox="1"/>
          <p:nvPr/>
        </p:nvSpPr>
        <p:spPr>
          <a:xfrm>
            <a:off x="6766560" y="4572000"/>
            <a:ext cx="4873752" cy="14630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4A534E"/>
                </a:solidFill>
                <a:latin typeface="Calibri" pitchFamily="34" charset="0"/>
                <a:ea typeface="Calibri" pitchFamily="34" charset="-122"/>
                <a:cs typeface="Calibri" pitchFamily="34" charset="-120"/>
              </a:rPr>
              <a:t>The two functions only run when they're called, on lines 15 and 16.</a:t>
            </a:r>
            <a:endParaRPr lang="en-US" sz="1400" dirty="0"/>
          </a:p>
          <a:p>
            <a:pPr marL="177800" indent="-177800">
              <a:spcAft>
                <a:spcPts val="500"/>
              </a:spcAft>
              <a:buSzPct val="100000"/>
              <a:buChar char="•"/>
            </a:pPr>
            <a:r>
              <a:rPr lang="en-US" sz="1150" dirty="0">
                <a:solidFill>
                  <a:srgbClr val="4A534E"/>
                </a:solidFill>
                <a:latin typeface="Consolas" pitchFamily="34" charset="0"/>
                <a:ea typeface="Consolas" pitchFamily="34" charset="-122"/>
                <a:cs typeface="Consolas" pitchFamily="34" charset="-120"/>
              </a:rPr>
              <a:t>add_up()</a:t>
            </a:r>
            <a:r>
              <a:rPr lang="en-US" sz="1250" dirty="0">
                <a:solidFill>
                  <a:srgbClr val="4A534E"/>
                </a:solidFill>
                <a:latin typeface="Calibri" pitchFamily="34" charset="0"/>
                <a:ea typeface="Calibri" pitchFamily="34" charset="-122"/>
                <a:cs typeface="Calibri" pitchFamily="34" charset="-120"/>
              </a:rPr>
              <a:t> uses a loop and </a:t>
            </a:r>
            <a:r>
              <a:rPr lang="en-US" sz="1150" dirty="0">
                <a:solidFill>
                  <a:srgbClr val="4A534E"/>
                </a:solidFill>
                <a:latin typeface="Consolas" pitchFamily="34" charset="0"/>
                <a:ea typeface="Consolas" pitchFamily="34" charset="-122"/>
                <a:cs typeface="Consolas" pitchFamily="34" charset="-120"/>
              </a:rPr>
              <a:t>apply_offer()</a:t>
            </a:r>
            <a:r>
              <a:rPr lang="en-US" sz="1250" dirty="0">
                <a:solidFill>
                  <a:srgbClr val="4A534E"/>
                </a:solidFill>
                <a:latin typeface="Calibri" pitchFamily="34" charset="0"/>
                <a:ea typeface="Calibri" pitchFamily="34" charset="-122"/>
                <a:cs typeface="Calibri" pitchFamily="34" charset="-120"/>
              </a:rPr>
              <a:t> uses an </a:t>
            </a:r>
            <a:r>
              <a:rPr lang="en-US" sz="1150" dirty="0">
                <a:solidFill>
                  <a:srgbClr val="4A534E"/>
                </a:solidFill>
                <a:latin typeface="Consolas" pitchFamily="34" charset="0"/>
                <a:ea typeface="Consolas" pitchFamily="34" charset="-122"/>
                <a:cs typeface="Consolas" pitchFamily="34" charset="-120"/>
              </a:rPr>
              <a:t>if</a:t>
            </a:r>
            <a:r>
              <a:rPr lang="en-US" sz="1250" dirty="0">
                <a:solidFill>
                  <a:srgbClr val="4A534E"/>
                </a:solidFill>
                <a:latin typeface="Calibri" pitchFamily="34" charset="0"/>
                <a:ea typeface="Calibri" pitchFamily="34" charset="-122"/>
                <a:cs typeface="Calibri" pitchFamily="34" charset="-120"/>
              </a:rPr>
              <a:t>.</a:t>
            </a:r>
            <a:endParaRPr lang="en-US" sz="1400" dirty="0"/>
          </a:p>
          <a:p>
            <a:pPr marL="177800" indent="-177800">
              <a:spcAft>
                <a:spcPts val="500"/>
              </a:spcAft>
              <a:buSzPct val="100000"/>
              <a:buChar char="•"/>
            </a:pPr>
            <a:r>
              <a:rPr lang="en-US" sz="1150" dirty="0">
                <a:solidFill>
                  <a:srgbClr val="4A534E"/>
                </a:solidFill>
                <a:latin typeface="Consolas" pitchFamily="34" charset="0"/>
                <a:ea typeface="Consolas" pitchFamily="34" charset="-122"/>
                <a:cs typeface="Consolas" pitchFamily="34" charset="-120"/>
              </a:rPr>
              <a:t>total</a:t>
            </a:r>
            <a:r>
              <a:rPr lang="en-US" sz="1250" dirty="0">
                <a:solidFill>
                  <a:srgbClr val="4A534E"/>
                </a:solidFill>
                <a:latin typeface="Calibri" pitchFamily="34" charset="0"/>
                <a:ea typeface="Calibri" pitchFamily="34" charset="-122"/>
                <a:cs typeface="Calibri" pitchFamily="34" charset="-120"/>
              </a:rPr>
              <a:t> is a local variable, so each function has its own. Shaded rows run inside a function.</a:t>
            </a:r>
            <a:endParaRPr lang="en-US" sz="1400" dirty="0"/>
          </a:p>
        </p:txBody>
      </p:sp>
      <p:sp>
        <p:nvSpPr>
          <p:cNvPr id="29" name="Text 23"/>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CADDF5"/>
          </a:solidFill>
          <a:ln w="25400">
            <a:solidFill>
              <a:srgbClr val="2A78D6"/>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2</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PROCEDURAL · PROS &amp; CONS</a:t>
            </a:r>
            <a:endParaRPr lang="en-US" sz="1100" dirty="0"/>
          </a:p>
        </p:txBody>
      </p:sp>
      <p:sp>
        <p:nvSpPr>
          <p:cNvPr id="5" name="Text 3"/>
          <p:cNvSpPr txBox="1"/>
          <p:nvPr/>
        </p:nvSpPr>
        <p:spPr>
          <a:xfrm>
            <a:off x="548640" y="731520"/>
            <a:ext cx="9144000"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Procedural: pros and cons</a:t>
            </a:r>
            <a:endParaRPr lang="en-US" sz="3200" dirty="0"/>
          </a:p>
        </p:txBody>
      </p:sp>
      <p:sp>
        <p:nvSpPr>
          <p:cNvPr id="6" name="Shape 4"/>
          <p:cNvSpPr/>
          <p:nvPr/>
        </p:nvSpPr>
        <p:spPr>
          <a:xfrm>
            <a:off x="10253167" y="932688"/>
            <a:ext cx="1197864" cy="0"/>
          </a:xfrm>
          <a:prstGeom prst="line">
            <a:avLst/>
          </a:prstGeom>
          <a:noFill/>
          <a:ln w="19050">
            <a:solidFill>
              <a:srgbClr val="B7C0BA"/>
            </a:solidFill>
            <a:prstDash val="solid"/>
          </a:ln>
        </p:spPr>
      </p:sp>
      <p:sp>
        <p:nvSpPr>
          <p:cNvPr id="7" name="Shape 5"/>
          <p:cNvSpPr/>
          <p:nvPr/>
        </p:nvSpPr>
        <p:spPr>
          <a:xfrm>
            <a:off x="9997135" y="676656"/>
            <a:ext cx="512064" cy="512064"/>
          </a:xfrm>
          <a:prstGeom prst="ellipse">
            <a:avLst/>
          </a:prstGeom>
          <a:solidFill>
            <a:srgbClr val="CADDF5"/>
          </a:solidFill>
          <a:ln w="31750">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10120031" y="799551"/>
            <a:ext cx="266273" cy="266273"/>
          </a:xfrm>
          <a:prstGeom prst="rect">
            <a:avLst/>
          </a:prstGeom>
        </p:spPr>
      </p:pic>
      <p:sp>
        <p:nvSpPr>
          <p:cNvPr id="9" name="Shape 6"/>
          <p:cNvSpPr/>
          <p:nvPr/>
        </p:nvSpPr>
        <p:spPr>
          <a:xfrm>
            <a:off x="10692079" y="740664"/>
            <a:ext cx="384048" cy="384048"/>
          </a:xfrm>
          <a:prstGeom prst="ellipse">
            <a:avLst/>
          </a:prstGeom>
          <a:solidFill>
            <a:srgbClr val="FFFFFF"/>
          </a:solidFill>
          <a:ln w="22225">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10784251" y="832836"/>
            <a:ext cx="199705" cy="199705"/>
          </a:xfrm>
          <a:prstGeom prst="rect">
            <a:avLst/>
          </a:prstGeom>
        </p:spPr>
      </p:pic>
      <p:sp>
        <p:nvSpPr>
          <p:cNvPr id="11" name="Shape 7"/>
          <p:cNvSpPr/>
          <p:nvPr/>
        </p:nvSpPr>
        <p:spPr>
          <a:xfrm>
            <a:off x="11259007" y="740664"/>
            <a:ext cx="384048" cy="384048"/>
          </a:xfrm>
          <a:prstGeom prst="ellipse">
            <a:avLst/>
          </a:prstGeom>
          <a:solidFill>
            <a:srgbClr val="FFFFFF"/>
          </a:solidFill>
          <a:ln w="22225">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11351179" y="832836"/>
            <a:ext cx="199705" cy="199705"/>
          </a:xfrm>
          <a:prstGeom prst="rect">
            <a:avLst/>
          </a:prstGeom>
        </p:spPr>
      </p:pic>
      <p:sp>
        <p:nvSpPr>
          <p:cNvPr id="13" name="Shape 8"/>
          <p:cNvSpPr/>
          <p:nvPr/>
        </p:nvSpPr>
        <p:spPr>
          <a:xfrm>
            <a:off x="548640" y="1554480"/>
            <a:ext cx="5486400" cy="3835908"/>
          </a:xfrm>
          <a:prstGeom prst="roundRect">
            <a:avLst>
              <a:gd name="adj" fmla="val 1907"/>
            </a:avLst>
          </a:prstGeom>
          <a:solidFill>
            <a:srgbClr val="FBFCFA"/>
          </a:solidFill>
          <a:ln/>
          <a:effectLst>
            <a:outerShdw sx="100000" sy="100000" kx="0" ky="0" algn="bl" rotWithShape="0" blurRad="101600" dist="25400" dir="5400000">
              <a:srgbClr val="000000">
                <a:alpha val="14000"/>
              </a:srgbClr>
            </a:outerShdw>
          </a:effectLst>
        </p:spPr>
      </p:sp>
      <p:sp>
        <p:nvSpPr>
          <p:cNvPr id="14" name="Shape 9"/>
          <p:cNvSpPr/>
          <p:nvPr/>
        </p:nvSpPr>
        <p:spPr>
          <a:xfrm>
            <a:off x="548640" y="1554480"/>
            <a:ext cx="5486400" cy="438912"/>
          </a:xfrm>
          <a:prstGeom prst="roundRect">
            <a:avLst>
              <a:gd name="adj" fmla="val 16667"/>
            </a:avLst>
          </a:prstGeom>
          <a:solidFill>
            <a:srgbClr val="E1ECF9"/>
          </a:solidFill>
          <a:ln/>
        </p:spPr>
      </p:sp>
      <p:sp>
        <p:nvSpPr>
          <p:cNvPr id="15" name="Shape 10"/>
          <p:cNvSpPr/>
          <p:nvPr/>
        </p:nvSpPr>
        <p:spPr>
          <a:xfrm>
            <a:off x="548640" y="1883664"/>
            <a:ext cx="5486400" cy="109728"/>
          </a:xfrm>
          <a:prstGeom prst="rect">
            <a:avLst/>
          </a:prstGeom>
          <a:solidFill>
            <a:srgbClr val="FBFCFA"/>
          </a:solidFill>
          <a:ln/>
        </p:spPr>
      </p:sp>
      <p:sp>
        <p:nvSpPr>
          <p:cNvPr id="16" name="Shape 11"/>
          <p:cNvSpPr/>
          <p:nvPr/>
        </p:nvSpPr>
        <p:spPr>
          <a:xfrm>
            <a:off x="548640" y="1883664"/>
            <a:ext cx="5486400" cy="0"/>
          </a:xfrm>
          <a:prstGeom prst="line">
            <a:avLst/>
          </a:prstGeom>
          <a:noFill/>
          <a:ln w="9525">
            <a:solidFill>
              <a:srgbClr val="DFE3DE"/>
            </a:solidFill>
            <a:prstDash val="solid"/>
          </a:ln>
        </p:spPr>
      </p:sp>
      <p:sp>
        <p:nvSpPr>
          <p:cNvPr id="17" name="Shape 12"/>
          <p:cNvSpPr/>
          <p:nvPr/>
        </p:nvSpPr>
        <p:spPr>
          <a:xfrm>
            <a:off x="704088" y="1664208"/>
            <a:ext cx="109728" cy="109728"/>
          </a:xfrm>
          <a:prstGeom prst="ellipse">
            <a:avLst/>
          </a:prstGeom>
          <a:solidFill>
            <a:srgbClr val="2A78D6"/>
          </a:solidFill>
          <a:ln/>
        </p:spPr>
      </p:sp>
      <p:sp>
        <p:nvSpPr>
          <p:cNvPr id="18" name="Text 13"/>
          <p:cNvSpPr txBox="1"/>
          <p:nvPr/>
        </p:nvSpPr>
        <p:spPr>
          <a:xfrm>
            <a:off x="896112" y="1554480"/>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basket.c</a:t>
            </a:r>
            <a:endParaRPr lang="en-US" sz="1050" dirty="0"/>
          </a:p>
        </p:txBody>
      </p:sp>
      <p:sp>
        <p:nvSpPr>
          <p:cNvPr id="19" name="Text 14"/>
          <p:cNvSpPr txBox="1"/>
          <p:nvPr/>
        </p:nvSpPr>
        <p:spPr>
          <a:xfrm>
            <a:off x="3017520" y="1554480"/>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C</a:t>
            </a:r>
            <a:endParaRPr lang="en-US" sz="1050" dirty="0"/>
          </a:p>
        </p:txBody>
      </p:sp>
      <p:sp>
        <p:nvSpPr>
          <p:cNvPr id="20" name="Text 15"/>
          <p:cNvSpPr txBox="1"/>
          <p:nvPr/>
        </p:nvSpPr>
        <p:spPr>
          <a:xfrm>
            <a:off x="694944" y="1975104"/>
            <a:ext cx="5266944" cy="2857500"/>
          </a:xfrm>
          <a:prstGeom prst="rect">
            <a:avLst/>
          </a:prstGeom>
          <a:noFill/>
          <a:ln/>
        </p:spPr>
        <p:txBody>
          <a:bodyPr wrap="square" lIns="0" tIns="0" rIns="0" bIns="0" rtlCol="0" anchor="t"/>
          <a:lstStyle/>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1  </a:t>
            </a:r>
            <a:r>
              <a:rPr lang="en-US" sz="1100" b="1" dirty="0">
                <a:solidFill>
                  <a:srgbClr val="B8323A"/>
                </a:solidFill>
                <a:latin typeface="Consolas" pitchFamily="34" charset="0"/>
                <a:ea typeface="Consolas" pitchFamily="34" charset="-122"/>
                <a:cs typeface="Consolas" pitchFamily="34" charset="-120"/>
              </a:rPr>
              <a:t>#include &lt;stdio.h&gt;</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2  </a:t>
            </a:r>
            <a:r>
              <a:rPr lang="en-US" sz="1100" dirty="0">
                <a:solidFill>
                  <a:srgbClr val="1B1F1D"/>
                </a:solidFill>
                <a:latin typeface="Consolas" pitchFamily="34" charset="0"/>
                <a:ea typeface="Consolas" pitchFamily="34" charset="-122"/>
                <a:cs typeface="Consolas" pitchFamily="34" charset="-120"/>
              </a:rPr>
              <a:t> </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3  </a:t>
            </a:r>
            <a:r>
              <a:rPr lang="en-US" sz="1100" b="1" dirty="0">
                <a:solidFill>
                  <a:srgbClr val="B8323A"/>
                </a:solidFill>
                <a:latin typeface="Consolas" pitchFamily="34" charset="0"/>
                <a:ea typeface="Consolas" pitchFamily="34" charset="-122"/>
                <a:cs typeface="Consolas" pitchFamily="34" charset="-120"/>
              </a:rPr>
              <a:t>float</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3456C0"/>
                </a:solidFill>
                <a:latin typeface="Consolas" pitchFamily="34" charset="0"/>
                <a:ea typeface="Consolas" pitchFamily="34" charset="-122"/>
                <a:cs typeface="Consolas" pitchFamily="34" charset="-120"/>
              </a:rPr>
              <a:t>add_up</a:t>
            </a:r>
            <a:r>
              <a:rPr lang="en-US" sz="1100" dirty="0">
                <a:solidFill>
                  <a:srgbClr val="1B1F1D"/>
                </a:solidFill>
                <a:latin typeface="Consolas" pitchFamily="34" charset="0"/>
                <a:ea typeface="Consolas" pitchFamily="34" charset="-122"/>
                <a:cs typeface="Consolas" pitchFamily="34" charset="-120"/>
              </a:rPr>
              <a:t>(</a:t>
            </a:r>
            <a:r>
              <a:rPr lang="en-US" sz="1100" b="1" dirty="0">
                <a:solidFill>
                  <a:srgbClr val="B8323A"/>
                </a:solidFill>
                <a:latin typeface="Consolas" pitchFamily="34" charset="0"/>
                <a:ea typeface="Consolas" pitchFamily="34" charset="-122"/>
                <a:cs typeface="Consolas" pitchFamily="34" charset="-120"/>
              </a:rPr>
              <a:t>float</a:t>
            </a:r>
            <a:r>
              <a:rPr lang="en-US" sz="1100" dirty="0">
                <a:solidFill>
                  <a:srgbClr val="1B1F1D"/>
                </a:solidFill>
                <a:latin typeface="Consolas" pitchFamily="34" charset="0"/>
                <a:ea typeface="Consolas" pitchFamily="34" charset="-122"/>
                <a:cs typeface="Consolas" pitchFamily="34" charset="-120"/>
              </a:rPr>
              <a:t> prices[], </a:t>
            </a:r>
            <a:r>
              <a:rPr lang="en-US" sz="1100" b="1" dirty="0">
                <a:solidFill>
                  <a:srgbClr val="B8323A"/>
                </a:solidFill>
                <a:latin typeface="Consolas" pitchFamily="34" charset="0"/>
                <a:ea typeface="Consolas" pitchFamily="34" charset="-122"/>
                <a:cs typeface="Consolas" pitchFamily="34" charset="-120"/>
              </a:rPr>
              <a:t>int</a:t>
            </a:r>
            <a:r>
              <a:rPr lang="en-US" sz="1100" dirty="0">
                <a:solidFill>
                  <a:srgbClr val="1B1F1D"/>
                </a:solidFill>
                <a:latin typeface="Consolas" pitchFamily="34" charset="0"/>
                <a:ea typeface="Consolas" pitchFamily="34" charset="-122"/>
                <a:cs typeface="Consolas" pitchFamily="34" charset="-120"/>
              </a:rPr>
              <a:t> count) {</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4  </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float</a:t>
            </a:r>
            <a:r>
              <a:rPr lang="en-US" sz="1100" dirty="0">
                <a:solidFill>
                  <a:srgbClr val="1B1F1D"/>
                </a:solidFill>
                <a:latin typeface="Consolas" pitchFamily="34" charset="0"/>
                <a:ea typeface="Consolas" pitchFamily="34" charset="-122"/>
                <a:cs typeface="Consolas" pitchFamily="34" charset="-120"/>
              </a:rPr>
              <a:t> total = </a:t>
            </a:r>
            <a:r>
              <a:rPr lang="en-US" sz="1100" dirty="0">
                <a:solidFill>
                  <a:srgbClr val="A35A00"/>
                </a:solidFill>
                <a:latin typeface="Consolas" pitchFamily="34" charset="0"/>
                <a:ea typeface="Consolas" pitchFamily="34" charset="-122"/>
                <a:cs typeface="Consolas" pitchFamily="34" charset="-120"/>
              </a:rPr>
              <a:t>0</a:t>
            </a:r>
            <a:r>
              <a:rPr lang="en-US" sz="1100" dirty="0">
                <a:solidFill>
                  <a:srgbClr val="1B1F1D"/>
                </a:solidFill>
                <a:latin typeface="Consolas" pitchFamily="34" charset="0"/>
                <a:ea typeface="Consolas" pitchFamily="34" charset="-122"/>
                <a:cs typeface="Consolas" pitchFamily="34" charset="-120"/>
              </a:rPr>
              <a:t>;</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5  </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for</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int</a:t>
            </a:r>
            <a:r>
              <a:rPr lang="en-US" sz="1100" dirty="0">
                <a:solidFill>
                  <a:srgbClr val="1B1F1D"/>
                </a:solidFill>
                <a:latin typeface="Consolas" pitchFamily="34" charset="0"/>
                <a:ea typeface="Consolas" pitchFamily="34" charset="-122"/>
                <a:cs typeface="Consolas" pitchFamily="34" charset="-120"/>
              </a:rPr>
              <a:t> i = </a:t>
            </a:r>
            <a:r>
              <a:rPr lang="en-US" sz="1100" dirty="0">
                <a:solidFill>
                  <a:srgbClr val="A35A00"/>
                </a:solidFill>
                <a:latin typeface="Consolas" pitchFamily="34" charset="0"/>
                <a:ea typeface="Consolas" pitchFamily="34" charset="-122"/>
                <a:cs typeface="Consolas" pitchFamily="34" charset="-120"/>
              </a:rPr>
              <a:t>0</a:t>
            </a:r>
            <a:r>
              <a:rPr lang="en-US" sz="1100" dirty="0">
                <a:solidFill>
                  <a:srgbClr val="1B1F1D"/>
                </a:solidFill>
                <a:latin typeface="Consolas" pitchFamily="34" charset="0"/>
                <a:ea typeface="Consolas" pitchFamily="34" charset="-122"/>
                <a:cs typeface="Consolas" pitchFamily="34" charset="-120"/>
              </a:rPr>
              <a:t>; i &lt; count; i++) {</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6  </a:t>
            </a:r>
            <a:r>
              <a:rPr lang="en-US" sz="1100" dirty="0">
                <a:solidFill>
                  <a:srgbClr val="1B1F1D"/>
                </a:solidFill>
                <a:latin typeface="Consolas" pitchFamily="34" charset="0"/>
                <a:ea typeface="Consolas" pitchFamily="34" charset="-122"/>
                <a:cs typeface="Consolas" pitchFamily="34" charset="-120"/>
              </a:rPr>
              <a:t>        total = total + prices[i];</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7  </a:t>
            </a:r>
            <a:r>
              <a:rPr lang="en-US" sz="1100" dirty="0">
                <a:solidFill>
                  <a:srgbClr val="1B1F1D"/>
                </a:solidFill>
                <a:latin typeface="Consolas" pitchFamily="34" charset="0"/>
                <a:ea typeface="Consolas" pitchFamily="34" charset="-122"/>
                <a:cs typeface="Consolas" pitchFamily="34" charset="-120"/>
              </a:rPr>
              <a:t>    }</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8  </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return</a:t>
            </a:r>
            <a:r>
              <a:rPr lang="en-US" sz="1100" dirty="0">
                <a:solidFill>
                  <a:srgbClr val="1B1F1D"/>
                </a:solidFill>
                <a:latin typeface="Consolas" pitchFamily="34" charset="0"/>
                <a:ea typeface="Consolas" pitchFamily="34" charset="-122"/>
                <a:cs typeface="Consolas" pitchFamily="34" charset="-120"/>
              </a:rPr>
              <a:t> total;</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 9  </a:t>
            </a:r>
            <a:r>
              <a:rPr lang="en-US" sz="1100" dirty="0">
                <a:solidFill>
                  <a:srgbClr val="1B1F1D"/>
                </a:solidFill>
                <a:latin typeface="Consolas" pitchFamily="34" charset="0"/>
                <a:ea typeface="Consolas" pitchFamily="34" charset="-122"/>
                <a:cs typeface="Consolas" pitchFamily="34" charset="-120"/>
              </a:rPr>
              <a:t>}</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10  </a:t>
            </a:r>
            <a:r>
              <a:rPr lang="en-US" sz="1100" dirty="0">
                <a:solidFill>
                  <a:srgbClr val="1B1F1D"/>
                </a:solidFill>
                <a:latin typeface="Consolas" pitchFamily="34" charset="0"/>
                <a:ea typeface="Consolas" pitchFamily="34" charset="-122"/>
                <a:cs typeface="Consolas" pitchFamily="34" charset="-120"/>
              </a:rPr>
              <a:t> </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11  </a:t>
            </a:r>
            <a:r>
              <a:rPr lang="en-US" sz="1100" b="1" dirty="0">
                <a:solidFill>
                  <a:srgbClr val="B8323A"/>
                </a:solidFill>
                <a:latin typeface="Consolas" pitchFamily="34" charset="0"/>
                <a:ea typeface="Consolas" pitchFamily="34" charset="-122"/>
                <a:cs typeface="Consolas" pitchFamily="34" charset="-120"/>
              </a:rPr>
              <a:t>int</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3456C0"/>
                </a:solidFill>
                <a:latin typeface="Consolas" pitchFamily="34" charset="0"/>
                <a:ea typeface="Consolas" pitchFamily="34" charset="-122"/>
                <a:cs typeface="Consolas" pitchFamily="34" charset="-120"/>
              </a:rPr>
              <a:t>main</a:t>
            </a:r>
            <a:r>
              <a:rPr lang="en-US" sz="1100" dirty="0">
                <a:solidFill>
                  <a:srgbClr val="1B1F1D"/>
                </a:solidFill>
                <a:latin typeface="Consolas" pitchFamily="34" charset="0"/>
                <a:ea typeface="Consolas" pitchFamily="34" charset="-122"/>
                <a:cs typeface="Consolas" pitchFamily="34" charset="-120"/>
              </a:rPr>
              <a:t>(</a:t>
            </a:r>
            <a:r>
              <a:rPr lang="en-US" sz="1100" b="1" dirty="0">
                <a:solidFill>
                  <a:srgbClr val="B8323A"/>
                </a:solidFill>
                <a:latin typeface="Consolas" pitchFamily="34" charset="0"/>
                <a:ea typeface="Consolas" pitchFamily="34" charset="-122"/>
                <a:cs typeface="Consolas" pitchFamily="34" charset="-120"/>
              </a:rPr>
              <a:t>void</a:t>
            </a:r>
            <a:r>
              <a:rPr lang="en-US" sz="1100" dirty="0">
                <a:solidFill>
                  <a:srgbClr val="1B1F1D"/>
                </a:solidFill>
                <a:latin typeface="Consolas" pitchFamily="34" charset="0"/>
                <a:ea typeface="Consolas" pitchFamily="34" charset="-122"/>
                <a:cs typeface="Consolas" pitchFamily="34" charset="-120"/>
              </a:rPr>
              <a:t>) {</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12  </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float</a:t>
            </a:r>
            <a:r>
              <a:rPr lang="en-US" sz="1100" dirty="0">
                <a:solidFill>
                  <a:srgbClr val="1B1F1D"/>
                </a:solidFill>
                <a:latin typeface="Consolas" pitchFamily="34" charset="0"/>
                <a:ea typeface="Consolas" pitchFamily="34" charset="-122"/>
                <a:cs typeface="Consolas" pitchFamily="34" charset="-120"/>
              </a:rPr>
              <a:t> basket[] = {</a:t>
            </a:r>
            <a:r>
              <a:rPr lang="en-US" sz="1100" dirty="0">
                <a:solidFill>
                  <a:srgbClr val="A35A00"/>
                </a:solidFill>
                <a:latin typeface="Consolas" pitchFamily="34" charset="0"/>
                <a:ea typeface="Consolas" pitchFamily="34" charset="-122"/>
                <a:cs typeface="Consolas" pitchFamily="34" charset="-120"/>
              </a:rPr>
              <a:t>1.25</a:t>
            </a:r>
            <a:r>
              <a:rPr lang="en-US" sz="1100" dirty="0">
                <a:solidFill>
                  <a:srgbClr val="1B1F1D"/>
                </a:solidFill>
                <a:latin typeface="Consolas" pitchFamily="34" charset="0"/>
                <a:ea typeface="Consolas" pitchFamily="34" charset="-122"/>
                <a:cs typeface="Consolas" pitchFamily="34" charset="-120"/>
              </a:rPr>
              <a:t>, </a:t>
            </a:r>
            <a:r>
              <a:rPr lang="en-US" sz="1100" dirty="0">
                <a:solidFill>
                  <a:srgbClr val="A35A00"/>
                </a:solidFill>
                <a:latin typeface="Consolas" pitchFamily="34" charset="0"/>
                <a:ea typeface="Consolas" pitchFamily="34" charset="-122"/>
                <a:cs typeface="Consolas" pitchFamily="34" charset="-120"/>
              </a:rPr>
              <a:t>3.50</a:t>
            </a:r>
            <a:r>
              <a:rPr lang="en-US" sz="1100" dirty="0">
                <a:solidFill>
                  <a:srgbClr val="1B1F1D"/>
                </a:solidFill>
                <a:latin typeface="Consolas" pitchFamily="34" charset="0"/>
                <a:ea typeface="Consolas" pitchFamily="34" charset="-122"/>
                <a:cs typeface="Consolas" pitchFamily="34" charset="-120"/>
              </a:rPr>
              <a:t>, </a:t>
            </a:r>
            <a:r>
              <a:rPr lang="en-US" sz="1100" dirty="0">
                <a:solidFill>
                  <a:srgbClr val="A35A00"/>
                </a:solidFill>
                <a:latin typeface="Consolas" pitchFamily="34" charset="0"/>
                <a:ea typeface="Consolas" pitchFamily="34" charset="-122"/>
                <a:cs typeface="Consolas" pitchFamily="34" charset="-120"/>
              </a:rPr>
              <a:t>0.75</a:t>
            </a:r>
            <a:r>
              <a:rPr lang="en-US" sz="1100" dirty="0">
                <a:solidFill>
                  <a:srgbClr val="1B1F1D"/>
                </a:solidFill>
                <a:latin typeface="Consolas" pitchFamily="34" charset="0"/>
                <a:ea typeface="Consolas" pitchFamily="34" charset="-122"/>
                <a:cs typeface="Consolas" pitchFamily="34" charset="-120"/>
              </a:rPr>
              <a:t>};</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13  </a:t>
            </a:r>
            <a:r>
              <a:rPr lang="en-US" sz="1100" dirty="0">
                <a:solidFill>
                  <a:srgbClr val="1B1F1D"/>
                </a:solidFill>
                <a:latin typeface="Consolas" pitchFamily="34" charset="0"/>
                <a:ea typeface="Consolas" pitchFamily="34" charset="-122"/>
                <a:cs typeface="Consolas" pitchFamily="34" charset="-120"/>
              </a:rPr>
              <a:t>    </a:t>
            </a:r>
            <a:r>
              <a:rPr lang="en-US" sz="1100" dirty="0">
                <a:solidFill>
                  <a:srgbClr val="3456C0"/>
                </a:solidFill>
                <a:latin typeface="Consolas" pitchFamily="34" charset="0"/>
                <a:ea typeface="Consolas" pitchFamily="34" charset="-122"/>
                <a:cs typeface="Consolas" pitchFamily="34" charset="-120"/>
              </a:rPr>
              <a:t>printf</a:t>
            </a:r>
            <a:r>
              <a:rPr lang="en-US" sz="1100" dirty="0">
                <a:solidFill>
                  <a:srgbClr val="1B1F1D"/>
                </a:solidFill>
                <a:latin typeface="Consolas" pitchFamily="34" charset="0"/>
                <a:ea typeface="Consolas" pitchFamily="34" charset="-122"/>
                <a:cs typeface="Consolas" pitchFamily="34" charset="-120"/>
              </a:rPr>
              <a:t>(</a:t>
            </a:r>
            <a:r>
              <a:rPr lang="en-US" sz="1100" dirty="0">
                <a:solidFill>
                  <a:srgbClr val="1D7A4E"/>
                </a:solidFill>
                <a:latin typeface="Consolas" pitchFamily="34" charset="0"/>
                <a:ea typeface="Consolas" pitchFamily="34" charset="-122"/>
                <a:cs typeface="Consolas" pitchFamily="34" charset="-120"/>
              </a:rPr>
              <a:t>"Total: %.2f\n"</a:t>
            </a:r>
            <a:r>
              <a:rPr lang="en-US" sz="1100" dirty="0">
                <a:solidFill>
                  <a:srgbClr val="1B1F1D"/>
                </a:solidFill>
                <a:latin typeface="Consolas" pitchFamily="34" charset="0"/>
                <a:ea typeface="Consolas" pitchFamily="34" charset="-122"/>
                <a:cs typeface="Consolas" pitchFamily="34" charset="-120"/>
              </a:rPr>
              <a:t>, add_up(basket, </a:t>
            </a:r>
            <a:r>
              <a:rPr lang="en-US" sz="1100" dirty="0">
                <a:solidFill>
                  <a:srgbClr val="A35A00"/>
                </a:solidFill>
                <a:latin typeface="Consolas" pitchFamily="34" charset="0"/>
                <a:ea typeface="Consolas" pitchFamily="34" charset="-122"/>
                <a:cs typeface="Consolas" pitchFamily="34" charset="-120"/>
              </a:rPr>
              <a:t>3</a:t>
            </a:r>
            <a:r>
              <a:rPr lang="en-US" sz="1100" dirty="0">
                <a:solidFill>
                  <a:srgbClr val="1B1F1D"/>
                </a:solidFill>
                <a:latin typeface="Consolas" pitchFamily="34" charset="0"/>
                <a:ea typeface="Consolas" pitchFamily="34" charset="-122"/>
                <a:cs typeface="Consolas" pitchFamily="34" charset="-120"/>
              </a:rPr>
              <a:t>));</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14  </a:t>
            </a:r>
            <a:r>
              <a:rPr lang="en-US" sz="1100" dirty="0">
                <a:solidFill>
                  <a:srgbClr val="1B1F1D"/>
                </a:solidFill>
                <a:latin typeface="Consolas" pitchFamily="34" charset="0"/>
                <a:ea typeface="Consolas" pitchFamily="34" charset="-122"/>
                <a:cs typeface="Consolas" pitchFamily="34" charset="-120"/>
              </a:rPr>
              <a:t>    </a:t>
            </a:r>
            <a:r>
              <a:rPr lang="en-US" sz="1100" b="1" dirty="0">
                <a:solidFill>
                  <a:srgbClr val="B8323A"/>
                </a:solidFill>
                <a:latin typeface="Consolas" pitchFamily="34" charset="0"/>
                <a:ea typeface="Consolas" pitchFamily="34" charset="-122"/>
                <a:cs typeface="Consolas" pitchFamily="34" charset="-120"/>
              </a:rPr>
              <a:t>return</a:t>
            </a:r>
            <a:r>
              <a:rPr lang="en-US" sz="1100" dirty="0">
                <a:solidFill>
                  <a:srgbClr val="1B1F1D"/>
                </a:solidFill>
                <a:latin typeface="Consolas" pitchFamily="34" charset="0"/>
                <a:ea typeface="Consolas" pitchFamily="34" charset="-122"/>
                <a:cs typeface="Consolas" pitchFamily="34" charset="-120"/>
              </a:rPr>
              <a:t> </a:t>
            </a:r>
            <a:r>
              <a:rPr lang="en-US" sz="1100" dirty="0">
                <a:solidFill>
                  <a:srgbClr val="A35A00"/>
                </a:solidFill>
                <a:latin typeface="Consolas" pitchFamily="34" charset="0"/>
                <a:ea typeface="Consolas" pitchFamily="34" charset="-122"/>
                <a:cs typeface="Consolas" pitchFamily="34" charset="-120"/>
              </a:rPr>
              <a:t>0</a:t>
            </a:r>
            <a:r>
              <a:rPr lang="en-US" sz="1100" dirty="0">
                <a:solidFill>
                  <a:srgbClr val="1B1F1D"/>
                </a:solidFill>
                <a:latin typeface="Consolas" pitchFamily="34" charset="0"/>
                <a:ea typeface="Consolas" pitchFamily="34" charset="-122"/>
                <a:cs typeface="Consolas" pitchFamily="34" charset="-120"/>
              </a:rPr>
              <a:t>;</a:t>
            </a:r>
            <a:endParaRPr lang="en-US" sz="1100" dirty="0"/>
          </a:p>
          <a:p>
            <a:pPr indent="0" marL="0">
              <a:lnSpc>
                <a:spcPts val="1500"/>
              </a:lnSpc>
              <a:buNone/>
            </a:pPr>
            <a:r>
              <a:rPr lang="en-US" sz="1100" dirty="0">
                <a:solidFill>
                  <a:srgbClr val="8A948F"/>
                </a:solidFill>
                <a:latin typeface="Consolas" pitchFamily="34" charset="0"/>
                <a:ea typeface="Consolas" pitchFamily="34" charset="-122"/>
                <a:cs typeface="Consolas" pitchFamily="34" charset="-120"/>
              </a:rPr>
              <a:t>15  </a:t>
            </a:r>
            <a:r>
              <a:rPr lang="en-US" sz="1100" dirty="0">
                <a:solidFill>
                  <a:srgbClr val="1B1F1D"/>
                </a:solidFill>
                <a:latin typeface="Consolas" pitchFamily="34" charset="0"/>
                <a:ea typeface="Consolas" pitchFamily="34" charset="-122"/>
                <a:cs typeface="Consolas" pitchFamily="34" charset="-120"/>
              </a:rPr>
              <a:t>}</a:t>
            </a:r>
            <a:endParaRPr lang="en-US" sz="1100" dirty="0"/>
          </a:p>
        </p:txBody>
      </p:sp>
      <p:sp>
        <p:nvSpPr>
          <p:cNvPr id="21" name="Shape 16"/>
          <p:cNvSpPr/>
          <p:nvPr/>
        </p:nvSpPr>
        <p:spPr>
          <a:xfrm>
            <a:off x="548640" y="4951476"/>
            <a:ext cx="5486400" cy="438912"/>
          </a:xfrm>
          <a:prstGeom prst="roundRect">
            <a:avLst>
              <a:gd name="adj" fmla="val 16667"/>
            </a:avLst>
          </a:prstGeom>
          <a:solidFill>
            <a:srgbClr val="1D2320"/>
          </a:solidFill>
          <a:ln/>
        </p:spPr>
      </p:sp>
      <p:sp>
        <p:nvSpPr>
          <p:cNvPr id="22" name="Shape 17"/>
          <p:cNvSpPr/>
          <p:nvPr/>
        </p:nvSpPr>
        <p:spPr>
          <a:xfrm>
            <a:off x="548640" y="4951476"/>
            <a:ext cx="5486400" cy="109728"/>
          </a:xfrm>
          <a:prstGeom prst="rect">
            <a:avLst/>
          </a:prstGeom>
          <a:solidFill>
            <a:srgbClr val="1D2320"/>
          </a:solidFill>
          <a:ln/>
        </p:spPr>
      </p:sp>
      <p:sp>
        <p:nvSpPr>
          <p:cNvPr id="23" name="Text 18"/>
          <p:cNvSpPr txBox="1"/>
          <p:nvPr/>
        </p:nvSpPr>
        <p:spPr>
          <a:xfrm>
            <a:off x="713232" y="5061204"/>
            <a:ext cx="822960" cy="201168"/>
          </a:xfrm>
          <a:prstGeom prst="rect">
            <a:avLst/>
          </a:prstGeom>
          <a:noFill/>
          <a:ln/>
        </p:spPr>
        <p:txBody>
          <a:bodyPr wrap="square" lIns="0" tIns="0" rIns="0" bIns="0" rtlCol="0" anchor="ctr"/>
          <a:lstStyle/>
          <a:p>
            <a:pPr indent="0" marL="0">
              <a:buNone/>
            </a:pPr>
            <a:r>
              <a:rPr lang="en-US" sz="850" spc="150" kern="0" dirty="0">
                <a:solidFill>
                  <a:srgbClr val="9AA7A0"/>
                </a:solidFill>
                <a:latin typeface="Calibri" pitchFamily="34" charset="0"/>
                <a:ea typeface="Calibri" pitchFamily="34" charset="-122"/>
                <a:cs typeface="Calibri" pitchFamily="34" charset="-120"/>
              </a:rPr>
              <a:t>OUTPUT</a:t>
            </a:r>
            <a:endParaRPr lang="en-US" sz="850" dirty="0"/>
          </a:p>
        </p:txBody>
      </p:sp>
      <p:sp>
        <p:nvSpPr>
          <p:cNvPr id="24" name="Text 19"/>
          <p:cNvSpPr txBox="1"/>
          <p:nvPr/>
        </p:nvSpPr>
        <p:spPr>
          <a:xfrm>
            <a:off x="1508760" y="5052060"/>
            <a:ext cx="4389120" cy="201168"/>
          </a:xfrm>
          <a:prstGeom prst="rect">
            <a:avLst/>
          </a:prstGeom>
          <a:noFill/>
          <a:ln/>
        </p:spPr>
        <p:txBody>
          <a:bodyPr wrap="square" lIns="0" tIns="0" rIns="0" bIns="0" rtlCol="0" anchor="t"/>
          <a:lstStyle/>
          <a:p>
            <a:pPr indent="0" marL="0">
              <a:lnSpc>
                <a:spcPts val="1580"/>
              </a:lnSpc>
              <a:buNone/>
            </a:pPr>
            <a:r>
              <a:rPr lang="en-US" sz="1100" dirty="0">
                <a:solidFill>
                  <a:srgbClr val="A6E3BF"/>
                </a:solidFill>
                <a:latin typeface="Consolas" pitchFamily="34" charset="0"/>
                <a:ea typeface="Consolas" pitchFamily="34" charset="-122"/>
                <a:cs typeface="Consolas" pitchFamily="34" charset="-120"/>
              </a:rPr>
              <a:t>Total: 5.50</a:t>
            </a:r>
            <a:endParaRPr lang="en-US" sz="1100" dirty="0"/>
          </a:p>
        </p:txBody>
      </p:sp>
      <p:sp>
        <p:nvSpPr>
          <p:cNvPr id="25" name="Shape 20"/>
          <p:cNvSpPr/>
          <p:nvPr/>
        </p:nvSpPr>
        <p:spPr>
          <a:xfrm>
            <a:off x="548640" y="1554480"/>
            <a:ext cx="5486400" cy="3835908"/>
          </a:xfrm>
          <a:prstGeom prst="roundRect">
            <a:avLst>
              <a:gd name="adj" fmla="val 1907"/>
            </a:avLst>
          </a:prstGeom>
          <a:ln w="12700">
            <a:solidFill>
              <a:srgbClr val="DFE3DE"/>
            </a:solidFill>
            <a:prstDash val="solid"/>
          </a:ln>
        </p:spPr>
      </p:sp>
      <p:sp>
        <p:nvSpPr>
          <p:cNvPr id="26" name="Text 21"/>
          <p:cNvSpPr txBox="1"/>
          <p:nvPr/>
        </p:nvSpPr>
        <p:spPr>
          <a:xfrm>
            <a:off x="548640" y="5518404"/>
            <a:ext cx="5486400" cy="548640"/>
          </a:xfrm>
          <a:prstGeom prst="rect">
            <a:avLst/>
          </a:prstGeom>
          <a:noFill/>
          <a:ln/>
        </p:spPr>
        <p:txBody>
          <a:bodyPr wrap="square" lIns="0" tIns="0" rIns="0" bIns="0" rtlCol="0" anchor="t"/>
          <a:lstStyle/>
          <a:p>
            <a:pPr indent="0" marL="0">
              <a:buNone/>
            </a:pPr>
            <a:r>
              <a:rPr lang="en-US" sz="1200" dirty="0">
                <a:solidFill>
                  <a:srgbClr val="4A534E"/>
                </a:solidFill>
                <a:latin typeface="Calibri" pitchFamily="34" charset="0"/>
                <a:ea typeface="Calibri" pitchFamily="34" charset="-122"/>
                <a:cs typeface="Calibri" pitchFamily="34" charset="-120"/>
              </a:rPr>
              <a:t>The same </a:t>
            </a:r>
            <a:r>
              <a:rPr lang="en-US" sz="1104" dirty="0">
                <a:solidFill>
                  <a:srgbClr val="4A534E"/>
                </a:solidFill>
                <a:latin typeface="Consolas" pitchFamily="34" charset="0"/>
                <a:ea typeface="Consolas" pitchFamily="34" charset="-122"/>
                <a:cs typeface="Consolas" pitchFamily="34" charset="-120"/>
              </a:rPr>
              <a:t>add_up()</a:t>
            </a:r>
            <a:r>
              <a:rPr lang="en-US" sz="1200" dirty="0">
                <a:solidFill>
                  <a:srgbClr val="4A534E"/>
                </a:solidFill>
                <a:latin typeface="Calibri" pitchFamily="34" charset="0"/>
                <a:ea typeface="Calibri" pitchFamily="34" charset="-122"/>
                <a:cs typeface="Calibri" pitchFamily="34" charset="-120"/>
              </a:rPr>
              <a:t> in C, a classic procedural language. A C program is just functions and data, with no classes or objects </a:t>
            </a:r>
            <a:r>
              <a:rPr lang="en-US" sz="1050" dirty="0">
                <a:solidFill>
                  <a:srgbClr val="5F6964"/>
                </a:solidFill>
                <a:latin typeface="Calibri" pitchFamily="34" charset="0"/>
                <a:ea typeface="Calibri" pitchFamily="34" charset="-122"/>
                <a:cs typeface="Calibri" pitchFamily="34" charset="-120"/>
              </a:rPr>
              <a:t>(Kernighan and Ritchie, 1988).</a:t>
            </a:r>
            <a:endParaRPr lang="en-US" sz="1400" dirty="0"/>
          </a:p>
        </p:txBody>
      </p:sp>
      <p:sp>
        <p:nvSpPr>
          <p:cNvPr id="27" name="Shape 22"/>
          <p:cNvSpPr/>
          <p:nvPr/>
        </p:nvSpPr>
        <p:spPr>
          <a:xfrm>
            <a:off x="6355080" y="1554480"/>
            <a:ext cx="5285232" cy="1481328"/>
          </a:xfrm>
          <a:prstGeom prst="roundRect">
            <a:avLst>
              <a:gd name="adj" fmla="val 7407"/>
            </a:avLst>
          </a:prstGeom>
          <a:solidFill>
            <a:srgbClr val="E3F3E5"/>
          </a:solidFill>
          <a:ln/>
        </p:spPr>
      </p:sp>
      <p:sp>
        <p:nvSpPr>
          <p:cNvPr id="28" name="Shape 23"/>
          <p:cNvSpPr/>
          <p:nvPr/>
        </p:nvSpPr>
        <p:spPr>
          <a:xfrm>
            <a:off x="6537960" y="1700784"/>
            <a:ext cx="292608" cy="292608"/>
          </a:xfrm>
          <a:prstGeom prst="ellipse">
            <a:avLst/>
          </a:prstGeom>
          <a:solidFill>
            <a:srgbClr val="0CA30C"/>
          </a:solidFill>
          <a:ln/>
        </p:spPr>
      </p:sp>
      <p:sp>
        <p:nvSpPr>
          <p:cNvPr id="29" name="Text 24"/>
          <p:cNvSpPr txBox="1"/>
          <p:nvPr/>
        </p:nvSpPr>
        <p:spPr>
          <a:xfrm>
            <a:off x="6537960" y="1700784"/>
            <a:ext cx="292608"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0" name="Text 25"/>
          <p:cNvSpPr txBox="1"/>
          <p:nvPr/>
        </p:nvSpPr>
        <p:spPr>
          <a:xfrm>
            <a:off x="6940296" y="1664208"/>
            <a:ext cx="4553712" cy="365760"/>
          </a:xfrm>
          <a:prstGeom prst="rect">
            <a:avLst/>
          </a:prstGeom>
          <a:noFill/>
          <a:ln/>
        </p:spPr>
        <p:txBody>
          <a:bodyPr wrap="square" lIns="0" tIns="0" rIns="0" bIns="0" rtlCol="0" anchor="ctr"/>
          <a:lstStyle/>
          <a:p>
            <a:pPr indent="0" marL="0">
              <a:buNone/>
            </a:pPr>
            <a:r>
              <a:rPr lang="en-US" sz="1700" b="1" dirty="0">
                <a:solidFill>
                  <a:srgbClr val="1B1F1D"/>
                </a:solidFill>
                <a:latin typeface="Cambria" pitchFamily="34" charset="0"/>
                <a:ea typeface="Cambria" pitchFamily="34" charset="-122"/>
                <a:cs typeface="Cambria" pitchFamily="34" charset="-120"/>
              </a:rPr>
              <a:t>Advantages</a:t>
            </a:r>
            <a:endParaRPr lang="en-US" sz="1700" dirty="0"/>
          </a:p>
        </p:txBody>
      </p:sp>
      <p:sp>
        <p:nvSpPr>
          <p:cNvPr id="31" name="Text 26"/>
          <p:cNvSpPr txBox="1"/>
          <p:nvPr/>
        </p:nvSpPr>
        <p:spPr>
          <a:xfrm>
            <a:off x="6574536" y="2103120"/>
            <a:ext cx="4901184" cy="877824"/>
          </a:xfrm>
          <a:prstGeom prst="rect">
            <a:avLst/>
          </a:prstGeom>
          <a:noFill/>
          <a:ln/>
        </p:spPr>
        <p:txBody>
          <a:bodyPr wrap="square" lIns="0" tIns="0" rIns="0" bIns="0" rtlCol="0" anchor="t"/>
          <a:lstStyle/>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Easy to follow:</a:t>
            </a:r>
            <a:r>
              <a:rPr lang="en-US" sz="1250" dirty="0">
                <a:solidFill>
                  <a:srgbClr val="1B1F1D"/>
                </a:solidFill>
                <a:latin typeface="Calibri" pitchFamily="34" charset="0"/>
                <a:ea typeface="Calibri" pitchFamily="34" charset="-122"/>
                <a:cs typeface="Calibri" pitchFamily="34" charset="-120"/>
              </a:rPr>
              <a:t> it runs in the order you read it</a:t>
            </a:r>
            <a:endParaRPr lang="en-US" sz="1400" dirty="0"/>
          </a:p>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Fast and light:</a:t>
            </a:r>
            <a:r>
              <a:rPr lang="en-US" sz="1250" dirty="0">
                <a:solidFill>
                  <a:srgbClr val="1B1F1D"/>
                </a:solidFill>
                <a:latin typeface="Calibri" pitchFamily="34" charset="0"/>
                <a:ea typeface="Calibri" pitchFamily="34" charset="-122"/>
                <a:cs typeface="Calibri" pitchFamily="34" charset="-120"/>
              </a:rPr>
              <a:t> good for scripts and small devices</a:t>
            </a:r>
            <a:endParaRPr lang="en-US" sz="1400" dirty="0"/>
          </a:p>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Reusable functions:</a:t>
            </a:r>
            <a:r>
              <a:rPr lang="en-US" sz="1250" dirty="0">
                <a:solidFill>
                  <a:srgbClr val="1B1F1D"/>
                </a:solidFill>
                <a:latin typeface="Calibri" pitchFamily="34" charset="0"/>
                <a:ea typeface="Calibri" pitchFamily="34" charset="-122"/>
                <a:cs typeface="Calibri" pitchFamily="34" charset="-120"/>
              </a:rPr>
              <a:t> call them and test them one at a time</a:t>
            </a:r>
            <a:endParaRPr lang="en-US" sz="1400" dirty="0"/>
          </a:p>
        </p:txBody>
      </p:sp>
      <p:sp>
        <p:nvSpPr>
          <p:cNvPr id="32" name="Shape 27"/>
          <p:cNvSpPr/>
          <p:nvPr/>
        </p:nvSpPr>
        <p:spPr>
          <a:xfrm>
            <a:off x="6355080" y="3145536"/>
            <a:ext cx="5285232" cy="1481328"/>
          </a:xfrm>
          <a:prstGeom prst="roundRect">
            <a:avLst>
              <a:gd name="adj" fmla="val 7407"/>
            </a:avLst>
          </a:prstGeom>
          <a:solidFill>
            <a:srgbClr val="FBE8E7"/>
          </a:solidFill>
          <a:ln/>
        </p:spPr>
      </p:sp>
      <p:sp>
        <p:nvSpPr>
          <p:cNvPr id="33" name="Shape 28"/>
          <p:cNvSpPr/>
          <p:nvPr/>
        </p:nvSpPr>
        <p:spPr>
          <a:xfrm>
            <a:off x="6537960" y="3291840"/>
            <a:ext cx="292608" cy="292608"/>
          </a:xfrm>
          <a:prstGeom prst="ellipse">
            <a:avLst/>
          </a:prstGeom>
          <a:solidFill>
            <a:srgbClr val="D03B3B"/>
          </a:solidFill>
          <a:ln/>
        </p:spPr>
      </p:sp>
      <p:sp>
        <p:nvSpPr>
          <p:cNvPr id="34" name="Text 29"/>
          <p:cNvSpPr txBox="1"/>
          <p:nvPr/>
        </p:nvSpPr>
        <p:spPr>
          <a:xfrm>
            <a:off x="6537960" y="3291840"/>
            <a:ext cx="292608"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5" name="Text 30"/>
          <p:cNvSpPr txBox="1"/>
          <p:nvPr/>
        </p:nvSpPr>
        <p:spPr>
          <a:xfrm>
            <a:off x="6940296" y="3255264"/>
            <a:ext cx="4553712" cy="365760"/>
          </a:xfrm>
          <a:prstGeom prst="rect">
            <a:avLst/>
          </a:prstGeom>
          <a:noFill/>
          <a:ln/>
        </p:spPr>
        <p:txBody>
          <a:bodyPr wrap="square" lIns="0" tIns="0" rIns="0" bIns="0" rtlCol="0" anchor="ctr"/>
          <a:lstStyle/>
          <a:p>
            <a:pPr indent="0" marL="0">
              <a:buNone/>
            </a:pPr>
            <a:r>
              <a:rPr lang="en-US" sz="1700" b="1" dirty="0">
                <a:solidFill>
                  <a:srgbClr val="1B1F1D"/>
                </a:solidFill>
                <a:latin typeface="Cambria" pitchFamily="34" charset="0"/>
                <a:ea typeface="Cambria" pitchFamily="34" charset="-122"/>
                <a:cs typeface="Cambria" pitchFamily="34" charset="-120"/>
              </a:rPr>
              <a:t>Disadvantages</a:t>
            </a:r>
            <a:endParaRPr lang="en-US" sz="1700" dirty="0"/>
          </a:p>
        </p:txBody>
      </p:sp>
      <p:sp>
        <p:nvSpPr>
          <p:cNvPr id="36" name="Text 31"/>
          <p:cNvSpPr txBox="1"/>
          <p:nvPr/>
        </p:nvSpPr>
        <p:spPr>
          <a:xfrm>
            <a:off x="6574536" y="3694176"/>
            <a:ext cx="4901184" cy="877824"/>
          </a:xfrm>
          <a:prstGeom prst="rect">
            <a:avLst/>
          </a:prstGeom>
          <a:noFill/>
          <a:ln/>
        </p:spPr>
        <p:txBody>
          <a:bodyPr wrap="square" lIns="0" tIns="0" rIns="0" bIns="0" rtlCol="0" anchor="t"/>
          <a:lstStyle/>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Messy when it grows:</a:t>
            </a:r>
            <a:r>
              <a:rPr lang="en-US" sz="1250" dirty="0">
                <a:solidFill>
                  <a:srgbClr val="1B1F1D"/>
                </a:solidFill>
                <a:latin typeface="Calibri" pitchFamily="34" charset="0"/>
                <a:ea typeface="Calibri" pitchFamily="34" charset="-122"/>
                <a:cs typeface="Calibri" pitchFamily="34" charset="-120"/>
              </a:rPr>
              <a:t> too many functions and globals</a:t>
            </a:r>
            <a:endParaRPr lang="en-US" sz="1400" dirty="0"/>
          </a:p>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Unprotected data:</a:t>
            </a:r>
            <a:r>
              <a:rPr lang="en-US" sz="1250" dirty="0">
                <a:solidFill>
                  <a:srgbClr val="1B1F1D"/>
                </a:solidFill>
                <a:latin typeface="Calibri" pitchFamily="34" charset="0"/>
                <a:ea typeface="Calibri" pitchFamily="34" charset="-122"/>
                <a:cs typeface="Calibri" pitchFamily="34" charset="-120"/>
              </a:rPr>
              <a:t> any function can change a global</a:t>
            </a:r>
            <a:endParaRPr lang="en-US" sz="1400" dirty="0"/>
          </a:p>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A poor fit for real things</a:t>
            </a:r>
            <a:r>
              <a:rPr lang="en-US" sz="1250" dirty="0">
                <a:solidFill>
                  <a:srgbClr val="1B1F1D"/>
                </a:solidFill>
                <a:latin typeface="Calibri" pitchFamily="34" charset="0"/>
                <a:ea typeface="Calibri" pitchFamily="34" charset="-122"/>
                <a:cs typeface="Calibri" pitchFamily="34" charset="-120"/>
              </a:rPr>
              <a:t> like customers and products</a:t>
            </a:r>
            <a:endParaRPr lang="en-US" sz="1400" dirty="0"/>
          </a:p>
        </p:txBody>
      </p:sp>
      <p:sp>
        <p:nvSpPr>
          <p:cNvPr id="37" name="Text 32"/>
          <p:cNvSpPr txBox="1"/>
          <p:nvPr/>
        </p:nvSpPr>
        <p:spPr>
          <a:xfrm>
            <a:off x="6355080" y="4791456"/>
            <a:ext cx="5285232"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WHERE IT'S USED</a:t>
            </a:r>
            <a:endParaRPr lang="en-US" sz="1000" dirty="0"/>
          </a:p>
        </p:txBody>
      </p:sp>
      <p:sp>
        <p:nvSpPr>
          <p:cNvPr id="38" name="Shape 33"/>
          <p:cNvSpPr/>
          <p:nvPr/>
        </p:nvSpPr>
        <p:spPr>
          <a:xfrm>
            <a:off x="6355080" y="5065776"/>
            <a:ext cx="1840738" cy="292608"/>
          </a:xfrm>
          <a:prstGeom prst="roundRect">
            <a:avLst>
              <a:gd name="adj" fmla="val 50000"/>
            </a:avLst>
          </a:prstGeom>
          <a:solidFill>
            <a:srgbClr val="FFFFFF"/>
          </a:solidFill>
          <a:ln w="12700">
            <a:solidFill>
              <a:srgbClr val="DFE3DE"/>
            </a:solidFill>
            <a:prstDash val="solid"/>
          </a:ln>
        </p:spPr>
      </p:sp>
      <p:sp>
        <p:nvSpPr>
          <p:cNvPr id="39" name="Text 34"/>
          <p:cNvSpPr txBox="1"/>
          <p:nvPr/>
        </p:nvSpPr>
        <p:spPr>
          <a:xfrm>
            <a:off x="6355080" y="5065776"/>
            <a:ext cx="1840738"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scripts &amp; automation</a:t>
            </a:r>
            <a:endParaRPr lang="en-US" sz="1400" dirty="0"/>
          </a:p>
        </p:txBody>
      </p:sp>
      <p:sp>
        <p:nvSpPr>
          <p:cNvPr id="40" name="Shape 35"/>
          <p:cNvSpPr/>
          <p:nvPr/>
        </p:nvSpPr>
        <p:spPr>
          <a:xfrm>
            <a:off x="8287258" y="5065776"/>
            <a:ext cx="2614803" cy="292608"/>
          </a:xfrm>
          <a:prstGeom prst="roundRect">
            <a:avLst>
              <a:gd name="adj" fmla="val 50000"/>
            </a:avLst>
          </a:prstGeom>
          <a:solidFill>
            <a:srgbClr val="FFFFFF"/>
          </a:solidFill>
          <a:ln w="12700">
            <a:solidFill>
              <a:srgbClr val="DFE3DE"/>
            </a:solidFill>
            <a:prstDash val="solid"/>
          </a:ln>
        </p:spPr>
      </p:sp>
      <p:sp>
        <p:nvSpPr>
          <p:cNvPr id="41" name="Text 36"/>
          <p:cNvSpPr txBox="1"/>
          <p:nvPr/>
        </p:nvSpPr>
        <p:spPr>
          <a:xfrm>
            <a:off x="8287258" y="5065776"/>
            <a:ext cx="2614803"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calculations &amp; data processing</a:t>
            </a:r>
            <a:endParaRPr lang="en-US" sz="1400" dirty="0"/>
          </a:p>
        </p:txBody>
      </p:sp>
      <p:sp>
        <p:nvSpPr>
          <p:cNvPr id="42" name="Shape 37"/>
          <p:cNvSpPr/>
          <p:nvPr/>
        </p:nvSpPr>
        <p:spPr>
          <a:xfrm>
            <a:off x="6355080" y="5449824"/>
            <a:ext cx="2305177" cy="292608"/>
          </a:xfrm>
          <a:prstGeom prst="roundRect">
            <a:avLst>
              <a:gd name="adj" fmla="val 50000"/>
            </a:avLst>
          </a:prstGeom>
          <a:solidFill>
            <a:srgbClr val="FFFFFF"/>
          </a:solidFill>
          <a:ln w="12700">
            <a:solidFill>
              <a:srgbClr val="DFE3DE"/>
            </a:solidFill>
            <a:prstDash val="solid"/>
          </a:ln>
        </p:spPr>
      </p:sp>
      <p:sp>
        <p:nvSpPr>
          <p:cNvPr id="43" name="Text 38"/>
          <p:cNvSpPr txBox="1"/>
          <p:nvPr/>
        </p:nvSpPr>
        <p:spPr>
          <a:xfrm>
            <a:off x="6355080" y="5449824"/>
            <a:ext cx="2305177"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embedded systems (Arduino)</a:t>
            </a:r>
            <a:endParaRPr lang="en-US" sz="1400" dirty="0"/>
          </a:p>
        </p:txBody>
      </p:sp>
      <p:sp>
        <p:nvSpPr>
          <p:cNvPr id="44" name="Shape 39"/>
          <p:cNvSpPr/>
          <p:nvPr/>
        </p:nvSpPr>
        <p:spPr>
          <a:xfrm>
            <a:off x="8751697" y="5449824"/>
            <a:ext cx="2227771" cy="292608"/>
          </a:xfrm>
          <a:prstGeom prst="roundRect">
            <a:avLst>
              <a:gd name="adj" fmla="val 50000"/>
            </a:avLst>
          </a:prstGeom>
          <a:solidFill>
            <a:srgbClr val="FFFFFF"/>
          </a:solidFill>
          <a:ln w="12700">
            <a:solidFill>
              <a:srgbClr val="DFE3DE"/>
            </a:solidFill>
            <a:prstDash val="solid"/>
          </a:ln>
        </p:spPr>
      </p:sp>
      <p:sp>
        <p:nvSpPr>
          <p:cNvPr id="45" name="Text 40"/>
          <p:cNvSpPr txBox="1"/>
          <p:nvPr/>
        </p:nvSpPr>
        <p:spPr>
          <a:xfrm>
            <a:off x="8751697" y="5449824"/>
            <a:ext cx="2227771"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operating systems (Linux)</a:t>
            </a:r>
            <a:endParaRPr lang="en-US" sz="1400" dirty="0"/>
          </a:p>
        </p:txBody>
      </p:sp>
      <p:sp>
        <p:nvSpPr>
          <p:cNvPr id="46" name="Text 41"/>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F7E1BF"/>
          </a:solidFill>
          <a:ln w="25400">
            <a:solidFill>
              <a:srgbClr val="DF8700"/>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3</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EVENT-DRIVEN · WHAT IT IS</a:t>
            </a:r>
            <a:endParaRPr lang="en-US" sz="1100" dirty="0"/>
          </a:p>
        </p:txBody>
      </p:sp>
      <p:sp>
        <p:nvSpPr>
          <p:cNvPr id="5" name="Text 3"/>
          <p:cNvSpPr txBox="1"/>
          <p:nvPr/>
        </p:nvSpPr>
        <p:spPr>
          <a:xfrm>
            <a:off x="548640" y="731520"/>
            <a:ext cx="9144000"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Event-driven programming</a:t>
            </a:r>
            <a:endParaRPr lang="en-US" sz="3200" dirty="0"/>
          </a:p>
        </p:txBody>
      </p:sp>
      <p:sp>
        <p:nvSpPr>
          <p:cNvPr id="6" name="Shape 4"/>
          <p:cNvSpPr/>
          <p:nvPr/>
        </p:nvSpPr>
        <p:spPr>
          <a:xfrm>
            <a:off x="10189159" y="932688"/>
            <a:ext cx="1261872" cy="0"/>
          </a:xfrm>
          <a:prstGeom prst="line">
            <a:avLst/>
          </a:prstGeom>
          <a:noFill/>
          <a:ln w="19050">
            <a:solidFill>
              <a:srgbClr val="B7C0BA"/>
            </a:solidFill>
            <a:prstDash val="solid"/>
          </a:ln>
        </p:spPr>
      </p:sp>
      <p:sp>
        <p:nvSpPr>
          <p:cNvPr id="7" name="Shape 5"/>
          <p:cNvSpPr/>
          <p:nvPr/>
        </p:nvSpPr>
        <p:spPr>
          <a:xfrm>
            <a:off x="9997135" y="740664"/>
            <a:ext cx="384048" cy="384048"/>
          </a:xfrm>
          <a:prstGeom prst="ellipse">
            <a:avLst/>
          </a:prstGeom>
          <a:solidFill>
            <a:srgbClr val="FFFFFF"/>
          </a:solidFill>
          <a:ln w="22225">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10089307" y="832836"/>
            <a:ext cx="199705" cy="199705"/>
          </a:xfrm>
          <a:prstGeom prst="rect">
            <a:avLst/>
          </a:prstGeom>
        </p:spPr>
      </p:pic>
      <p:sp>
        <p:nvSpPr>
          <p:cNvPr id="9" name="Shape 6"/>
          <p:cNvSpPr/>
          <p:nvPr/>
        </p:nvSpPr>
        <p:spPr>
          <a:xfrm>
            <a:off x="10564063" y="676656"/>
            <a:ext cx="512064" cy="512064"/>
          </a:xfrm>
          <a:prstGeom prst="ellipse">
            <a:avLst/>
          </a:prstGeom>
          <a:solidFill>
            <a:srgbClr val="F7E1BF"/>
          </a:solidFill>
          <a:ln w="31750">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10686959" y="799551"/>
            <a:ext cx="266273" cy="266273"/>
          </a:xfrm>
          <a:prstGeom prst="rect">
            <a:avLst/>
          </a:prstGeom>
        </p:spPr>
      </p:pic>
      <p:sp>
        <p:nvSpPr>
          <p:cNvPr id="11" name="Shape 7"/>
          <p:cNvSpPr/>
          <p:nvPr/>
        </p:nvSpPr>
        <p:spPr>
          <a:xfrm>
            <a:off x="11259007" y="740664"/>
            <a:ext cx="384048" cy="384048"/>
          </a:xfrm>
          <a:prstGeom prst="ellipse">
            <a:avLst/>
          </a:prstGeom>
          <a:solidFill>
            <a:srgbClr val="FFFFFF"/>
          </a:solidFill>
          <a:ln w="22225">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11351179" y="832836"/>
            <a:ext cx="199705" cy="199705"/>
          </a:xfrm>
          <a:prstGeom prst="rect">
            <a:avLst/>
          </a:prstGeom>
        </p:spPr>
      </p:pic>
      <p:sp>
        <p:nvSpPr>
          <p:cNvPr id="13" name="Shape 8"/>
          <p:cNvSpPr/>
          <p:nvPr/>
        </p:nvSpPr>
        <p:spPr>
          <a:xfrm>
            <a:off x="548640" y="1554480"/>
            <a:ext cx="5486400" cy="2240280"/>
          </a:xfrm>
          <a:prstGeom prst="roundRect">
            <a:avLst>
              <a:gd name="adj" fmla="val 4898"/>
            </a:avLst>
          </a:prstGeom>
          <a:solidFill>
            <a:srgbClr val="FCF5EB"/>
          </a:solidFill>
          <a:ln w="12700">
            <a:solidFill>
              <a:srgbClr val="F7E1BF"/>
            </a:solidFill>
            <a:prstDash val="solid"/>
          </a:ln>
        </p:spPr>
      </p:sp>
      <p:sp>
        <p:nvSpPr>
          <p:cNvPr id="14" name="Text 9"/>
          <p:cNvSpPr txBox="1"/>
          <p:nvPr/>
        </p:nvSpPr>
        <p:spPr>
          <a:xfrm>
            <a:off x="768096" y="1691640"/>
            <a:ext cx="5047488" cy="384048"/>
          </a:xfrm>
          <a:prstGeom prst="rect">
            <a:avLst/>
          </a:prstGeom>
          <a:noFill/>
          <a:ln/>
        </p:spPr>
        <p:txBody>
          <a:bodyPr wrap="square" lIns="0" tIns="0" rIns="0" bIns="0" rtlCol="0" anchor="ctr"/>
          <a:lstStyle/>
          <a:p>
            <a:pPr indent="0" marL="0">
              <a:buNone/>
            </a:pPr>
            <a:r>
              <a:rPr lang="en-US" sz="1900" b="1" dirty="0">
                <a:solidFill>
                  <a:srgbClr val="1B1F1D"/>
                </a:solidFill>
                <a:latin typeface="Cambria" pitchFamily="34" charset="0"/>
                <a:ea typeface="Cambria" pitchFamily="34" charset="-122"/>
                <a:cs typeface="Cambria" pitchFamily="34" charset="-120"/>
              </a:rPr>
              <a:t>event-driven programming</a:t>
            </a:r>
            <a:r>
              <a:rPr lang="en-US" sz="1300" i="1" dirty="0">
                <a:solidFill>
                  <a:srgbClr val="5F6964"/>
                </a:solidFill>
                <a:latin typeface="Calibri" pitchFamily="34" charset="0"/>
                <a:ea typeface="Calibri" pitchFamily="34" charset="-122"/>
                <a:cs typeface="Calibri" pitchFamily="34" charset="-120"/>
              </a:rPr>
              <a:t>   noun</a:t>
            </a:r>
            <a:endParaRPr lang="en-US" sz="1400" dirty="0"/>
          </a:p>
        </p:txBody>
      </p:sp>
      <p:sp>
        <p:nvSpPr>
          <p:cNvPr id="15" name="Text 10"/>
          <p:cNvSpPr txBox="1"/>
          <p:nvPr/>
        </p:nvSpPr>
        <p:spPr>
          <a:xfrm>
            <a:off x="768096" y="2121408"/>
            <a:ext cx="5047488" cy="1197864"/>
          </a:xfrm>
          <a:prstGeom prst="rect">
            <a:avLst/>
          </a:prstGeom>
          <a:noFill/>
          <a:ln/>
        </p:spPr>
        <p:txBody>
          <a:bodyPr wrap="square" lIns="0" tIns="0" rIns="0" bIns="0" rtlCol="0" anchor="t"/>
          <a:lstStyle/>
          <a:p>
            <a:pPr indent="0" marL="0">
              <a:lnSpc>
                <a:spcPct val="105000"/>
              </a:lnSpc>
              <a:buNone/>
            </a:pPr>
            <a:r>
              <a:rPr lang="en-US" sz="1350" dirty="0">
                <a:solidFill>
                  <a:srgbClr val="1B1F1D"/>
                </a:solidFill>
                <a:latin typeface="Calibri" pitchFamily="34" charset="0"/>
                <a:ea typeface="Calibri" pitchFamily="34" charset="-122"/>
                <a:cs typeface="Calibri" pitchFamily="34" charset="-120"/>
              </a:rPr>
              <a:t>A style of programming where the flow of the program is decided by events: things that happen, like a click, a key press, a sensor reading or a timer running out. The program waits for events, and when one happens it runs the code linked to it, called an event handler </a:t>
            </a:r>
            <a:r>
              <a:rPr lang="en-US" sz="1050" dirty="0">
                <a:solidFill>
                  <a:srgbClr val="5F6964"/>
                </a:solidFill>
                <a:latin typeface="Calibri" pitchFamily="34" charset="0"/>
                <a:ea typeface="Calibri" pitchFamily="34" charset="-122"/>
                <a:cs typeface="Calibri" pitchFamily="34" charset="-120"/>
              </a:rPr>
              <a:t>(MDN Web Docs, no date a)</a:t>
            </a:r>
            <a:endParaRPr lang="en-US" sz="1400" dirty="0"/>
          </a:p>
        </p:txBody>
      </p:sp>
      <p:sp>
        <p:nvSpPr>
          <p:cNvPr id="16" name="Text 11"/>
          <p:cNvSpPr txBox="1"/>
          <p:nvPr/>
        </p:nvSpPr>
        <p:spPr>
          <a:xfrm>
            <a:off x="768096" y="3337560"/>
            <a:ext cx="5047488" cy="347472"/>
          </a:xfrm>
          <a:prstGeom prst="rect">
            <a:avLst/>
          </a:prstGeom>
          <a:noFill/>
          <a:ln/>
        </p:spPr>
        <p:txBody>
          <a:bodyPr wrap="square" lIns="0" tIns="0" rIns="0" bIns="0" rtlCol="0" anchor="b"/>
          <a:lstStyle/>
          <a:p>
            <a:pPr indent="0" marL="0">
              <a:buNone/>
            </a:pPr>
            <a:r>
              <a:rPr lang="en-US" sz="950" dirty="0">
                <a:solidFill>
                  <a:srgbClr val="4A534E"/>
                </a:solidFill>
                <a:latin typeface="Consolas" pitchFamily="34" charset="0"/>
                <a:ea typeface="Consolas" pitchFamily="34" charset="-122"/>
                <a:cs typeface="Consolas" pitchFamily="34" charset="-120"/>
              </a:rPr>
              <a:t>e.g. Visual Basic, C# with Windows Forms, JavaScript, Python with tkinter</a:t>
            </a:r>
            <a:endParaRPr lang="en-US" sz="950" dirty="0"/>
          </a:p>
        </p:txBody>
      </p:sp>
      <p:sp>
        <p:nvSpPr>
          <p:cNvPr id="17" name="Text 12"/>
          <p:cNvSpPr txBox="1"/>
          <p:nvPr/>
        </p:nvSpPr>
        <p:spPr>
          <a:xfrm>
            <a:off x="548640" y="3931920"/>
            <a:ext cx="548640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KEY FEATURES</a:t>
            </a:r>
            <a:endParaRPr lang="en-US" sz="1000" dirty="0"/>
          </a:p>
        </p:txBody>
      </p:sp>
      <p:sp>
        <p:nvSpPr>
          <p:cNvPr id="18" name="Text 13"/>
          <p:cNvSpPr txBox="1"/>
          <p:nvPr/>
        </p:nvSpPr>
        <p:spPr>
          <a:xfrm>
            <a:off x="548640" y="4206240"/>
            <a:ext cx="2615184" cy="630936"/>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Events</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User actions (click, key press), sensors, timers or messages from other programs.</a:t>
            </a:r>
            <a:endParaRPr lang="en-US" sz="1400" dirty="0"/>
          </a:p>
        </p:txBody>
      </p:sp>
      <p:sp>
        <p:nvSpPr>
          <p:cNvPr id="19" name="Text 14"/>
          <p:cNvSpPr txBox="1"/>
          <p:nvPr/>
        </p:nvSpPr>
        <p:spPr>
          <a:xfrm>
            <a:off x="3419856" y="4206240"/>
            <a:ext cx="2615184" cy="630936"/>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Event handlers</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Functions that run when a certain event happens (also called callbacks).</a:t>
            </a:r>
            <a:endParaRPr lang="en-US" sz="1400" dirty="0"/>
          </a:p>
        </p:txBody>
      </p:sp>
      <p:sp>
        <p:nvSpPr>
          <p:cNvPr id="20" name="Text 15"/>
          <p:cNvSpPr txBox="1"/>
          <p:nvPr/>
        </p:nvSpPr>
        <p:spPr>
          <a:xfrm>
            <a:off x="548640" y="4873752"/>
            <a:ext cx="2615184" cy="630936"/>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Listeners (triggers)</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Code that links an event on an object, like a button, to its handler.</a:t>
            </a:r>
            <a:endParaRPr lang="en-US" sz="1400" dirty="0"/>
          </a:p>
        </p:txBody>
      </p:sp>
      <p:sp>
        <p:nvSpPr>
          <p:cNvPr id="21" name="Text 16"/>
          <p:cNvSpPr txBox="1"/>
          <p:nvPr/>
        </p:nvSpPr>
        <p:spPr>
          <a:xfrm>
            <a:off x="3419856" y="4873752"/>
            <a:ext cx="2615184" cy="630936"/>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The event loop</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Runs all the time, waiting for the next event and sending it to its handler.</a:t>
            </a:r>
            <a:endParaRPr lang="en-US" sz="1400" dirty="0"/>
          </a:p>
        </p:txBody>
      </p:sp>
      <p:sp>
        <p:nvSpPr>
          <p:cNvPr id="22" name="Text 17"/>
          <p:cNvSpPr txBox="1"/>
          <p:nvPr/>
        </p:nvSpPr>
        <p:spPr>
          <a:xfrm>
            <a:off x="548640" y="5541264"/>
            <a:ext cx="2615184" cy="630936"/>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An event queue</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Events that arrive together wait in a queue and are handled one at a time.</a:t>
            </a:r>
            <a:endParaRPr lang="en-US" sz="1400" dirty="0"/>
          </a:p>
        </p:txBody>
      </p:sp>
      <p:sp>
        <p:nvSpPr>
          <p:cNvPr id="23" name="Text 18"/>
          <p:cNvSpPr txBox="1"/>
          <p:nvPr/>
        </p:nvSpPr>
        <p:spPr>
          <a:xfrm>
            <a:off x="3419856" y="5541264"/>
            <a:ext cx="2615184" cy="630936"/>
          </a:xfrm>
          <a:prstGeom prst="rect">
            <a:avLst/>
          </a:prstGeom>
          <a:noFill/>
          <a:ln/>
        </p:spPr>
        <p:txBody>
          <a:bodyPr wrap="square" lIns="0" tIns="0" rIns="0" bIns="0" rtlCol="0" anchor="t"/>
          <a:lstStyle/>
          <a:p>
            <a:pPr indent="0" marL="0">
              <a:spcAft>
                <a:spcPts val="100"/>
              </a:spcAft>
              <a:buNone/>
            </a:pPr>
            <a:r>
              <a:rPr lang="en-US" sz="1300" b="1" dirty="0">
                <a:solidFill>
                  <a:srgbClr val="1B1F1D"/>
                </a:solidFill>
                <a:latin typeface="Calibri" pitchFamily="34" charset="0"/>
                <a:ea typeface="Calibri" pitchFamily="34" charset="-122"/>
                <a:cs typeface="Calibri" pitchFamily="34" charset="-120"/>
              </a:rPr>
              <a:t>The user is in control</a:t>
            </a:r>
            <a:endParaRPr lang="en-US" sz="1400" dirty="0"/>
          </a:p>
          <a:p>
            <a:pPr indent="0" marL="0">
              <a:spcAft>
                <a:spcPts val="100"/>
              </a:spcAft>
              <a:buNone/>
            </a:pPr>
            <a:r>
              <a:rPr lang="en-US" sz="1100" dirty="0">
                <a:solidFill>
                  <a:srgbClr val="4A534E"/>
                </a:solidFill>
                <a:latin typeface="Calibri" pitchFamily="34" charset="0"/>
                <a:ea typeface="Calibri" pitchFamily="34" charset="-122"/>
                <a:cs typeface="Calibri" pitchFamily="34" charset="-120"/>
              </a:rPr>
              <a:t>Usually a GUI with buttons and menus. The user decides what happens next.</a:t>
            </a:r>
            <a:endParaRPr lang="en-US" sz="1400" dirty="0"/>
          </a:p>
        </p:txBody>
      </p:sp>
      <p:sp>
        <p:nvSpPr>
          <p:cNvPr id="24" name="Shape 19"/>
          <p:cNvSpPr/>
          <p:nvPr/>
        </p:nvSpPr>
        <p:spPr>
          <a:xfrm>
            <a:off x="6355080" y="1554480"/>
            <a:ext cx="5285232" cy="4617720"/>
          </a:xfrm>
          <a:prstGeom prst="roundRect">
            <a:avLst>
              <a:gd name="adj" fmla="val 2376"/>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25" name="Text 20"/>
          <p:cNvSpPr txBox="1"/>
          <p:nvPr/>
        </p:nvSpPr>
        <p:spPr>
          <a:xfrm>
            <a:off x="6537960" y="1700784"/>
            <a:ext cx="484632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THE EVENT LOOP</a:t>
            </a:r>
            <a:endParaRPr lang="en-US" sz="1000" dirty="0"/>
          </a:p>
        </p:txBody>
      </p:sp>
      <p:sp>
        <p:nvSpPr>
          <p:cNvPr id="26" name="Shape 21"/>
          <p:cNvSpPr/>
          <p:nvPr/>
        </p:nvSpPr>
        <p:spPr>
          <a:xfrm>
            <a:off x="6537960" y="2011680"/>
            <a:ext cx="1280351" cy="329184"/>
          </a:xfrm>
          <a:prstGeom prst="roundRect">
            <a:avLst>
              <a:gd name="adj" fmla="val 50000"/>
            </a:avLst>
          </a:prstGeom>
          <a:solidFill>
            <a:srgbClr val="FFFFFF"/>
          </a:solidFill>
          <a:ln w="12700">
            <a:solidFill>
              <a:srgbClr val="B7C0BA"/>
            </a:solidFill>
            <a:prstDash val="solid"/>
          </a:ln>
        </p:spPr>
      </p:sp>
      <p:pic>
        <p:nvPicPr>
          <p:cNvPr id="27" name="Image 3" descr="Mouse click icon">    </p:cNvPr>
          <p:cNvPicPr>
            <a:picLocks noChangeAspect="1"/>
          </p:cNvPicPr>
          <p:nvPr/>
        </p:nvPicPr>
        <p:blipFill>
          <a:blip r:embed="rId4"/>
          <a:stretch>
            <a:fillRect/>
          </a:stretch>
        </p:blipFill>
        <p:spPr>
          <a:xfrm>
            <a:off x="6647688" y="2084832"/>
            <a:ext cx="182880" cy="182880"/>
          </a:xfrm>
          <a:prstGeom prst="rect">
            <a:avLst/>
          </a:prstGeom>
        </p:spPr>
      </p:pic>
      <p:sp>
        <p:nvSpPr>
          <p:cNvPr id="28" name="Text 22"/>
          <p:cNvSpPr txBox="1"/>
          <p:nvPr/>
        </p:nvSpPr>
        <p:spPr>
          <a:xfrm>
            <a:off x="6885432" y="2011680"/>
            <a:ext cx="896303" cy="329184"/>
          </a:xfrm>
          <a:prstGeom prst="rect">
            <a:avLst/>
          </a:prstGeom>
          <a:noFill/>
          <a:ln/>
        </p:spPr>
        <p:txBody>
          <a:bodyPr wrap="square" lIns="0" tIns="0" rIns="0" bIns="0" rtlCol="0" anchor="ctr"/>
          <a:lstStyle/>
          <a:p>
            <a:pPr indent="0" marL="0">
              <a:buNone/>
            </a:pPr>
            <a:r>
              <a:rPr lang="en-US" sz="1050" b="1" dirty="0">
                <a:solidFill>
                  <a:srgbClr val="1B1F1D"/>
                </a:solidFill>
                <a:latin typeface="Calibri" pitchFamily="34" charset="0"/>
                <a:ea typeface="Calibri" pitchFamily="34" charset="-122"/>
                <a:cs typeface="Calibri" pitchFamily="34" charset="-120"/>
              </a:rPr>
              <a:t>Mouse click</a:t>
            </a:r>
            <a:endParaRPr lang="en-US" sz="1050" dirty="0"/>
          </a:p>
        </p:txBody>
      </p:sp>
      <p:sp>
        <p:nvSpPr>
          <p:cNvPr id="29" name="Shape 23"/>
          <p:cNvSpPr/>
          <p:nvPr/>
        </p:nvSpPr>
        <p:spPr>
          <a:xfrm>
            <a:off x="7891463" y="2011680"/>
            <a:ext cx="1139000" cy="329184"/>
          </a:xfrm>
          <a:prstGeom prst="roundRect">
            <a:avLst>
              <a:gd name="adj" fmla="val 50000"/>
            </a:avLst>
          </a:prstGeom>
          <a:solidFill>
            <a:srgbClr val="FFFFFF"/>
          </a:solidFill>
          <a:ln w="12700">
            <a:solidFill>
              <a:srgbClr val="B7C0BA"/>
            </a:solidFill>
            <a:prstDash val="solid"/>
          </a:ln>
        </p:spPr>
      </p:sp>
      <p:pic>
        <p:nvPicPr>
          <p:cNvPr id="30" name="Image 4" descr="Key press icon">    </p:cNvPr>
          <p:cNvPicPr>
            <a:picLocks noChangeAspect="1"/>
          </p:cNvPicPr>
          <p:nvPr/>
        </p:nvPicPr>
        <p:blipFill>
          <a:blip r:embed="rId5"/>
          <a:stretch>
            <a:fillRect/>
          </a:stretch>
        </p:blipFill>
        <p:spPr>
          <a:xfrm>
            <a:off x="8001191" y="2084832"/>
            <a:ext cx="182880" cy="182880"/>
          </a:xfrm>
          <a:prstGeom prst="rect">
            <a:avLst/>
          </a:prstGeom>
        </p:spPr>
      </p:pic>
      <p:sp>
        <p:nvSpPr>
          <p:cNvPr id="31" name="Text 24"/>
          <p:cNvSpPr txBox="1"/>
          <p:nvPr/>
        </p:nvSpPr>
        <p:spPr>
          <a:xfrm>
            <a:off x="8238935" y="2011680"/>
            <a:ext cx="754952" cy="329184"/>
          </a:xfrm>
          <a:prstGeom prst="rect">
            <a:avLst/>
          </a:prstGeom>
          <a:noFill/>
          <a:ln/>
        </p:spPr>
        <p:txBody>
          <a:bodyPr wrap="square" lIns="0" tIns="0" rIns="0" bIns="0" rtlCol="0" anchor="ctr"/>
          <a:lstStyle/>
          <a:p>
            <a:pPr indent="0" marL="0">
              <a:buNone/>
            </a:pPr>
            <a:r>
              <a:rPr lang="en-US" sz="1050" b="1" dirty="0">
                <a:solidFill>
                  <a:srgbClr val="1B1F1D"/>
                </a:solidFill>
                <a:latin typeface="Calibri" pitchFamily="34" charset="0"/>
                <a:ea typeface="Calibri" pitchFamily="34" charset="-122"/>
                <a:cs typeface="Calibri" pitchFamily="34" charset="-120"/>
              </a:rPr>
              <a:t>Key press</a:t>
            </a:r>
            <a:endParaRPr lang="en-US" sz="1050" dirty="0"/>
          </a:p>
        </p:txBody>
      </p:sp>
      <p:sp>
        <p:nvSpPr>
          <p:cNvPr id="32" name="Shape 25"/>
          <p:cNvSpPr/>
          <p:nvPr/>
        </p:nvSpPr>
        <p:spPr>
          <a:xfrm>
            <a:off x="9103614" y="2011680"/>
            <a:ext cx="856298" cy="329184"/>
          </a:xfrm>
          <a:prstGeom prst="roundRect">
            <a:avLst>
              <a:gd name="adj" fmla="val 50000"/>
            </a:avLst>
          </a:prstGeom>
          <a:solidFill>
            <a:srgbClr val="FFFFFF"/>
          </a:solidFill>
          <a:ln w="12700">
            <a:solidFill>
              <a:srgbClr val="B7C0BA"/>
            </a:solidFill>
            <a:prstDash val="solid"/>
          </a:ln>
        </p:spPr>
      </p:sp>
      <p:pic>
        <p:nvPicPr>
          <p:cNvPr id="33" name="Image 5" descr="Timer icon">    </p:cNvPr>
          <p:cNvPicPr>
            <a:picLocks noChangeAspect="1"/>
          </p:cNvPicPr>
          <p:nvPr/>
        </p:nvPicPr>
        <p:blipFill>
          <a:blip r:embed="rId6"/>
          <a:stretch>
            <a:fillRect/>
          </a:stretch>
        </p:blipFill>
        <p:spPr>
          <a:xfrm>
            <a:off x="9213342" y="2084832"/>
            <a:ext cx="182880" cy="182880"/>
          </a:xfrm>
          <a:prstGeom prst="rect">
            <a:avLst/>
          </a:prstGeom>
        </p:spPr>
      </p:pic>
      <p:sp>
        <p:nvSpPr>
          <p:cNvPr id="34" name="Text 26"/>
          <p:cNvSpPr txBox="1"/>
          <p:nvPr/>
        </p:nvSpPr>
        <p:spPr>
          <a:xfrm>
            <a:off x="9451086" y="2011680"/>
            <a:ext cx="472250" cy="329184"/>
          </a:xfrm>
          <a:prstGeom prst="rect">
            <a:avLst/>
          </a:prstGeom>
          <a:noFill/>
          <a:ln/>
        </p:spPr>
        <p:txBody>
          <a:bodyPr wrap="square" lIns="0" tIns="0" rIns="0" bIns="0" rtlCol="0" anchor="ctr"/>
          <a:lstStyle/>
          <a:p>
            <a:pPr indent="0" marL="0">
              <a:buNone/>
            </a:pPr>
            <a:r>
              <a:rPr lang="en-US" sz="1050" b="1" dirty="0">
                <a:solidFill>
                  <a:srgbClr val="1B1F1D"/>
                </a:solidFill>
                <a:latin typeface="Calibri" pitchFamily="34" charset="0"/>
                <a:ea typeface="Calibri" pitchFamily="34" charset="-122"/>
                <a:cs typeface="Calibri" pitchFamily="34" charset="-120"/>
              </a:rPr>
              <a:t>Timer</a:t>
            </a:r>
            <a:endParaRPr lang="en-US" sz="1050" dirty="0"/>
          </a:p>
        </p:txBody>
      </p:sp>
      <p:sp>
        <p:nvSpPr>
          <p:cNvPr id="35" name="Shape 27"/>
          <p:cNvSpPr/>
          <p:nvPr/>
        </p:nvSpPr>
        <p:spPr>
          <a:xfrm>
            <a:off x="10033064" y="2011680"/>
            <a:ext cx="1280351" cy="329184"/>
          </a:xfrm>
          <a:prstGeom prst="roundRect">
            <a:avLst>
              <a:gd name="adj" fmla="val 50000"/>
            </a:avLst>
          </a:prstGeom>
          <a:solidFill>
            <a:srgbClr val="FFFFFF"/>
          </a:solidFill>
          <a:ln w="12700">
            <a:solidFill>
              <a:srgbClr val="B7C0BA"/>
            </a:solidFill>
            <a:prstDash val="solid"/>
          </a:ln>
        </p:spPr>
      </p:sp>
      <p:pic>
        <p:nvPicPr>
          <p:cNvPr id="36" name="Image 6" descr="Door sensor icon">    </p:cNvPr>
          <p:cNvPicPr>
            <a:picLocks noChangeAspect="1"/>
          </p:cNvPicPr>
          <p:nvPr/>
        </p:nvPicPr>
        <p:blipFill>
          <a:blip r:embed="rId7"/>
          <a:stretch>
            <a:fillRect/>
          </a:stretch>
        </p:blipFill>
        <p:spPr>
          <a:xfrm>
            <a:off x="10142792" y="2084832"/>
            <a:ext cx="182880" cy="182880"/>
          </a:xfrm>
          <a:prstGeom prst="rect">
            <a:avLst/>
          </a:prstGeom>
        </p:spPr>
      </p:pic>
      <p:sp>
        <p:nvSpPr>
          <p:cNvPr id="37" name="Text 28"/>
          <p:cNvSpPr txBox="1"/>
          <p:nvPr/>
        </p:nvSpPr>
        <p:spPr>
          <a:xfrm>
            <a:off x="10380536" y="2011680"/>
            <a:ext cx="896303" cy="329184"/>
          </a:xfrm>
          <a:prstGeom prst="rect">
            <a:avLst/>
          </a:prstGeom>
          <a:noFill/>
          <a:ln/>
        </p:spPr>
        <p:txBody>
          <a:bodyPr wrap="square" lIns="0" tIns="0" rIns="0" bIns="0" rtlCol="0" anchor="ctr"/>
          <a:lstStyle/>
          <a:p>
            <a:pPr indent="0" marL="0">
              <a:buNone/>
            </a:pPr>
            <a:r>
              <a:rPr lang="en-US" sz="1050" b="1" dirty="0">
                <a:solidFill>
                  <a:srgbClr val="1B1F1D"/>
                </a:solidFill>
                <a:latin typeface="Calibri" pitchFamily="34" charset="0"/>
                <a:ea typeface="Calibri" pitchFamily="34" charset="-122"/>
                <a:cs typeface="Calibri" pitchFamily="34" charset="-120"/>
              </a:rPr>
              <a:t>Door sensor</a:t>
            </a:r>
            <a:endParaRPr lang="en-US" sz="1050" dirty="0"/>
          </a:p>
        </p:txBody>
      </p:sp>
      <p:sp>
        <p:nvSpPr>
          <p:cNvPr id="38" name="Text 29"/>
          <p:cNvSpPr txBox="1"/>
          <p:nvPr/>
        </p:nvSpPr>
        <p:spPr>
          <a:xfrm>
            <a:off x="6537960" y="2596896"/>
            <a:ext cx="128016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EVENT QUEUE</a:t>
            </a:r>
            <a:endParaRPr lang="en-US" sz="1000" dirty="0"/>
          </a:p>
        </p:txBody>
      </p:sp>
      <p:sp>
        <p:nvSpPr>
          <p:cNvPr id="39" name="Shape 30"/>
          <p:cNvSpPr/>
          <p:nvPr/>
        </p:nvSpPr>
        <p:spPr>
          <a:xfrm>
            <a:off x="6537960" y="2852928"/>
            <a:ext cx="1188720" cy="2057400"/>
          </a:xfrm>
          <a:prstGeom prst="roundRect">
            <a:avLst>
              <a:gd name="adj" fmla="val 7692"/>
            </a:avLst>
          </a:prstGeom>
          <a:ln w="15875">
            <a:solidFill>
              <a:srgbClr val="B7C0BA"/>
            </a:solidFill>
            <a:prstDash val="dash"/>
          </a:ln>
        </p:spPr>
      </p:sp>
      <p:sp>
        <p:nvSpPr>
          <p:cNvPr id="40" name="Shape 31"/>
          <p:cNvSpPr/>
          <p:nvPr/>
        </p:nvSpPr>
        <p:spPr>
          <a:xfrm>
            <a:off x="6611112" y="2944368"/>
            <a:ext cx="1042416" cy="310896"/>
          </a:xfrm>
          <a:prstGeom prst="roundRect">
            <a:avLst>
              <a:gd name="adj" fmla="val 17647"/>
            </a:avLst>
          </a:prstGeom>
          <a:solidFill>
            <a:srgbClr val="F7E1BF"/>
          </a:solidFill>
          <a:ln/>
        </p:spPr>
      </p:sp>
      <p:pic>
        <p:nvPicPr>
          <p:cNvPr id="41" name="Image 7" descr="key C event icon">    </p:cNvPr>
          <p:cNvPicPr>
            <a:picLocks noChangeAspect="1"/>
          </p:cNvPicPr>
          <p:nvPr/>
        </p:nvPicPr>
        <p:blipFill>
          <a:blip r:embed="rId8"/>
          <a:stretch>
            <a:fillRect/>
          </a:stretch>
        </p:blipFill>
        <p:spPr>
          <a:xfrm>
            <a:off x="6675120" y="3008376"/>
            <a:ext cx="182880" cy="182880"/>
          </a:xfrm>
          <a:prstGeom prst="rect">
            <a:avLst/>
          </a:prstGeom>
        </p:spPr>
      </p:pic>
      <p:sp>
        <p:nvSpPr>
          <p:cNvPr id="42" name="Text 32"/>
          <p:cNvSpPr txBox="1"/>
          <p:nvPr/>
        </p:nvSpPr>
        <p:spPr>
          <a:xfrm>
            <a:off x="6903720" y="2944368"/>
            <a:ext cx="731520" cy="310896"/>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key C</a:t>
            </a:r>
            <a:endParaRPr lang="en-US" sz="1050" dirty="0"/>
          </a:p>
        </p:txBody>
      </p:sp>
      <p:sp>
        <p:nvSpPr>
          <p:cNvPr id="43" name="Shape 33"/>
          <p:cNvSpPr/>
          <p:nvPr/>
        </p:nvSpPr>
        <p:spPr>
          <a:xfrm>
            <a:off x="6611112" y="3328416"/>
            <a:ext cx="1042416" cy="310896"/>
          </a:xfrm>
          <a:prstGeom prst="roundRect">
            <a:avLst>
              <a:gd name="adj" fmla="val 17647"/>
            </a:avLst>
          </a:prstGeom>
          <a:solidFill>
            <a:srgbClr val="F7E1BF"/>
          </a:solidFill>
          <a:ln/>
        </p:spPr>
      </p:sp>
      <p:pic>
        <p:nvPicPr>
          <p:cNvPr id="44" name="Image 8" descr="timer event icon">    </p:cNvPr>
          <p:cNvPicPr>
            <a:picLocks noChangeAspect="1"/>
          </p:cNvPicPr>
          <p:nvPr/>
        </p:nvPicPr>
        <p:blipFill>
          <a:blip r:embed="rId9"/>
          <a:stretch>
            <a:fillRect/>
          </a:stretch>
        </p:blipFill>
        <p:spPr>
          <a:xfrm>
            <a:off x="6675120" y="3392424"/>
            <a:ext cx="182880" cy="182880"/>
          </a:xfrm>
          <a:prstGeom prst="rect">
            <a:avLst/>
          </a:prstGeom>
        </p:spPr>
      </p:pic>
      <p:sp>
        <p:nvSpPr>
          <p:cNvPr id="45" name="Text 34"/>
          <p:cNvSpPr txBox="1"/>
          <p:nvPr/>
        </p:nvSpPr>
        <p:spPr>
          <a:xfrm>
            <a:off x="6903720" y="3328416"/>
            <a:ext cx="731520" cy="310896"/>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timer</a:t>
            </a:r>
            <a:endParaRPr lang="en-US" sz="1050" dirty="0"/>
          </a:p>
        </p:txBody>
      </p:sp>
      <p:sp>
        <p:nvSpPr>
          <p:cNvPr id="46" name="Shape 35"/>
          <p:cNvSpPr/>
          <p:nvPr/>
        </p:nvSpPr>
        <p:spPr>
          <a:xfrm>
            <a:off x="6611112" y="3712464"/>
            <a:ext cx="1042416" cy="310896"/>
          </a:xfrm>
          <a:prstGeom prst="roundRect">
            <a:avLst>
              <a:gd name="adj" fmla="val 17647"/>
            </a:avLst>
          </a:prstGeom>
          <a:solidFill>
            <a:srgbClr val="F7E1BF"/>
          </a:solidFill>
          <a:ln/>
        </p:spPr>
      </p:sp>
      <p:pic>
        <p:nvPicPr>
          <p:cNvPr id="47" name="Image 9" descr="door event icon">    </p:cNvPr>
          <p:cNvPicPr>
            <a:picLocks noChangeAspect="1"/>
          </p:cNvPicPr>
          <p:nvPr/>
        </p:nvPicPr>
        <p:blipFill>
          <a:blip r:embed="rId10"/>
          <a:stretch>
            <a:fillRect/>
          </a:stretch>
        </p:blipFill>
        <p:spPr>
          <a:xfrm>
            <a:off x="6675120" y="3776472"/>
            <a:ext cx="182880" cy="182880"/>
          </a:xfrm>
          <a:prstGeom prst="rect">
            <a:avLst/>
          </a:prstGeom>
        </p:spPr>
      </p:pic>
      <p:sp>
        <p:nvSpPr>
          <p:cNvPr id="48" name="Text 36"/>
          <p:cNvSpPr txBox="1"/>
          <p:nvPr/>
        </p:nvSpPr>
        <p:spPr>
          <a:xfrm>
            <a:off x="6903720" y="3712464"/>
            <a:ext cx="731520" cy="310896"/>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door</a:t>
            </a:r>
            <a:endParaRPr lang="en-US" sz="1050" dirty="0"/>
          </a:p>
        </p:txBody>
      </p:sp>
      <p:sp>
        <p:nvSpPr>
          <p:cNvPr id="49" name="Text 37"/>
          <p:cNvSpPr txBox="1"/>
          <p:nvPr/>
        </p:nvSpPr>
        <p:spPr>
          <a:xfrm>
            <a:off x="6537960" y="4160520"/>
            <a:ext cx="1188720" cy="201168"/>
          </a:xfrm>
          <a:prstGeom prst="rect">
            <a:avLst/>
          </a:prstGeom>
          <a:noFill/>
          <a:ln/>
        </p:spPr>
        <p:txBody>
          <a:bodyPr wrap="square" lIns="0" tIns="0" rIns="0" bIns="0" rtlCol="0" anchor="t"/>
          <a:lstStyle/>
          <a:p>
            <a:pPr algn="ctr" indent="0" marL="0">
              <a:buNone/>
            </a:pPr>
            <a:r>
              <a:rPr lang="en-US" sz="950" i="1" dirty="0">
                <a:solidFill>
                  <a:srgbClr val="5F6964"/>
                </a:solidFill>
                <a:latin typeface="Calibri" pitchFamily="34" charset="0"/>
                <a:ea typeface="Calibri" pitchFamily="34" charset="-122"/>
                <a:cs typeface="Calibri" pitchFamily="34" charset="-120"/>
              </a:rPr>
              <a:t>next</a:t>
            </a:r>
            <a:endParaRPr lang="en-US" sz="950" dirty="0"/>
          </a:p>
        </p:txBody>
      </p:sp>
      <p:sp>
        <p:nvSpPr>
          <p:cNvPr id="50" name="Shape 38"/>
          <p:cNvSpPr/>
          <p:nvPr/>
        </p:nvSpPr>
        <p:spPr>
          <a:xfrm>
            <a:off x="7772400" y="3886200"/>
            <a:ext cx="274320" cy="0"/>
          </a:xfrm>
          <a:prstGeom prst="line">
            <a:avLst/>
          </a:prstGeom>
          <a:noFill/>
          <a:ln w="19050">
            <a:solidFill>
              <a:srgbClr val="4A534E"/>
            </a:solidFill>
            <a:prstDash val="solid"/>
            <a:tailEnd type="triangle"/>
          </a:ln>
        </p:spPr>
      </p:sp>
      <p:sp>
        <p:nvSpPr>
          <p:cNvPr id="51" name="Shape 39"/>
          <p:cNvSpPr/>
          <p:nvPr/>
        </p:nvSpPr>
        <p:spPr>
          <a:xfrm>
            <a:off x="8119872" y="3200400"/>
            <a:ext cx="1371600" cy="1371600"/>
          </a:xfrm>
          <a:prstGeom prst="ellipse">
            <a:avLst/>
          </a:prstGeom>
          <a:solidFill>
            <a:srgbClr val="FFFFFF"/>
          </a:solidFill>
          <a:ln w="15875">
            <a:solidFill>
              <a:srgbClr val="B7C0BA"/>
            </a:solidFill>
            <a:prstDash val="solid"/>
          </a:ln>
        </p:spPr>
      </p:sp>
      <p:sp>
        <p:nvSpPr>
          <p:cNvPr id="52" name="Shape 40"/>
          <p:cNvSpPr/>
          <p:nvPr/>
        </p:nvSpPr>
        <p:spPr>
          <a:xfrm>
            <a:off x="8046720" y="3127248"/>
            <a:ext cx="1517904" cy="1517904"/>
          </a:xfrm>
          <a:prstGeom prst="arc">
            <a:avLst>
              <a:gd name="adj1" fmla="val 12000000"/>
              <a:gd name="adj2" fmla="val 9000000"/>
            </a:avLst>
          </a:prstGeom>
          <a:noFill/>
          <a:ln w="38100">
            <a:solidFill>
              <a:srgbClr val="DF8700"/>
            </a:solidFill>
            <a:prstDash val="solid"/>
            <a:tailEnd type="triangle"/>
          </a:ln>
        </p:spPr>
      </p:sp>
      <p:sp>
        <p:nvSpPr>
          <p:cNvPr id="53" name="Text 41"/>
          <p:cNvSpPr txBox="1"/>
          <p:nvPr/>
        </p:nvSpPr>
        <p:spPr>
          <a:xfrm>
            <a:off x="8119872" y="3200400"/>
            <a:ext cx="1371600" cy="1371600"/>
          </a:xfrm>
          <a:prstGeom prst="rect">
            <a:avLst/>
          </a:prstGeom>
          <a:noFill/>
          <a:ln/>
        </p:spPr>
        <p:txBody>
          <a:bodyPr wrap="square" lIns="0" tIns="0" rIns="0" bIns="0" rtlCol="0" anchor="ctr"/>
          <a:lstStyle/>
          <a:p>
            <a:pPr algn="ctr" indent="0" marL="0">
              <a:buNone/>
            </a:pPr>
            <a:r>
              <a:rPr lang="en-US" sz="850" spc="120" kern="0" dirty="0">
                <a:solidFill>
                  <a:srgbClr val="5F6964"/>
                </a:solidFill>
                <a:latin typeface="Calibri" pitchFamily="34" charset="0"/>
                <a:ea typeface="Calibri" pitchFamily="34" charset="-122"/>
                <a:cs typeface="Calibri" pitchFamily="34" charset="-120"/>
              </a:rPr>
              <a:t>EVENT LOOP</a:t>
            </a:r>
            <a:endParaRPr lang="en-US" sz="1400" dirty="0"/>
          </a:p>
          <a:p>
            <a:pPr algn="ctr" indent="0" marL="0">
              <a:buNone/>
            </a:pPr>
            <a:r>
              <a:rPr lang="en-US" sz="1000" dirty="0">
                <a:solidFill>
                  <a:srgbClr val="4A534E"/>
                </a:solidFill>
                <a:latin typeface="Calibri" pitchFamily="34" charset="0"/>
                <a:ea typeface="Calibri" pitchFamily="34" charset="-122"/>
                <a:cs typeface="Calibri" pitchFamily="34" charset="-120"/>
              </a:rPr>
              <a:t>running</a:t>
            </a:r>
            <a:endParaRPr lang="en-US" sz="1400" dirty="0"/>
          </a:p>
          <a:p>
            <a:pPr algn="ctr" indent="0" marL="0">
              <a:buNone/>
            </a:pPr>
            <a:r>
              <a:rPr lang="en-US" sz="1100" b="1" dirty="0">
                <a:solidFill>
                  <a:srgbClr val="1B1F1D"/>
                </a:solidFill>
                <a:latin typeface="Consolas" pitchFamily="34" charset="0"/>
                <a:ea typeface="Consolas" pitchFamily="34" charset="-122"/>
                <a:cs typeface="Consolas" pitchFamily="34" charset="-120"/>
              </a:rPr>
              <a:t>on_click()</a:t>
            </a:r>
            <a:endParaRPr lang="en-US" sz="1400" dirty="0"/>
          </a:p>
        </p:txBody>
      </p:sp>
      <p:sp>
        <p:nvSpPr>
          <p:cNvPr id="54" name="Shape 42"/>
          <p:cNvSpPr/>
          <p:nvPr/>
        </p:nvSpPr>
        <p:spPr>
          <a:xfrm>
            <a:off x="9546336" y="3886200"/>
            <a:ext cx="201168" cy="0"/>
          </a:xfrm>
          <a:prstGeom prst="line">
            <a:avLst/>
          </a:prstGeom>
          <a:noFill/>
          <a:ln w="19050">
            <a:solidFill>
              <a:srgbClr val="4A534E"/>
            </a:solidFill>
            <a:prstDash val="solid"/>
            <a:tailEnd type="triangle"/>
          </a:ln>
        </p:spPr>
      </p:sp>
      <p:sp>
        <p:nvSpPr>
          <p:cNvPr id="55" name="Text 43"/>
          <p:cNvSpPr txBox="1"/>
          <p:nvPr/>
        </p:nvSpPr>
        <p:spPr>
          <a:xfrm>
            <a:off x="9784080" y="2596896"/>
            <a:ext cx="169164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EVENT HANDLERS</a:t>
            </a:r>
            <a:endParaRPr lang="en-US" sz="1000" dirty="0"/>
          </a:p>
        </p:txBody>
      </p:sp>
      <p:sp>
        <p:nvSpPr>
          <p:cNvPr id="56" name="Shape 44"/>
          <p:cNvSpPr/>
          <p:nvPr/>
        </p:nvSpPr>
        <p:spPr>
          <a:xfrm>
            <a:off x="9784080" y="2852928"/>
            <a:ext cx="1673352" cy="457200"/>
          </a:xfrm>
          <a:prstGeom prst="roundRect">
            <a:avLst>
              <a:gd name="adj" fmla="val 14000"/>
            </a:avLst>
          </a:prstGeom>
          <a:solidFill>
            <a:srgbClr val="F7E1BF"/>
          </a:solidFill>
          <a:ln w="19050">
            <a:solidFill>
              <a:srgbClr val="DF8700"/>
            </a:solidFill>
            <a:prstDash val="solid"/>
          </a:ln>
        </p:spPr>
      </p:sp>
      <p:sp>
        <p:nvSpPr>
          <p:cNvPr id="57" name="Text 45"/>
          <p:cNvSpPr txBox="1"/>
          <p:nvPr/>
        </p:nvSpPr>
        <p:spPr>
          <a:xfrm>
            <a:off x="9893808" y="2852928"/>
            <a:ext cx="1517904" cy="457200"/>
          </a:xfrm>
          <a:prstGeom prst="rect">
            <a:avLst/>
          </a:prstGeom>
          <a:noFill/>
          <a:ln/>
        </p:spPr>
        <p:txBody>
          <a:bodyPr wrap="square" lIns="0" tIns="0" rIns="0" bIns="0" rtlCol="0" anchor="ctr"/>
          <a:lstStyle/>
          <a:p>
            <a:pPr indent="0" marL="0">
              <a:buNone/>
            </a:pPr>
            <a:r>
              <a:rPr lang="en-US" sz="1050" b="1" dirty="0">
                <a:solidFill>
                  <a:srgbClr val="1B1F1D"/>
                </a:solidFill>
                <a:latin typeface="Consolas" pitchFamily="34" charset="0"/>
                <a:ea typeface="Consolas" pitchFamily="34" charset="-122"/>
                <a:cs typeface="Consolas" pitchFamily="34" charset="-120"/>
              </a:rPr>
              <a:t>on_click()</a:t>
            </a:r>
            <a:endParaRPr lang="en-US" sz="1400" dirty="0"/>
          </a:p>
          <a:p>
            <a:pPr indent="0" marL="0">
              <a:buNone/>
            </a:pPr>
            <a:r>
              <a:rPr lang="en-US" sz="950" dirty="0">
                <a:solidFill>
                  <a:srgbClr val="4A534E"/>
                </a:solidFill>
                <a:latin typeface="Calibri" pitchFamily="34" charset="0"/>
                <a:ea typeface="Calibri" pitchFamily="34" charset="-122"/>
                <a:cs typeface="Calibri" pitchFamily="34" charset="-120"/>
              </a:rPr>
              <a:t>add a croissant</a:t>
            </a:r>
            <a:endParaRPr lang="en-US" sz="1400" dirty="0"/>
          </a:p>
        </p:txBody>
      </p:sp>
      <p:sp>
        <p:nvSpPr>
          <p:cNvPr id="58" name="Shape 46"/>
          <p:cNvSpPr/>
          <p:nvPr/>
        </p:nvSpPr>
        <p:spPr>
          <a:xfrm>
            <a:off x="9784080" y="3383280"/>
            <a:ext cx="1673352" cy="457200"/>
          </a:xfrm>
          <a:prstGeom prst="roundRect">
            <a:avLst>
              <a:gd name="adj" fmla="val 14000"/>
            </a:avLst>
          </a:prstGeom>
          <a:solidFill>
            <a:srgbClr val="FFFFFF"/>
          </a:solidFill>
          <a:ln w="12700">
            <a:solidFill>
              <a:srgbClr val="DFE3DE"/>
            </a:solidFill>
            <a:prstDash val="solid"/>
          </a:ln>
        </p:spPr>
      </p:sp>
      <p:sp>
        <p:nvSpPr>
          <p:cNvPr id="59" name="Text 47"/>
          <p:cNvSpPr txBox="1"/>
          <p:nvPr/>
        </p:nvSpPr>
        <p:spPr>
          <a:xfrm>
            <a:off x="9893808" y="3383280"/>
            <a:ext cx="1517904" cy="457200"/>
          </a:xfrm>
          <a:prstGeom prst="rect">
            <a:avLst/>
          </a:prstGeom>
          <a:noFill/>
          <a:ln/>
        </p:spPr>
        <p:txBody>
          <a:bodyPr wrap="square" lIns="0" tIns="0" rIns="0" bIns="0" rtlCol="0" anchor="ctr"/>
          <a:lstStyle/>
          <a:p>
            <a:pPr indent="0" marL="0">
              <a:buNone/>
            </a:pPr>
            <a:r>
              <a:rPr lang="en-US" sz="1050" b="1" dirty="0">
                <a:solidFill>
                  <a:srgbClr val="1B1F1D"/>
                </a:solidFill>
                <a:latin typeface="Consolas" pitchFamily="34" charset="0"/>
                <a:ea typeface="Consolas" pitchFamily="34" charset="-122"/>
                <a:cs typeface="Consolas" pitchFamily="34" charset="-120"/>
              </a:rPr>
              <a:t>on_key()</a:t>
            </a:r>
            <a:endParaRPr lang="en-US" sz="1400" dirty="0"/>
          </a:p>
          <a:p>
            <a:pPr indent="0" marL="0">
              <a:buNone/>
            </a:pPr>
            <a:r>
              <a:rPr lang="en-US" sz="950" dirty="0">
                <a:solidFill>
                  <a:srgbClr val="4A534E"/>
                </a:solidFill>
                <a:latin typeface="Calibri" pitchFamily="34" charset="0"/>
                <a:ea typeface="Calibri" pitchFamily="34" charset="-122"/>
                <a:cs typeface="Calibri" pitchFamily="34" charset="-120"/>
              </a:rPr>
              <a:t>clear the basket</a:t>
            </a:r>
            <a:endParaRPr lang="en-US" sz="1400" dirty="0"/>
          </a:p>
        </p:txBody>
      </p:sp>
      <p:sp>
        <p:nvSpPr>
          <p:cNvPr id="60" name="Shape 48"/>
          <p:cNvSpPr/>
          <p:nvPr/>
        </p:nvSpPr>
        <p:spPr>
          <a:xfrm>
            <a:off x="9784080" y="3913632"/>
            <a:ext cx="1673352" cy="457200"/>
          </a:xfrm>
          <a:prstGeom prst="roundRect">
            <a:avLst>
              <a:gd name="adj" fmla="val 14000"/>
            </a:avLst>
          </a:prstGeom>
          <a:solidFill>
            <a:srgbClr val="FFFFFF"/>
          </a:solidFill>
          <a:ln w="12700">
            <a:solidFill>
              <a:srgbClr val="DFE3DE"/>
            </a:solidFill>
            <a:prstDash val="solid"/>
          </a:ln>
        </p:spPr>
      </p:sp>
      <p:sp>
        <p:nvSpPr>
          <p:cNvPr id="61" name="Text 49"/>
          <p:cNvSpPr txBox="1"/>
          <p:nvPr/>
        </p:nvSpPr>
        <p:spPr>
          <a:xfrm>
            <a:off x="9893808" y="3913632"/>
            <a:ext cx="1517904" cy="457200"/>
          </a:xfrm>
          <a:prstGeom prst="rect">
            <a:avLst/>
          </a:prstGeom>
          <a:noFill/>
          <a:ln/>
        </p:spPr>
        <p:txBody>
          <a:bodyPr wrap="square" lIns="0" tIns="0" rIns="0" bIns="0" rtlCol="0" anchor="ctr"/>
          <a:lstStyle/>
          <a:p>
            <a:pPr indent="0" marL="0">
              <a:buNone/>
            </a:pPr>
            <a:r>
              <a:rPr lang="en-US" sz="1050" b="1" dirty="0">
                <a:solidFill>
                  <a:srgbClr val="1B1F1D"/>
                </a:solidFill>
                <a:latin typeface="Consolas" pitchFamily="34" charset="0"/>
                <a:ea typeface="Consolas" pitchFamily="34" charset="-122"/>
                <a:cs typeface="Consolas" pitchFamily="34" charset="-120"/>
              </a:rPr>
              <a:t>on_timer()</a:t>
            </a:r>
            <a:endParaRPr lang="en-US" sz="1400" dirty="0"/>
          </a:p>
          <a:p>
            <a:pPr indent="0" marL="0">
              <a:buNone/>
            </a:pPr>
            <a:r>
              <a:rPr lang="en-US" sz="950" dirty="0">
                <a:solidFill>
                  <a:srgbClr val="4A534E"/>
                </a:solidFill>
                <a:latin typeface="Calibri" pitchFamily="34" charset="0"/>
                <a:ea typeface="Calibri" pitchFamily="34" charset="-122"/>
                <a:cs typeface="Calibri" pitchFamily="34" charset="-120"/>
              </a:rPr>
              <a:t>update the clock</a:t>
            </a:r>
            <a:endParaRPr lang="en-US" sz="1400" dirty="0"/>
          </a:p>
        </p:txBody>
      </p:sp>
      <p:sp>
        <p:nvSpPr>
          <p:cNvPr id="62" name="Shape 50"/>
          <p:cNvSpPr/>
          <p:nvPr/>
        </p:nvSpPr>
        <p:spPr>
          <a:xfrm>
            <a:off x="9784080" y="4443984"/>
            <a:ext cx="1673352" cy="457200"/>
          </a:xfrm>
          <a:prstGeom prst="roundRect">
            <a:avLst>
              <a:gd name="adj" fmla="val 14000"/>
            </a:avLst>
          </a:prstGeom>
          <a:solidFill>
            <a:srgbClr val="FFFFFF"/>
          </a:solidFill>
          <a:ln w="12700">
            <a:solidFill>
              <a:srgbClr val="DFE3DE"/>
            </a:solidFill>
            <a:prstDash val="solid"/>
          </a:ln>
        </p:spPr>
      </p:sp>
      <p:sp>
        <p:nvSpPr>
          <p:cNvPr id="63" name="Text 51"/>
          <p:cNvSpPr txBox="1"/>
          <p:nvPr/>
        </p:nvSpPr>
        <p:spPr>
          <a:xfrm>
            <a:off x="9893808" y="4443984"/>
            <a:ext cx="1517904" cy="457200"/>
          </a:xfrm>
          <a:prstGeom prst="rect">
            <a:avLst/>
          </a:prstGeom>
          <a:noFill/>
          <a:ln/>
        </p:spPr>
        <p:txBody>
          <a:bodyPr wrap="square" lIns="0" tIns="0" rIns="0" bIns="0" rtlCol="0" anchor="ctr"/>
          <a:lstStyle/>
          <a:p>
            <a:pPr indent="0" marL="0">
              <a:buNone/>
            </a:pPr>
            <a:r>
              <a:rPr lang="en-US" sz="1050" b="1" dirty="0">
                <a:solidFill>
                  <a:srgbClr val="1B1F1D"/>
                </a:solidFill>
                <a:latin typeface="Consolas" pitchFamily="34" charset="0"/>
                <a:ea typeface="Consolas" pitchFamily="34" charset="-122"/>
                <a:cs typeface="Consolas" pitchFamily="34" charset="-120"/>
              </a:rPr>
              <a:t>on_sensor()</a:t>
            </a:r>
            <a:endParaRPr lang="en-US" sz="1400" dirty="0"/>
          </a:p>
          <a:p>
            <a:pPr indent="0" marL="0">
              <a:buNone/>
            </a:pPr>
            <a:r>
              <a:rPr lang="en-US" sz="950" dirty="0">
                <a:solidFill>
                  <a:srgbClr val="4A534E"/>
                </a:solidFill>
                <a:latin typeface="Calibri" pitchFamily="34" charset="0"/>
                <a:ea typeface="Calibri" pitchFamily="34" charset="-122"/>
                <a:cs typeface="Calibri" pitchFamily="34" charset="-120"/>
              </a:rPr>
              <a:t>ring the shop bell</a:t>
            </a:r>
            <a:endParaRPr lang="en-US" sz="1400" dirty="0"/>
          </a:p>
        </p:txBody>
      </p:sp>
      <p:sp>
        <p:nvSpPr>
          <p:cNvPr id="64" name="Shape 52"/>
          <p:cNvSpPr/>
          <p:nvPr/>
        </p:nvSpPr>
        <p:spPr>
          <a:xfrm>
            <a:off x="6537960" y="5074920"/>
            <a:ext cx="4919472" cy="329184"/>
          </a:xfrm>
          <a:prstGeom prst="roundRect">
            <a:avLst>
              <a:gd name="adj" fmla="val 19444"/>
            </a:avLst>
          </a:prstGeom>
          <a:solidFill>
            <a:srgbClr val="FCF5EB"/>
          </a:solidFill>
          <a:ln w="12700">
            <a:solidFill>
              <a:srgbClr val="F7E1BF"/>
            </a:solidFill>
            <a:prstDash val="solid"/>
          </a:ln>
        </p:spPr>
      </p:sp>
      <p:sp>
        <p:nvSpPr>
          <p:cNvPr id="65" name="Text 53"/>
          <p:cNvSpPr txBox="1"/>
          <p:nvPr/>
        </p:nvSpPr>
        <p:spPr>
          <a:xfrm>
            <a:off x="6675120" y="5074920"/>
            <a:ext cx="46634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Mouse click  →  on_click() runs: a croissant is added</a:t>
            </a:r>
            <a:endParaRPr lang="en-US" sz="1050" dirty="0"/>
          </a:p>
        </p:txBody>
      </p:sp>
      <p:sp>
        <p:nvSpPr>
          <p:cNvPr id="66" name="Text 54"/>
          <p:cNvSpPr txBox="1"/>
          <p:nvPr/>
        </p:nvSpPr>
        <p:spPr>
          <a:xfrm>
            <a:off x="6537960" y="5532120"/>
            <a:ext cx="4919472" cy="502920"/>
          </a:xfrm>
          <a:prstGeom prst="rect">
            <a:avLst/>
          </a:prstGeom>
          <a:noFill/>
          <a:ln/>
        </p:spPr>
        <p:txBody>
          <a:bodyPr wrap="square" lIns="0" tIns="0" rIns="0" bIns="0" rtlCol="0" anchor="t"/>
          <a:lstStyle/>
          <a:p>
            <a:pPr indent="0" marL="0">
              <a:buNone/>
            </a:pPr>
            <a:r>
              <a:rPr lang="en-US" sz="1150" dirty="0">
                <a:solidFill>
                  <a:srgbClr val="4A534E"/>
                </a:solidFill>
                <a:latin typeface="Calibri" pitchFamily="34" charset="0"/>
                <a:ea typeface="Calibri" pitchFamily="34" charset="-122"/>
                <a:cs typeface="Calibri" pitchFamily="34" charset="-120"/>
              </a:rPr>
              <a:t>Events wait in the queue and the loop handles them one at a time, in the order they arrived.</a:t>
            </a:r>
            <a:endParaRPr lang="en-US" sz="1150" dirty="0"/>
          </a:p>
        </p:txBody>
      </p:sp>
      <p:sp>
        <p:nvSpPr>
          <p:cNvPr id="67" name="Text 55"/>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F7E1BF"/>
          </a:solidFill>
          <a:ln w="25400">
            <a:solidFill>
              <a:srgbClr val="DF8700"/>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3</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EVENT-DRIVEN · CODE EXAMPLE</a:t>
            </a:r>
            <a:endParaRPr lang="en-US" sz="1100" dirty="0"/>
          </a:p>
        </p:txBody>
      </p:sp>
      <p:sp>
        <p:nvSpPr>
          <p:cNvPr id="5" name="Text 3"/>
          <p:cNvSpPr txBox="1"/>
          <p:nvPr/>
        </p:nvSpPr>
        <p:spPr>
          <a:xfrm>
            <a:off x="548640" y="731520"/>
            <a:ext cx="9144000"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Example: a bakery till with a button</a:t>
            </a:r>
            <a:endParaRPr lang="en-US" sz="3200" dirty="0"/>
          </a:p>
        </p:txBody>
      </p:sp>
      <p:sp>
        <p:nvSpPr>
          <p:cNvPr id="6" name="Shape 4"/>
          <p:cNvSpPr/>
          <p:nvPr/>
        </p:nvSpPr>
        <p:spPr>
          <a:xfrm>
            <a:off x="10189159" y="932688"/>
            <a:ext cx="1261872" cy="0"/>
          </a:xfrm>
          <a:prstGeom prst="line">
            <a:avLst/>
          </a:prstGeom>
          <a:noFill/>
          <a:ln w="19050">
            <a:solidFill>
              <a:srgbClr val="B7C0BA"/>
            </a:solidFill>
            <a:prstDash val="solid"/>
          </a:ln>
        </p:spPr>
      </p:sp>
      <p:sp>
        <p:nvSpPr>
          <p:cNvPr id="7" name="Shape 5"/>
          <p:cNvSpPr/>
          <p:nvPr/>
        </p:nvSpPr>
        <p:spPr>
          <a:xfrm>
            <a:off x="9997135" y="740664"/>
            <a:ext cx="384048" cy="384048"/>
          </a:xfrm>
          <a:prstGeom prst="ellipse">
            <a:avLst/>
          </a:prstGeom>
          <a:solidFill>
            <a:srgbClr val="FFFFFF"/>
          </a:solidFill>
          <a:ln w="22225">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10089307" y="832836"/>
            <a:ext cx="199705" cy="199705"/>
          </a:xfrm>
          <a:prstGeom prst="rect">
            <a:avLst/>
          </a:prstGeom>
        </p:spPr>
      </p:pic>
      <p:sp>
        <p:nvSpPr>
          <p:cNvPr id="9" name="Shape 6"/>
          <p:cNvSpPr/>
          <p:nvPr/>
        </p:nvSpPr>
        <p:spPr>
          <a:xfrm>
            <a:off x="10564063" y="676656"/>
            <a:ext cx="512064" cy="512064"/>
          </a:xfrm>
          <a:prstGeom prst="ellipse">
            <a:avLst/>
          </a:prstGeom>
          <a:solidFill>
            <a:srgbClr val="F7E1BF"/>
          </a:solidFill>
          <a:ln w="31750">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10686959" y="799551"/>
            <a:ext cx="266273" cy="266273"/>
          </a:xfrm>
          <a:prstGeom prst="rect">
            <a:avLst/>
          </a:prstGeom>
        </p:spPr>
      </p:pic>
      <p:sp>
        <p:nvSpPr>
          <p:cNvPr id="11" name="Shape 7"/>
          <p:cNvSpPr/>
          <p:nvPr/>
        </p:nvSpPr>
        <p:spPr>
          <a:xfrm>
            <a:off x="11259007" y="740664"/>
            <a:ext cx="384048" cy="384048"/>
          </a:xfrm>
          <a:prstGeom prst="ellipse">
            <a:avLst/>
          </a:prstGeom>
          <a:solidFill>
            <a:srgbClr val="FFFFFF"/>
          </a:solidFill>
          <a:ln w="22225">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11351179" y="832836"/>
            <a:ext cx="199705" cy="199705"/>
          </a:xfrm>
          <a:prstGeom prst="rect">
            <a:avLst/>
          </a:prstGeom>
        </p:spPr>
      </p:pic>
      <p:sp>
        <p:nvSpPr>
          <p:cNvPr id="13" name="Shape 8"/>
          <p:cNvSpPr/>
          <p:nvPr/>
        </p:nvSpPr>
        <p:spPr>
          <a:xfrm>
            <a:off x="548640" y="1554480"/>
            <a:ext cx="6172200" cy="4654296"/>
          </a:xfrm>
          <a:prstGeom prst="roundRect">
            <a:avLst>
              <a:gd name="adj" fmla="val 1572"/>
            </a:avLst>
          </a:prstGeom>
          <a:solidFill>
            <a:srgbClr val="FBFCFA"/>
          </a:solidFill>
          <a:ln/>
          <a:effectLst>
            <a:outerShdw sx="100000" sy="100000" kx="0" ky="0" algn="bl" rotWithShape="0" blurRad="101600" dist="25400" dir="5400000">
              <a:srgbClr val="000000">
                <a:alpha val="14000"/>
              </a:srgbClr>
            </a:outerShdw>
          </a:effectLst>
        </p:spPr>
      </p:sp>
      <p:sp>
        <p:nvSpPr>
          <p:cNvPr id="14" name="Shape 9"/>
          <p:cNvSpPr/>
          <p:nvPr/>
        </p:nvSpPr>
        <p:spPr>
          <a:xfrm>
            <a:off x="548640" y="1554480"/>
            <a:ext cx="6172200" cy="438912"/>
          </a:xfrm>
          <a:prstGeom prst="roundRect">
            <a:avLst>
              <a:gd name="adj" fmla="val 16667"/>
            </a:avLst>
          </a:prstGeom>
          <a:solidFill>
            <a:srgbClr val="FAEEDB"/>
          </a:solidFill>
          <a:ln/>
        </p:spPr>
      </p:sp>
      <p:sp>
        <p:nvSpPr>
          <p:cNvPr id="15" name="Shape 10"/>
          <p:cNvSpPr/>
          <p:nvPr/>
        </p:nvSpPr>
        <p:spPr>
          <a:xfrm>
            <a:off x="548640" y="1883664"/>
            <a:ext cx="6172200" cy="109728"/>
          </a:xfrm>
          <a:prstGeom prst="rect">
            <a:avLst/>
          </a:prstGeom>
          <a:solidFill>
            <a:srgbClr val="FBFCFA"/>
          </a:solidFill>
          <a:ln/>
        </p:spPr>
      </p:sp>
      <p:sp>
        <p:nvSpPr>
          <p:cNvPr id="16" name="Shape 11"/>
          <p:cNvSpPr/>
          <p:nvPr/>
        </p:nvSpPr>
        <p:spPr>
          <a:xfrm>
            <a:off x="548640" y="1883664"/>
            <a:ext cx="6172200" cy="0"/>
          </a:xfrm>
          <a:prstGeom prst="line">
            <a:avLst/>
          </a:prstGeom>
          <a:noFill/>
          <a:ln w="9525">
            <a:solidFill>
              <a:srgbClr val="DFE3DE"/>
            </a:solidFill>
            <a:prstDash val="solid"/>
          </a:ln>
        </p:spPr>
      </p:sp>
      <p:sp>
        <p:nvSpPr>
          <p:cNvPr id="17" name="Shape 12"/>
          <p:cNvSpPr/>
          <p:nvPr/>
        </p:nvSpPr>
        <p:spPr>
          <a:xfrm>
            <a:off x="704088" y="1664208"/>
            <a:ext cx="109728" cy="109728"/>
          </a:xfrm>
          <a:prstGeom prst="ellipse">
            <a:avLst/>
          </a:prstGeom>
          <a:solidFill>
            <a:srgbClr val="DF8700"/>
          </a:solidFill>
          <a:ln/>
        </p:spPr>
      </p:sp>
      <p:sp>
        <p:nvSpPr>
          <p:cNvPr id="18" name="Text 13"/>
          <p:cNvSpPr txBox="1"/>
          <p:nvPr/>
        </p:nvSpPr>
        <p:spPr>
          <a:xfrm>
            <a:off x="896112" y="1554480"/>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till_events.py</a:t>
            </a:r>
            <a:endParaRPr lang="en-US" sz="1050" dirty="0"/>
          </a:p>
        </p:txBody>
      </p:sp>
      <p:sp>
        <p:nvSpPr>
          <p:cNvPr id="19" name="Text 14"/>
          <p:cNvSpPr txBox="1"/>
          <p:nvPr/>
        </p:nvSpPr>
        <p:spPr>
          <a:xfrm>
            <a:off x="3703320" y="1554480"/>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Python 3 · tkinter</a:t>
            </a:r>
            <a:endParaRPr lang="en-US" sz="1050" dirty="0"/>
          </a:p>
        </p:txBody>
      </p:sp>
      <p:sp>
        <p:nvSpPr>
          <p:cNvPr id="20" name="Shape 15"/>
          <p:cNvSpPr/>
          <p:nvPr/>
        </p:nvSpPr>
        <p:spPr>
          <a:xfrm>
            <a:off x="576072" y="2660904"/>
            <a:ext cx="6117336" cy="171450"/>
          </a:xfrm>
          <a:prstGeom prst="rect">
            <a:avLst/>
          </a:prstGeom>
          <a:solidFill>
            <a:srgbClr val="FAEEDB"/>
          </a:solidFill>
          <a:ln/>
        </p:spPr>
      </p:sp>
      <p:sp>
        <p:nvSpPr>
          <p:cNvPr id="21" name="Shape 16"/>
          <p:cNvSpPr/>
          <p:nvPr/>
        </p:nvSpPr>
        <p:spPr>
          <a:xfrm>
            <a:off x="576072" y="2832354"/>
            <a:ext cx="6117336" cy="171450"/>
          </a:xfrm>
          <a:prstGeom prst="rect">
            <a:avLst/>
          </a:prstGeom>
          <a:solidFill>
            <a:srgbClr val="FAEEDB"/>
          </a:solidFill>
          <a:ln/>
        </p:spPr>
      </p:sp>
      <p:sp>
        <p:nvSpPr>
          <p:cNvPr id="22" name="Shape 17"/>
          <p:cNvSpPr/>
          <p:nvPr/>
        </p:nvSpPr>
        <p:spPr>
          <a:xfrm>
            <a:off x="576072" y="3003804"/>
            <a:ext cx="6117336" cy="171450"/>
          </a:xfrm>
          <a:prstGeom prst="rect">
            <a:avLst/>
          </a:prstGeom>
          <a:solidFill>
            <a:srgbClr val="FAEEDB"/>
          </a:solidFill>
          <a:ln/>
        </p:spPr>
      </p:sp>
      <p:sp>
        <p:nvSpPr>
          <p:cNvPr id="23" name="Shape 18"/>
          <p:cNvSpPr/>
          <p:nvPr/>
        </p:nvSpPr>
        <p:spPr>
          <a:xfrm>
            <a:off x="576072" y="3175254"/>
            <a:ext cx="6117336" cy="171450"/>
          </a:xfrm>
          <a:prstGeom prst="rect">
            <a:avLst/>
          </a:prstGeom>
          <a:solidFill>
            <a:srgbClr val="FAEEDB"/>
          </a:solidFill>
          <a:ln/>
        </p:spPr>
      </p:sp>
      <p:sp>
        <p:nvSpPr>
          <p:cNvPr id="24" name="Shape 19"/>
          <p:cNvSpPr/>
          <p:nvPr/>
        </p:nvSpPr>
        <p:spPr>
          <a:xfrm>
            <a:off x="576072" y="3518154"/>
            <a:ext cx="6117336" cy="171450"/>
          </a:xfrm>
          <a:prstGeom prst="rect">
            <a:avLst/>
          </a:prstGeom>
          <a:solidFill>
            <a:srgbClr val="FAEEDB"/>
          </a:solidFill>
          <a:ln/>
        </p:spPr>
      </p:sp>
      <p:sp>
        <p:nvSpPr>
          <p:cNvPr id="25" name="Shape 20"/>
          <p:cNvSpPr/>
          <p:nvPr/>
        </p:nvSpPr>
        <p:spPr>
          <a:xfrm>
            <a:off x="576072" y="3689604"/>
            <a:ext cx="6117336" cy="171450"/>
          </a:xfrm>
          <a:prstGeom prst="rect">
            <a:avLst/>
          </a:prstGeom>
          <a:solidFill>
            <a:srgbClr val="FAEEDB"/>
          </a:solidFill>
          <a:ln/>
        </p:spPr>
      </p:sp>
      <p:sp>
        <p:nvSpPr>
          <p:cNvPr id="26" name="Shape 21"/>
          <p:cNvSpPr/>
          <p:nvPr/>
        </p:nvSpPr>
        <p:spPr>
          <a:xfrm>
            <a:off x="576072" y="3861054"/>
            <a:ext cx="6117336" cy="171450"/>
          </a:xfrm>
          <a:prstGeom prst="rect">
            <a:avLst/>
          </a:prstGeom>
          <a:solidFill>
            <a:srgbClr val="FAEEDB"/>
          </a:solidFill>
          <a:ln/>
        </p:spPr>
      </p:sp>
      <p:sp>
        <p:nvSpPr>
          <p:cNvPr id="27" name="Shape 22"/>
          <p:cNvSpPr/>
          <p:nvPr/>
        </p:nvSpPr>
        <p:spPr>
          <a:xfrm>
            <a:off x="576072" y="4032504"/>
            <a:ext cx="6117336" cy="171450"/>
          </a:xfrm>
          <a:prstGeom prst="rect">
            <a:avLst/>
          </a:prstGeom>
          <a:solidFill>
            <a:srgbClr val="FAEEDB"/>
          </a:solidFill>
          <a:ln/>
        </p:spPr>
      </p:sp>
      <p:sp>
        <p:nvSpPr>
          <p:cNvPr id="28" name="Shape 23"/>
          <p:cNvSpPr/>
          <p:nvPr/>
        </p:nvSpPr>
        <p:spPr>
          <a:xfrm>
            <a:off x="576072" y="5061204"/>
            <a:ext cx="6117336" cy="171450"/>
          </a:xfrm>
          <a:prstGeom prst="rect">
            <a:avLst/>
          </a:prstGeom>
          <a:solidFill>
            <a:srgbClr val="FAEEDB"/>
          </a:solidFill>
          <a:ln/>
        </p:spPr>
      </p:sp>
      <p:sp>
        <p:nvSpPr>
          <p:cNvPr id="29" name="Shape 24"/>
          <p:cNvSpPr/>
          <p:nvPr/>
        </p:nvSpPr>
        <p:spPr>
          <a:xfrm>
            <a:off x="576072" y="5232654"/>
            <a:ext cx="6117336" cy="171450"/>
          </a:xfrm>
          <a:prstGeom prst="rect">
            <a:avLst/>
          </a:prstGeom>
          <a:solidFill>
            <a:srgbClr val="FAEEDB"/>
          </a:solidFill>
          <a:ln/>
        </p:spPr>
      </p:sp>
      <p:sp>
        <p:nvSpPr>
          <p:cNvPr id="30" name="Shape 25"/>
          <p:cNvSpPr/>
          <p:nvPr/>
        </p:nvSpPr>
        <p:spPr>
          <a:xfrm>
            <a:off x="576072" y="5575554"/>
            <a:ext cx="6117336" cy="171450"/>
          </a:xfrm>
          <a:prstGeom prst="rect">
            <a:avLst/>
          </a:prstGeom>
          <a:solidFill>
            <a:srgbClr val="FAEEDB"/>
          </a:solidFill>
          <a:ln/>
        </p:spPr>
      </p:sp>
      <p:sp>
        <p:nvSpPr>
          <p:cNvPr id="31" name="Shape 26"/>
          <p:cNvSpPr/>
          <p:nvPr/>
        </p:nvSpPr>
        <p:spPr>
          <a:xfrm>
            <a:off x="576072" y="5918454"/>
            <a:ext cx="6117336" cy="171450"/>
          </a:xfrm>
          <a:prstGeom prst="rect">
            <a:avLst/>
          </a:prstGeom>
          <a:solidFill>
            <a:srgbClr val="F7E1BF"/>
          </a:solidFill>
          <a:ln/>
        </p:spPr>
      </p:sp>
      <p:sp>
        <p:nvSpPr>
          <p:cNvPr id="32" name="Text 27"/>
          <p:cNvSpPr txBox="1"/>
          <p:nvPr/>
        </p:nvSpPr>
        <p:spPr>
          <a:xfrm>
            <a:off x="694944" y="1975104"/>
            <a:ext cx="5952744" cy="4114800"/>
          </a:xfrm>
          <a:prstGeom prst="rect">
            <a:avLst/>
          </a:prstGeom>
          <a:noFill/>
          <a:ln/>
        </p:spPr>
        <p:txBody>
          <a:bodyPr wrap="square" lIns="0" tIns="0" rIns="0" bIns="0" rtlCol="0" anchor="t"/>
          <a:lstStyle/>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1  </a:t>
            </a:r>
            <a:r>
              <a:rPr lang="en-US" sz="1050" b="1" dirty="0">
                <a:solidFill>
                  <a:srgbClr val="B8323A"/>
                </a:solidFill>
                <a:latin typeface="Consolas" pitchFamily="34" charset="0"/>
                <a:ea typeface="Consolas" pitchFamily="34" charset="-122"/>
                <a:cs typeface="Consolas" pitchFamily="34" charset="-120"/>
              </a:rPr>
              <a:t>import</a:t>
            </a:r>
            <a:r>
              <a:rPr lang="en-US" sz="1050" dirty="0">
                <a:solidFill>
                  <a:srgbClr val="1B1F1D"/>
                </a:solidFill>
                <a:latin typeface="Consolas" pitchFamily="34" charset="0"/>
                <a:ea typeface="Consolas" pitchFamily="34" charset="-122"/>
                <a:cs typeface="Consolas" pitchFamily="34" charset="-120"/>
              </a:rPr>
              <a:t> tkinter </a:t>
            </a:r>
            <a:r>
              <a:rPr lang="en-US" sz="1050" b="1" dirty="0">
                <a:solidFill>
                  <a:srgbClr val="B8323A"/>
                </a:solidFill>
                <a:latin typeface="Consolas" pitchFamily="34" charset="0"/>
                <a:ea typeface="Consolas" pitchFamily="34" charset="-122"/>
                <a:cs typeface="Consolas" pitchFamily="34" charset="-120"/>
              </a:rPr>
              <a:t>as</a:t>
            </a:r>
            <a:r>
              <a:rPr lang="en-US" sz="1050" dirty="0">
                <a:solidFill>
                  <a:srgbClr val="1B1F1D"/>
                </a:solidFill>
                <a:latin typeface="Consolas" pitchFamily="34" charset="0"/>
                <a:ea typeface="Consolas" pitchFamily="34" charset="-122"/>
                <a:cs typeface="Consolas" pitchFamily="34" charset="-120"/>
              </a:rPr>
              <a:t> tk</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2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3  </a:t>
            </a:r>
            <a:r>
              <a:rPr lang="en-US" sz="1050" dirty="0">
                <a:solidFill>
                  <a:srgbClr val="1B1F1D"/>
                </a:solidFill>
                <a:latin typeface="Consolas" pitchFamily="34" charset="0"/>
                <a:ea typeface="Consolas" pitchFamily="34" charset="-122"/>
                <a:cs typeface="Consolas" pitchFamily="34" charset="-120"/>
              </a:rPr>
              <a:t>total = </a:t>
            </a:r>
            <a:r>
              <a:rPr lang="en-US" sz="1050" dirty="0">
                <a:solidFill>
                  <a:srgbClr val="A35A00"/>
                </a:solidFill>
                <a:latin typeface="Consolas" pitchFamily="34" charset="0"/>
                <a:ea typeface="Consolas" pitchFamily="34" charset="-122"/>
                <a:cs typeface="Consolas" pitchFamily="34" charset="-120"/>
              </a:rPr>
              <a:t>0</a:t>
            </a:r>
            <a:r>
              <a:rPr lang="en-US" sz="1050" dirty="0">
                <a:solidFill>
                  <a:srgbClr val="1B1F1D"/>
                </a:solidFill>
                <a:latin typeface="Consolas" pitchFamily="34" charset="0"/>
                <a:ea typeface="Consolas" pitchFamily="34" charset="-122"/>
                <a:cs typeface="Consolas" pitchFamily="34" charset="-120"/>
              </a:rPr>
              <a:t>                            </a:t>
            </a:r>
            <a:r>
              <a:rPr lang="en-US" sz="1050" i="1" dirty="0">
                <a:solidFill>
                  <a:srgbClr val="4A534E"/>
                </a:solidFill>
                <a:latin typeface="Consolas" pitchFamily="34" charset="0"/>
                <a:ea typeface="Consolas" pitchFamily="34" charset="-122"/>
                <a:cs typeface="Consolas" pitchFamily="34" charset="-120"/>
              </a:rPr>
              <a:t># a global variable</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4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5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add_croissant</a:t>
            </a:r>
            <a:r>
              <a:rPr lang="en-US" sz="1050" dirty="0">
                <a:solidFill>
                  <a:srgbClr val="1B1F1D"/>
                </a:solidFill>
                <a:latin typeface="Consolas" pitchFamily="34" charset="0"/>
                <a:ea typeface="Consolas" pitchFamily="34" charset="-122"/>
                <a:cs typeface="Consolas" pitchFamily="34" charset="-120"/>
              </a:rPr>
              <a:t>():                 </a:t>
            </a:r>
            <a:r>
              <a:rPr lang="en-US" sz="1050" i="1" dirty="0">
                <a:solidFill>
                  <a:srgbClr val="4A534E"/>
                </a:solidFill>
                <a:latin typeface="Consolas" pitchFamily="34" charset="0"/>
                <a:ea typeface="Consolas" pitchFamily="34" charset="-122"/>
                <a:cs typeface="Consolas" pitchFamily="34" charset="-120"/>
              </a:rPr>
              <a:t># event handler</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6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global</a:t>
            </a:r>
            <a:r>
              <a:rPr lang="en-US" sz="1050" dirty="0">
                <a:solidFill>
                  <a:srgbClr val="1B1F1D"/>
                </a:solidFill>
                <a:latin typeface="Consolas" pitchFamily="34" charset="0"/>
                <a:ea typeface="Consolas" pitchFamily="34" charset="-122"/>
                <a:cs typeface="Consolas" pitchFamily="34" charset="-120"/>
              </a:rPr>
              <a:t> total</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7  </a:t>
            </a:r>
            <a:r>
              <a:rPr lang="en-US" sz="1050" dirty="0">
                <a:solidFill>
                  <a:srgbClr val="1B1F1D"/>
                </a:solidFill>
                <a:latin typeface="Consolas" pitchFamily="34" charset="0"/>
                <a:ea typeface="Consolas" pitchFamily="34" charset="-122"/>
                <a:cs typeface="Consolas" pitchFamily="34" charset="-120"/>
              </a:rPr>
              <a:t>    total = total + </a:t>
            </a:r>
            <a:r>
              <a:rPr lang="en-US" sz="1050" dirty="0">
                <a:solidFill>
                  <a:srgbClr val="A35A00"/>
                </a:solidFill>
                <a:latin typeface="Consolas" pitchFamily="34" charset="0"/>
                <a:ea typeface="Consolas" pitchFamily="34" charset="-122"/>
                <a:cs typeface="Consolas" pitchFamily="34" charset="-120"/>
              </a:rPr>
              <a:t>1.25</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8  </a:t>
            </a:r>
            <a:r>
              <a:rPr lang="en-US" sz="1050" dirty="0">
                <a:solidFill>
                  <a:srgbClr val="1B1F1D"/>
                </a:solidFill>
                <a:latin typeface="Consolas" pitchFamily="34" charset="0"/>
                <a:ea typeface="Consolas" pitchFamily="34" charset="-122"/>
                <a:cs typeface="Consolas" pitchFamily="34" charset="-120"/>
              </a:rPr>
              <a:t>    label.config(text=</a:t>
            </a:r>
            <a:r>
              <a:rPr lang="en-US" sz="1050" dirty="0">
                <a:solidFill>
                  <a:srgbClr val="1D7A4E"/>
                </a:solidFill>
                <a:latin typeface="Consolas" pitchFamily="34" charset="0"/>
                <a:ea typeface="Consolas" pitchFamily="34" charset="-122"/>
                <a:cs typeface="Consolas" pitchFamily="34" charset="-120"/>
              </a:rPr>
              <a:t>f"Total: £{total:.2f}"</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9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10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clear</a:t>
            </a:r>
            <a:r>
              <a:rPr lang="en-US" sz="1050" dirty="0">
                <a:solidFill>
                  <a:srgbClr val="1B1F1D"/>
                </a:solidFill>
                <a:latin typeface="Consolas" pitchFamily="34" charset="0"/>
                <a:ea typeface="Consolas" pitchFamily="34" charset="-122"/>
                <a:cs typeface="Consolas" pitchFamily="34" charset="-120"/>
              </a:rPr>
              <a:t>(event):                    </a:t>
            </a:r>
            <a:r>
              <a:rPr lang="en-US" sz="1050" i="1" dirty="0">
                <a:solidFill>
                  <a:srgbClr val="4A534E"/>
                </a:solidFill>
                <a:latin typeface="Consolas" pitchFamily="34" charset="0"/>
                <a:ea typeface="Consolas" pitchFamily="34" charset="-122"/>
                <a:cs typeface="Consolas" pitchFamily="34" charset="-120"/>
              </a:rPr>
              <a:t># event handler</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11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global</a:t>
            </a:r>
            <a:r>
              <a:rPr lang="en-US" sz="1050" dirty="0">
                <a:solidFill>
                  <a:srgbClr val="1B1F1D"/>
                </a:solidFill>
                <a:latin typeface="Consolas" pitchFamily="34" charset="0"/>
                <a:ea typeface="Consolas" pitchFamily="34" charset="-122"/>
                <a:cs typeface="Consolas" pitchFamily="34" charset="-120"/>
              </a:rPr>
              <a:t> total</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12  </a:t>
            </a:r>
            <a:r>
              <a:rPr lang="en-US" sz="1050" dirty="0">
                <a:solidFill>
                  <a:srgbClr val="1B1F1D"/>
                </a:solidFill>
                <a:latin typeface="Consolas" pitchFamily="34" charset="0"/>
                <a:ea typeface="Consolas" pitchFamily="34" charset="-122"/>
                <a:cs typeface="Consolas" pitchFamily="34" charset="-120"/>
              </a:rPr>
              <a:t>    total = </a:t>
            </a:r>
            <a:r>
              <a:rPr lang="en-US" sz="1050" dirty="0">
                <a:solidFill>
                  <a:srgbClr val="A35A00"/>
                </a:solidFill>
                <a:latin typeface="Consolas" pitchFamily="34" charset="0"/>
                <a:ea typeface="Consolas" pitchFamily="34" charset="-122"/>
                <a:cs typeface="Consolas" pitchFamily="34" charset="-120"/>
              </a:rPr>
              <a:t>0</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13  </a:t>
            </a:r>
            <a:r>
              <a:rPr lang="en-US" sz="1050" dirty="0">
                <a:solidFill>
                  <a:srgbClr val="1B1F1D"/>
                </a:solidFill>
                <a:latin typeface="Consolas" pitchFamily="34" charset="0"/>
                <a:ea typeface="Consolas" pitchFamily="34" charset="-122"/>
                <a:cs typeface="Consolas" pitchFamily="34" charset="-120"/>
              </a:rPr>
              <a:t>    label.config(text=</a:t>
            </a:r>
            <a:r>
              <a:rPr lang="en-US" sz="1050" dirty="0">
                <a:solidFill>
                  <a:srgbClr val="1D7A4E"/>
                </a:solidFill>
                <a:latin typeface="Consolas" pitchFamily="34" charset="0"/>
                <a:ea typeface="Consolas" pitchFamily="34" charset="-122"/>
                <a:cs typeface="Consolas" pitchFamily="34" charset="-120"/>
              </a:rPr>
              <a:t>"Total: £0.00"</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14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15  </a:t>
            </a:r>
            <a:r>
              <a:rPr lang="en-US" sz="1050" dirty="0">
                <a:solidFill>
                  <a:srgbClr val="1B1F1D"/>
                </a:solidFill>
                <a:latin typeface="Consolas" pitchFamily="34" charset="0"/>
                <a:ea typeface="Consolas" pitchFamily="34" charset="-122"/>
                <a:cs typeface="Consolas" pitchFamily="34" charset="-120"/>
              </a:rPr>
              <a:t>window = tk.Tk()                     </a:t>
            </a:r>
            <a:r>
              <a:rPr lang="en-US" sz="1050" i="1" dirty="0">
                <a:solidFill>
                  <a:srgbClr val="4A534E"/>
                </a:solidFill>
                <a:latin typeface="Consolas" pitchFamily="34" charset="0"/>
                <a:ea typeface="Consolas" pitchFamily="34" charset="-122"/>
                <a:cs typeface="Consolas" pitchFamily="34" charset="-120"/>
              </a:rPr>
              <a:t># set up the window</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16  </a:t>
            </a:r>
            <a:r>
              <a:rPr lang="en-US" sz="1050" dirty="0">
                <a:solidFill>
                  <a:srgbClr val="1B1F1D"/>
                </a:solidFill>
                <a:latin typeface="Consolas" pitchFamily="34" charset="0"/>
                <a:ea typeface="Consolas" pitchFamily="34" charset="-122"/>
                <a:cs typeface="Consolas" pitchFamily="34" charset="-120"/>
              </a:rPr>
              <a:t>window.title(</a:t>
            </a:r>
            <a:r>
              <a:rPr lang="en-US" sz="1050" dirty="0">
                <a:solidFill>
                  <a:srgbClr val="1D7A4E"/>
                </a:solidFill>
                <a:latin typeface="Consolas" pitchFamily="34" charset="0"/>
                <a:ea typeface="Consolas" pitchFamily="34" charset="-122"/>
                <a:cs typeface="Consolas" pitchFamily="34" charset="-120"/>
              </a:rPr>
              <a:t>"Bakery till"</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17  </a:t>
            </a:r>
            <a:r>
              <a:rPr lang="en-US" sz="1050" dirty="0">
                <a:solidFill>
                  <a:srgbClr val="1B1F1D"/>
                </a:solidFill>
                <a:latin typeface="Consolas" pitchFamily="34" charset="0"/>
                <a:ea typeface="Consolas" pitchFamily="34" charset="-122"/>
                <a:cs typeface="Consolas" pitchFamily="34" charset="-120"/>
              </a:rPr>
              <a:t>label = tk.Label(window, text=</a:t>
            </a:r>
            <a:r>
              <a:rPr lang="en-US" sz="1050" dirty="0">
                <a:solidFill>
                  <a:srgbClr val="1D7A4E"/>
                </a:solidFill>
                <a:latin typeface="Consolas" pitchFamily="34" charset="0"/>
                <a:ea typeface="Consolas" pitchFamily="34" charset="-122"/>
                <a:cs typeface="Consolas" pitchFamily="34" charset="-120"/>
              </a:rPr>
              <a:t>"Total: £0.00"</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18  </a:t>
            </a:r>
            <a:r>
              <a:rPr lang="en-US" sz="1050" dirty="0">
                <a:solidFill>
                  <a:srgbClr val="1B1F1D"/>
                </a:solidFill>
                <a:latin typeface="Consolas" pitchFamily="34" charset="0"/>
                <a:ea typeface="Consolas" pitchFamily="34" charset="-122"/>
                <a:cs typeface="Consolas" pitchFamily="34" charset="-120"/>
              </a:rPr>
              <a:t>label.pack()</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19  </a:t>
            </a:r>
            <a:r>
              <a:rPr lang="en-US" sz="1050" dirty="0">
                <a:solidFill>
                  <a:srgbClr val="1B1F1D"/>
                </a:solidFill>
                <a:latin typeface="Consolas" pitchFamily="34" charset="0"/>
                <a:ea typeface="Consolas" pitchFamily="34" charset="-122"/>
                <a:cs typeface="Consolas" pitchFamily="34" charset="-120"/>
              </a:rPr>
              <a:t>button = tk.Button(window, text=</a:t>
            </a:r>
            <a:r>
              <a:rPr lang="en-US" sz="1050" dirty="0">
                <a:solidFill>
                  <a:srgbClr val="1D7A4E"/>
                </a:solidFill>
                <a:latin typeface="Consolas" pitchFamily="34" charset="0"/>
                <a:ea typeface="Consolas" pitchFamily="34" charset="-122"/>
                <a:cs typeface="Consolas" pitchFamily="34" charset="-120"/>
              </a:rPr>
              <a:t>"Add croissant"</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20  </a:t>
            </a:r>
            <a:r>
              <a:rPr lang="en-US" sz="1050" dirty="0">
                <a:solidFill>
                  <a:srgbClr val="1B1F1D"/>
                </a:solidFill>
                <a:latin typeface="Consolas" pitchFamily="34" charset="0"/>
                <a:ea typeface="Consolas" pitchFamily="34" charset="-122"/>
                <a:cs typeface="Consolas" pitchFamily="34" charset="-120"/>
              </a:rPr>
              <a:t>                   command=add_croissant)  </a:t>
            </a:r>
            <a:r>
              <a:rPr lang="en-US" sz="1050" i="1" dirty="0">
                <a:solidFill>
                  <a:srgbClr val="4A534E"/>
                </a:solidFill>
                <a:latin typeface="Consolas" pitchFamily="34" charset="0"/>
                <a:ea typeface="Consolas" pitchFamily="34" charset="-122"/>
                <a:cs typeface="Consolas" pitchFamily="34" charset="-120"/>
              </a:rPr>
              <a:t># click → handler</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21  </a:t>
            </a:r>
            <a:r>
              <a:rPr lang="en-US" sz="1050" dirty="0">
                <a:solidFill>
                  <a:srgbClr val="1B1F1D"/>
                </a:solidFill>
                <a:latin typeface="Consolas" pitchFamily="34" charset="0"/>
                <a:ea typeface="Consolas" pitchFamily="34" charset="-122"/>
                <a:cs typeface="Consolas" pitchFamily="34" charset="-120"/>
              </a:rPr>
              <a:t>button.pack()</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22  </a:t>
            </a:r>
            <a:r>
              <a:rPr lang="en-US" sz="1050" dirty="0">
                <a:solidFill>
                  <a:srgbClr val="1B1F1D"/>
                </a:solidFill>
                <a:latin typeface="Consolas" pitchFamily="34" charset="0"/>
                <a:ea typeface="Consolas" pitchFamily="34" charset="-122"/>
                <a:cs typeface="Consolas" pitchFamily="34" charset="-120"/>
              </a:rPr>
              <a:t>window.bind(</a:t>
            </a:r>
            <a:r>
              <a:rPr lang="en-US" sz="1050" dirty="0">
                <a:solidFill>
                  <a:srgbClr val="1D7A4E"/>
                </a:solidFill>
                <a:latin typeface="Consolas" pitchFamily="34" charset="0"/>
                <a:ea typeface="Consolas" pitchFamily="34" charset="-122"/>
                <a:cs typeface="Consolas" pitchFamily="34" charset="-120"/>
              </a:rPr>
              <a:t>"c"</a:t>
            </a:r>
            <a:r>
              <a:rPr lang="en-US" sz="1050" dirty="0">
                <a:solidFill>
                  <a:srgbClr val="1B1F1D"/>
                </a:solidFill>
                <a:latin typeface="Consolas" pitchFamily="34" charset="0"/>
                <a:ea typeface="Consolas" pitchFamily="34" charset="-122"/>
                <a:cs typeface="Consolas" pitchFamily="34" charset="-120"/>
              </a:rPr>
              <a:t>, clear)              </a:t>
            </a:r>
            <a:r>
              <a:rPr lang="en-US" sz="1050" i="1" dirty="0">
                <a:solidFill>
                  <a:srgbClr val="4A534E"/>
                </a:solidFill>
                <a:latin typeface="Consolas" pitchFamily="34" charset="0"/>
                <a:ea typeface="Consolas" pitchFamily="34" charset="-122"/>
                <a:cs typeface="Consolas" pitchFamily="34" charset="-120"/>
              </a:rPr>
              <a:t># key press C → handler</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23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24  </a:t>
            </a:r>
            <a:r>
              <a:rPr lang="en-US" sz="1050" dirty="0">
                <a:solidFill>
                  <a:srgbClr val="1B1F1D"/>
                </a:solidFill>
                <a:latin typeface="Consolas" pitchFamily="34" charset="0"/>
                <a:ea typeface="Consolas" pitchFamily="34" charset="-122"/>
                <a:cs typeface="Consolas" pitchFamily="34" charset="-120"/>
              </a:rPr>
              <a:t>window.mainloop()                    </a:t>
            </a:r>
            <a:r>
              <a:rPr lang="en-US" sz="1050" i="1" dirty="0">
                <a:solidFill>
                  <a:srgbClr val="4A534E"/>
                </a:solidFill>
                <a:latin typeface="Consolas" pitchFamily="34" charset="0"/>
                <a:ea typeface="Consolas" pitchFamily="34" charset="-122"/>
                <a:cs typeface="Consolas" pitchFamily="34" charset="-120"/>
              </a:rPr>
              <a:t># event loop: wait for events</a:t>
            </a:r>
            <a:endParaRPr lang="en-US" sz="1050" dirty="0"/>
          </a:p>
        </p:txBody>
      </p:sp>
      <p:sp>
        <p:nvSpPr>
          <p:cNvPr id="33" name="Shape 28"/>
          <p:cNvSpPr/>
          <p:nvPr/>
        </p:nvSpPr>
        <p:spPr>
          <a:xfrm>
            <a:off x="548640" y="1554480"/>
            <a:ext cx="6172200" cy="4654296"/>
          </a:xfrm>
          <a:prstGeom prst="roundRect">
            <a:avLst>
              <a:gd name="adj" fmla="val 1572"/>
            </a:avLst>
          </a:prstGeom>
          <a:ln w="12700">
            <a:solidFill>
              <a:srgbClr val="DFE3DE"/>
            </a:solidFill>
            <a:prstDash val="solid"/>
          </a:ln>
        </p:spPr>
      </p:sp>
      <p:sp>
        <p:nvSpPr>
          <p:cNvPr id="34" name="Text 29"/>
          <p:cNvSpPr txBox="1"/>
          <p:nvPr/>
        </p:nvSpPr>
        <p:spPr>
          <a:xfrm>
            <a:off x="7040880" y="1554480"/>
            <a:ext cx="457200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THE WINDOW THE CODE MAKES</a:t>
            </a:r>
            <a:endParaRPr lang="en-US" sz="1000" dirty="0"/>
          </a:p>
        </p:txBody>
      </p:sp>
      <p:sp>
        <p:nvSpPr>
          <p:cNvPr id="35" name="Shape 30"/>
          <p:cNvSpPr/>
          <p:nvPr/>
        </p:nvSpPr>
        <p:spPr>
          <a:xfrm>
            <a:off x="7040880" y="1828800"/>
            <a:ext cx="3017520" cy="1572768"/>
          </a:xfrm>
          <a:prstGeom prst="roundRect">
            <a:avLst>
              <a:gd name="adj" fmla="val 3488"/>
            </a:avLst>
          </a:prstGeom>
          <a:solidFill>
            <a:srgbClr val="FFFFFF"/>
          </a:solidFill>
          <a:ln w="12700">
            <a:solidFill>
              <a:srgbClr val="B7C0BA"/>
            </a:solidFill>
            <a:prstDash val="solid"/>
          </a:ln>
          <a:effectLst>
            <a:outerShdw sx="100000" sy="100000" kx="0" ky="0" algn="bl" rotWithShape="0" blurRad="101600" dist="25400" dir="5400000">
              <a:srgbClr val="000000">
                <a:alpha val="14000"/>
              </a:srgbClr>
            </a:outerShdw>
          </a:effectLst>
        </p:spPr>
      </p:sp>
      <p:sp>
        <p:nvSpPr>
          <p:cNvPr id="36" name="Shape 31"/>
          <p:cNvSpPr/>
          <p:nvPr/>
        </p:nvSpPr>
        <p:spPr>
          <a:xfrm>
            <a:off x="7040880" y="1828800"/>
            <a:ext cx="3017520" cy="310896"/>
          </a:xfrm>
          <a:prstGeom prst="roundRect">
            <a:avLst>
              <a:gd name="adj" fmla="val 17647"/>
            </a:avLst>
          </a:prstGeom>
          <a:solidFill>
            <a:srgbClr val="F5F6F3"/>
          </a:solidFill>
          <a:ln/>
        </p:spPr>
      </p:sp>
      <p:sp>
        <p:nvSpPr>
          <p:cNvPr id="37" name="Shape 32"/>
          <p:cNvSpPr/>
          <p:nvPr/>
        </p:nvSpPr>
        <p:spPr>
          <a:xfrm>
            <a:off x="7040880" y="2029968"/>
            <a:ext cx="3017520" cy="109728"/>
          </a:xfrm>
          <a:prstGeom prst="rect">
            <a:avLst/>
          </a:prstGeom>
          <a:solidFill>
            <a:srgbClr val="F5F6F3"/>
          </a:solidFill>
          <a:ln/>
        </p:spPr>
      </p:sp>
      <p:sp>
        <p:nvSpPr>
          <p:cNvPr id="38" name="Shape 33"/>
          <p:cNvSpPr/>
          <p:nvPr/>
        </p:nvSpPr>
        <p:spPr>
          <a:xfrm>
            <a:off x="7040880" y="2139696"/>
            <a:ext cx="3017520" cy="0"/>
          </a:xfrm>
          <a:prstGeom prst="line">
            <a:avLst/>
          </a:prstGeom>
          <a:noFill/>
          <a:ln w="9525">
            <a:solidFill>
              <a:srgbClr val="B7C0BA"/>
            </a:solidFill>
            <a:prstDash val="solid"/>
          </a:ln>
        </p:spPr>
      </p:sp>
      <p:sp>
        <p:nvSpPr>
          <p:cNvPr id="39" name="Text 34"/>
          <p:cNvSpPr txBox="1"/>
          <p:nvPr/>
        </p:nvSpPr>
        <p:spPr>
          <a:xfrm>
            <a:off x="7168896" y="1828800"/>
            <a:ext cx="1828800" cy="310896"/>
          </a:xfrm>
          <a:prstGeom prst="rect">
            <a:avLst/>
          </a:prstGeom>
          <a:noFill/>
          <a:ln/>
        </p:spPr>
        <p:txBody>
          <a:bodyPr wrap="square" lIns="0" tIns="0" rIns="0" bIns="0" rtlCol="0" anchor="ctr"/>
          <a:lstStyle/>
          <a:p>
            <a:pPr indent="0" marL="0">
              <a:buNone/>
            </a:pPr>
            <a:r>
              <a:rPr lang="en-US" sz="1100" b="1" dirty="0">
                <a:solidFill>
                  <a:srgbClr val="1B1F1D"/>
                </a:solidFill>
                <a:latin typeface="Calibri" pitchFamily="34" charset="0"/>
                <a:ea typeface="Calibri" pitchFamily="34" charset="-122"/>
                <a:cs typeface="Calibri" pitchFamily="34" charset="-120"/>
              </a:rPr>
              <a:t>Bakery till</a:t>
            </a:r>
            <a:endParaRPr lang="en-US" sz="1100" dirty="0"/>
          </a:p>
        </p:txBody>
      </p:sp>
      <p:sp>
        <p:nvSpPr>
          <p:cNvPr id="40" name="Shape 35"/>
          <p:cNvSpPr/>
          <p:nvPr/>
        </p:nvSpPr>
        <p:spPr>
          <a:xfrm>
            <a:off x="9372600" y="1920240"/>
            <a:ext cx="137160" cy="137160"/>
          </a:xfrm>
          <a:prstGeom prst="roundRect">
            <a:avLst>
              <a:gd name="adj" fmla="val 20000"/>
            </a:avLst>
          </a:prstGeom>
          <a:ln w="9525">
            <a:solidFill>
              <a:srgbClr val="B7C0BA"/>
            </a:solidFill>
            <a:prstDash val="solid"/>
          </a:ln>
        </p:spPr>
      </p:sp>
      <p:sp>
        <p:nvSpPr>
          <p:cNvPr id="41" name="Shape 36"/>
          <p:cNvSpPr/>
          <p:nvPr/>
        </p:nvSpPr>
        <p:spPr>
          <a:xfrm>
            <a:off x="9573768" y="1920240"/>
            <a:ext cx="137160" cy="137160"/>
          </a:xfrm>
          <a:prstGeom prst="roundRect">
            <a:avLst>
              <a:gd name="adj" fmla="val 20000"/>
            </a:avLst>
          </a:prstGeom>
          <a:ln w="9525">
            <a:solidFill>
              <a:srgbClr val="B7C0BA"/>
            </a:solidFill>
            <a:prstDash val="solid"/>
          </a:ln>
        </p:spPr>
      </p:sp>
      <p:sp>
        <p:nvSpPr>
          <p:cNvPr id="42" name="Shape 37"/>
          <p:cNvSpPr/>
          <p:nvPr/>
        </p:nvSpPr>
        <p:spPr>
          <a:xfrm>
            <a:off x="9774936" y="1920240"/>
            <a:ext cx="137160" cy="137160"/>
          </a:xfrm>
          <a:prstGeom prst="roundRect">
            <a:avLst>
              <a:gd name="adj" fmla="val 20000"/>
            </a:avLst>
          </a:prstGeom>
          <a:ln w="9525">
            <a:solidFill>
              <a:srgbClr val="B7C0BA"/>
            </a:solidFill>
            <a:prstDash val="solid"/>
          </a:ln>
        </p:spPr>
      </p:sp>
      <p:sp>
        <p:nvSpPr>
          <p:cNvPr id="43" name="Text 38"/>
          <p:cNvSpPr txBox="1"/>
          <p:nvPr/>
        </p:nvSpPr>
        <p:spPr>
          <a:xfrm>
            <a:off x="7040880" y="2249424"/>
            <a:ext cx="3017520" cy="457200"/>
          </a:xfrm>
          <a:prstGeom prst="rect">
            <a:avLst/>
          </a:prstGeom>
          <a:noFill/>
          <a:ln/>
        </p:spPr>
        <p:txBody>
          <a:bodyPr wrap="square" lIns="0" tIns="0" rIns="0" bIns="0" rtlCol="0" anchor="ctr"/>
          <a:lstStyle/>
          <a:p>
            <a:pPr algn="ctr" indent="0" marL="0">
              <a:buNone/>
            </a:pPr>
            <a:r>
              <a:rPr lang="en-US" sz="2400" b="1" dirty="0">
                <a:solidFill>
                  <a:srgbClr val="1B1F1D"/>
                </a:solidFill>
                <a:latin typeface="Cambria" pitchFamily="34" charset="0"/>
                <a:ea typeface="Cambria" pitchFamily="34" charset="-122"/>
                <a:cs typeface="Cambria" pitchFamily="34" charset="-120"/>
              </a:rPr>
              <a:t>Total: £2.50</a:t>
            </a:r>
            <a:endParaRPr lang="en-US" sz="2400" dirty="0"/>
          </a:p>
        </p:txBody>
      </p:sp>
      <p:sp>
        <p:nvSpPr>
          <p:cNvPr id="44" name="Shape 39"/>
          <p:cNvSpPr/>
          <p:nvPr/>
        </p:nvSpPr>
        <p:spPr>
          <a:xfrm>
            <a:off x="7790688" y="2816352"/>
            <a:ext cx="1517904" cy="384048"/>
          </a:xfrm>
          <a:prstGeom prst="roundRect">
            <a:avLst>
              <a:gd name="adj" fmla="val 14286"/>
            </a:avLst>
          </a:prstGeom>
          <a:solidFill>
            <a:srgbClr val="F5F6F3"/>
          </a:solidFill>
          <a:ln w="12700">
            <a:solidFill>
              <a:srgbClr val="B7C0BA"/>
            </a:solidFill>
            <a:prstDash val="solid"/>
          </a:ln>
        </p:spPr>
      </p:sp>
      <p:sp>
        <p:nvSpPr>
          <p:cNvPr id="45" name="Text 40"/>
          <p:cNvSpPr txBox="1"/>
          <p:nvPr/>
        </p:nvSpPr>
        <p:spPr>
          <a:xfrm>
            <a:off x="7790688" y="2816352"/>
            <a:ext cx="1517904" cy="384048"/>
          </a:xfrm>
          <a:prstGeom prst="rect">
            <a:avLst/>
          </a:prstGeom>
          <a:noFill/>
          <a:ln/>
        </p:spPr>
        <p:txBody>
          <a:bodyPr wrap="square" lIns="0" tIns="0" rIns="0" bIns="0" rtlCol="0" anchor="ctr"/>
          <a:lstStyle/>
          <a:p>
            <a:pPr algn="ctr" indent="0" marL="0">
              <a:buNone/>
            </a:pPr>
            <a:r>
              <a:rPr lang="en-US" sz="1200" b="1" dirty="0">
                <a:solidFill>
                  <a:srgbClr val="1B1F1D"/>
                </a:solidFill>
                <a:latin typeface="Calibri" pitchFamily="34" charset="0"/>
                <a:ea typeface="Calibri" pitchFamily="34" charset="-122"/>
                <a:cs typeface="Calibri" pitchFamily="34" charset="-120"/>
              </a:rPr>
              <a:t>Add croissant</a:t>
            </a:r>
            <a:endParaRPr lang="en-US" sz="1200" dirty="0"/>
          </a:p>
        </p:txBody>
      </p:sp>
      <p:sp>
        <p:nvSpPr>
          <p:cNvPr id="46" name="Text 41"/>
          <p:cNvSpPr txBox="1"/>
          <p:nvPr/>
        </p:nvSpPr>
        <p:spPr>
          <a:xfrm>
            <a:off x="10241280" y="2240280"/>
            <a:ext cx="1371600" cy="731520"/>
          </a:xfrm>
          <a:prstGeom prst="rect">
            <a:avLst/>
          </a:prstGeom>
          <a:noFill/>
          <a:ln/>
        </p:spPr>
        <p:txBody>
          <a:bodyPr wrap="square" lIns="0" tIns="0" rIns="0" bIns="0" rtlCol="0" anchor="t"/>
          <a:lstStyle/>
          <a:p>
            <a:pPr indent="0" marL="0">
              <a:buNone/>
            </a:pPr>
            <a:r>
              <a:rPr lang="en-US" sz="1250" i="1" dirty="0">
                <a:solidFill>
                  <a:srgbClr val="4A534E"/>
                </a:solidFill>
                <a:latin typeface="Cambria" pitchFamily="34" charset="0"/>
                <a:ea typeface="Cambria" pitchFamily="34" charset="-122"/>
                <a:cs typeface="Cambria" pitchFamily="34" charset="-120"/>
              </a:rPr>
              <a:t>This is the window after two clicks.</a:t>
            </a:r>
            <a:endParaRPr lang="en-US" sz="1250" dirty="0"/>
          </a:p>
        </p:txBody>
      </p:sp>
      <p:sp>
        <p:nvSpPr>
          <p:cNvPr id="47" name="Text 42"/>
          <p:cNvSpPr txBox="1"/>
          <p:nvPr/>
        </p:nvSpPr>
        <p:spPr>
          <a:xfrm>
            <a:off x="7040880" y="3611880"/>
            <a:ext cx="457200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WHAT HAPPENS, EVENT BY EVENT</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040880" y="3886200"/>
          <a:ext cx="4599432" cy="914400"/>
        </p:xfrm>
        <a:graphic>
          <a:graphicData uri="http://schemas.openxmlformats.org/drawingml/2006/table">
            <a:tbl>
              <a:tblPr/>
              <a:tblGrid>
                <a:gridCol w="1371600"/>
                <a:gridCol w="2011680"/>
                <a:gridCol w="1216152"/>
              </a:tblGrid>
              <a:tr h="283464">
                <a:tc>
                  <a:txBody>
                    <a:bodyPr/>
                    <a:lstStyle/>
                    <a:p>
                      <a:pPr indent="0" marL="0">
                        <a:buNone/>
                      </a:pPr>
                      <a:r>
                        <a:rPr lang="en-US" sz="1200" b="1" dirty="0">
                          <a:solidFill>
                            <a:srgbClr val="1B1F1D"/>
                          </a:solidFill>
                        </a:rPr>
                        <a:t>Event</a:t>
                      </a:r>
                      <a:endParaRPr lang="en-US" sz="1200" dirty="0"/>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7E1BF"/>
                    </a:solidFill>
                  </a:tcPr>
                </a:tc>
                <a:tc>
                  <a:txBody>
                    <a:bodyPr/>
                    <a:lstStyle/>
                    <a:p>
                      <a:pPr indent="0" marL="0">
                        <a:buNone/>
                      </a:pPr>
                      <a:r>
                        <a:rPr lang="en-US" sz="1200" b="1" dirty="0">
                          <a:solidFill>
                            <a:srgbClr val="1B1F1D"/>
                          </a:solidFill>
                        </a:rPr>
                        <a:t>Handler that runs</a:t>
                      </a:r>
                      <a:endParaRPr lang="en-US" sz="1200" dirty="0"/>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7E1BF"/>
                    </a:solidFill>
                  </a:tcPr>
                </a:tc>
                <a:tc>
                  <a:txBody>
                    <a:bodyPr/>
                    <a:lstStyle/>
                    <a:p>
                      <a:pPr indent="0" marL="0">
                        <a:buNone/>
                      </a:pPr>
                      <a:r>
                        <a:rPr lang="en-US" sz="1200" b="1" dirty="0">
                          <a:solidFill>
                            <a:srgbClr val="1B1F1D"/>
                          </a:solidFill>
                        </a:rPr>
                        <a:t>Total</a:t>
                      </a:r>
                      <a:endParaRPr lang="en-US" sz="1200" dirty="0"/>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7E1BF"/>
                    </a:solidFill>
                  </a:tcPr>
                </a:tc>
              </a:tr>
              <a:tr h="283464">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click</a:t>
                      </a:r>
                      <a:endParaRPr lang="en-US" sz="1200" dirty="0">
                        <a:latin typeface="Calibri" charset="0"/>
                        <a:ea typeface="Calibri" charset="0"/>
                        <a:cs typeface="Calibri"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onsolas" pitchFamily="34" charset="0"/>
                          <a:ea typeface="Consolas" pitchFamily="34" charset="-122"/>
                          <a:cs typeface="Consolas" pitchFamily="34" charset="-120"/>
                        </a:rPr>
                        <a:t>add_croissant()</a:t>
                      </a:r>
                      <a:endParaRPr lang="en-US" sz="110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onsolas" pitchFamily="34" charset="0"/>
                          <a:ea typeface="Consolas" pitchFamily="34" charset="-122"/>
                          <a:cs typeface="Consolas" pitchFamily="34" charset="-120"/>
                        </a:rPr>
                        <a:t>£1.25</a:t>
                      </a:r>
                      <a:endParaRPr lang="en-US" sz="110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r>
              <a:tr h="283464">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click</a:t>
                      </a:r>
                      <a:endParaRPr lang="en-US" sz="1200" dirty="0">
                        <a:latin typeface="Calibri" charset="0"/>
                        <a:ea typeface="Calibri" charset="0"/>
                        <a:cs typeface="Calibri"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onsolas" pitchFamily="34" charset="0"/>
                          <a:ea typeface="Consolas" pitchFamily="34" charset="-122"/>
                          <a:cs typeface="Consolas" pitchFamily="34" charset="-120"/>
                        </a:rPr>
                        <a:t>add_croissant()</a:t>
                      </a:r>
                      <a:endParaRPr lang="en-US" sz="110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onsolas" pitchFamily="34" charset="0"/>
                          <a:ea typeface="Consolas" pitchFamily="34" charset="-122"/>
                          <a:cs typeface="Consolas" pitchFamily="34" charset="-120"/>
                        </a:rPr>
                        <a:t>£2.50</a:t>
                      </a:r>
                      <a:endParaRPr lang="en-US" sz="110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r>
              <a:tr h="283464">
                <a:tc>
                  <a:txBody>
                    <a:bodyPr/>
                    <a:lstStyle/>
                    <a:p>
                      <a:pPr indent="0" marL="0">
                        <a:buNone/>
                      </a:pPr>
                      <a:r>
                        <a:rPr lang="en-US" sz="1200" dirty="0">
                          <a:solidFill>
                            <a:srgbClr val="1B1F1D"/>
                          </a:solidFill>
                          <a:latin typeface="Calibri" pitchFamily="34" charset="0"/>
                          <a:ea typeface="Calibri" pitchFamily="34" charset="-122"/>
                          <a:cs typeface="Calibri" pitchFamily="34" charset="-120"/>
                        </a:rPr>
                        <a:t>key press C</a:t>
                      </a:r>
                      <a:endParaRPr lang="en-US" sz="1200" dirty="0">
                        <a:latin typeface="Calibri" charset="0"/>
                        <a:ea typeface="Calibri" charset="0"/>
                        <a:cs typeface="Calibri"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onsolas" pitchFamily="34" charset="0"/>
                          <a:ea typeface="Consolas" pitchFamily="34" charset="-122"/>
                          <a:cs typeface="Consolas" pitchFamily="34" charset="-120"/>
                        </a:rPr>
                        <a:t>clear(event)</a:t>
                      </a:r>
                      <a:endParaRPr lang="en-US" sz="110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c>
                  <a:txBody>
                    <a:bodyPr/>
                    <a:lstStyle/>
                    <a:p>
                      <a:pPr indent="0" marL="0">
                        <a:buNone/>
                      </a:pPr>
                      <a:r>
                        <a:rPr lang="en-US" sz="1100" dirty="0">
                          <a:solidFill>
                            <a:srgbClr val="1B1F1D"/>
                          </a:solidFill>
                          <a:latin typeface="Consolas" pitchFamily="34" charset="0"/>
                          <a:ea typeface="Consolas" pitchFamily="34" charset="-122"/>
                          <a:cs typeface="Consolas" pitchFamily="34" charset="-120"/>
                        </a:rPr>
                        <a:t>£0.00</a:t>
                      </a:r>
                      <a:endParaRPr lang="en-US" sz="1100" dirty="0">
                        <a:latin typeface="Consolas" charset="0"/>
                        <a:ea typeface="Consolas" charset="0"/>
                        <a:cs typeface="Consolas" charset="0"/>
                      </a:endParaRPr>
                    </a:p>
                  </a:txBody>
                  <a:tcPr marL="73152" marR="73152" marT="27432" marB="27432" anchor="ctr">
                    <a:lnL w="9525" cap="flat" cmpd="sng" algn="ctr">
                      <a:solidFill>
                        <a:srgbClr val="B7C0BA"/>
                      </a:solidFill>
                      <a:prstDash val="solid"/>
                      <a:round/>
                      <a:headEnd type="none" w="med" len="med"/>
                      <a:tailEnd type="none" w="med" len="med"/>
                    </a:lnL>
                    <a:lnR w="9525" cap="flat" cmpd="sng" algn="ctr">
                      <a:solidFill>
                        <a:srgbClr val="B7C0BA"/>
                      </a:solidFill>
                      <a:prstDash val="solid"/>
                      <a:round/>
                      <a:headEnd type="none" w="med" len="med"/>
                      <a:tailEnd type="none" w="med" len="med"/>
                    </a:lnR>
                    <a:lnT w="9525" cap="flat" cmpd="sng" algn="ctr">
                      <a:solidFill>
                        <a:srgbClr val="B7C0BA"/>
                      </a:solidFill>
                      <a:prstDash val="solid"/>
                      <a:round/>
                      <a:headEnd type="none" w="med" len="med"/>
                      <a:tailEnd type="none" w="med" len="med"/>
                    </a:lnT>
                    <a:lnB w="9525" cap="flat" cmpd="sng" algn="ctr">
                      <a:solidFill>
                        <a:srgbClr val="B7C0BA"/>
                      </a:solidFill>
                      <a:prstDash val="solid"/>
                      <a:round/>
                      <a:headEnd type="none" w="med" len="med"/>
                      <a:tailEnd type="none" w="med" len="med"/>
                    </a:lnB>
                    <a:solidFill>
                      <a:srgbClr val="FFFFFF"/>
                    </a:solidFill>
                  </a:tcPr>
                </a:tc>
              </a:tr>
            </a:tbl>
          </a:graphicData>
        </a:graphic>
      </p:graphicFrame>
      <p:sp>
        <p:nvSpPr>
          <p:cNvPr id="49" name="Text 43"/>
          <p:cNvSpPr txBox="1"/>
          <p:nvPr/>
        </p:nvSpPr>
        <p:spPr>
          <a:xfrm>
            <a:off x="7040880" y="5138928"/>
            <a:ext cx="4599432" cy="105156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4A534E"/>
                </a:solidFill>
                <a:latin typeface="Calibri" pitchFamily="34" charset="0"/>
                <a:ea typeface="Calibri" pitchFamily="34" charset="-122"/>
                <a:cs typeface="Calibri" pitchFamily="34" charset="-120"/>
              </a:rPr>
              <a:t>Lines 15–22 run once to build the window and link the events.</a:t>
            </a:r>
            <a:endParaRPr lang="en-US" sz="1400" dirty="0"/>
          </a:p>
          <a:p>
            <a:pPr marL="177800" indent="-177800">
              <a:spcAft>
                <a:spcPts val="400"/>
              </a:spcAft>
              <a:buSzPct val="100000"/>
              <a:buChar char="•"/>
            </a:pPr>
            <a:r>
              <a:rPr lang="en-US" sz="1200" dirty="0">
                <a:solidFill>
                  <a:srgbClr val="4A534E"/>
                </a:solidFill>
                <a:latin typeface="Calibri" pitchFamily="34" charset="0"/>
                <a:ea typeface="Calibri" pitchFamily="34" charset="-122"/>
                <a:cs typeface="Calibri" pitchFamily="34" charset="-120"/>
              </a:rPr>
              <a:t>Then </a:t>
            </a:r>
            <a:r>
              <a:rPr lang="en-US" sz="1104" dirty="0">
                <a:solidFill>
                  <a:srgbClr val="4A534E"/>
                </a:solidFill>
                <a:latin typeface="Consolas" pitchFamily="34" charset="0"/>
                <a:ea typeface="Consolas" pitchFamily="34" charset="-122"/>
                <a:cs typeface="Consolas" pitchFamily="34" charset="-120"/>
              </a:rPr>
              <a:t>mainloop()</a:t>
            </a:r>
            <a:r>
              <a:rPr lang="en-US" sz="1200" dirty="0">
                <a:solidFill>
                  <a:srgbClr val="4A534E"/>
                </a:solidFill>
                <a:latin typeface="Calibri" pitchFamily="34" charset="0"/>
                <a:ea typeface="Calibri" pitchFamily="34" charset="-122"/>
                <a:cs typeface="Calibri" pitchFamily="34" charset="-120"/>
              </a:rPr>
              <a:t> waits until an event happens.</a:t>
            </a:r>
            <a:endParaRPr lang="en-US" sz="1400" dirty="0"/>
          </a:p>
          <a:p>
            <a:pPr marL="177800" indent="-177800">
              <a:spcAft>
                <a:spcPts val="400"/>
              </a:spcAft>
              <a:buSzPct val="100000"/>
              <a:buChar char="•"/>
            </a:pPr>
            <a:r>
              <a:rPr lang="en-US" sz="1200" dirty="0">
                <a:solidFill>
                  <a:srgbClr val="4A534E"/>
                </a:solidFill>
                <a:latin typeface="Calibri" pitchFamily="34" charset="0"/>
                <a:ea typeface="Calibri" pitchFamily="34" charset="-122"/>
                <a:cs typeface="Calibri" pitchFamily="34" charset="-120"/>
              </a:rPr>
              <a:t>The user decides the order; the code decides what each event does.</a:t>
            </a:r>
            <a:endParaRPr lang="en-US" sz="1400" dirty="0"/>
          </a:p>
        </p:txBody>
      </p:sp>
      <p:sp>
        <p:nvSpPr>
          <p:cNvPr id="50" name="Text 44"/>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F7E1BF"/>
          </a:solidFill>
          <a:ln w="25400">
            <a:solidFill>
              <a:srgbClr val="DF8700"/>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3</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EVENT-DRIVEN · PROS &amp; CONS</a:t>
            </a:r>
            <a:endParaRPr lang="en-US" sz="1100" dirty="0"/>
          </a:p>
        </p:txBody>
      </p:sp>
      <p:sp>
        <p:nvSpPr>
          <p:cNvPr id="5" name="Text 3"/>
          <p:cNvSpPr txBox="1"/>
          <p:nvPr/>
        </p:nvSpPr>
        <p:spPr>
          <a:xfrm>
            <a:off x="548640" y="731520"/>
            <a:ext cx="9144000"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Event-driven: pros and cons</a:t>
            </a:r>
            <a:endParaRPr lang="en-US" sz="3200" dirty="0"/>
          </a:p>
        </p:txBody>
      </p:sp>
      <p:sp>
        <p:nvSpPr>
          <p:cNvPr id="6" name="Shape 4"/>
          <p:cNvSpPr/>
          <p:nvPr/>
        </p:nvSpPr>
        <p:spPr>
          <a:xfrm>
            <a:off x="10189159" y="932688"/>
            <a:ext cx="1261872" cy="0"/>
          </a:xfrm>
          <a:prstGeom prst="line">
            <a:avLst/>
          </a:prstGeom>
          <a:noFill/>
          <a:ln w="19050">
            <a:solidFill>
              <a:srgbClr val="B7C0BA"/>
            </a:solidFill>
            <a:prstDash val="solid"/>
          </a:ln>
        </p:spPr>
      </p:sp>
      <p:sp>
        <p:nvSpPr>
          <p:cNvPr id="7" name="Shape 5"/>
          <p:cNvSpPr/>
          <p:nvPr/>
        </p:nvSpPr>
        <p:spPr>
          <a:xfrm>
            <a:off x="9997135" y="740664"/>
            <a:ext cx="384048" cy="384048"/>
          </a:xfrm>
          <a:prstGeom prst="ellipse">
            <a:avLst/>
          </a:prstGeom>
          <a:solidFill>
            <a:srgbClr val="FFFFFF"/>
          </a:solidFill>
          <a:ln w="22225">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10089307" y="832836"/>
            <a:ext cx="199705" cy="199705"/>
          </a:xfrm>
          <a:prstGeom prst="rect">
            <a:avLst/>
          </a:prstGeom>
        </p:spPr>
      </p:pic>
      <p:sp>
        <p:nvSpPr>
          <p:cNvPr id="9" name="Shape 6"/>
          <p:cNvSpPr/>
          <p:nvPr/>
        </p:nvSpPr>
        <p:spPr>
          <a:xfrm>
            <a:off x="10564063" y="676656"/>
            <a:ext cx="512064" cy="512064"/>
          </a:xfrm>
          <a:prstGeom prst="ellipse">
            <a:avLst/>
          </a:prstGeom>
          <a:solidFill>
            <a:srgbClr val="F7E1BF"/>
          </a:solidFill>
          <a:ln w="31750">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10686959" y="799551"/>
            <a:ext cx="266273" cy="266273"/>
          </a:xfrm>
          <a:prstGeom prst="rect">
            <a:avLst/>
          </a:prstGeom>
        </p:spPr>
      </p:pic>
      <p:sp>
        <p:nvSpPr>
          <p:cNvPr id="11" name="Shape 7"/>
          <p:cNvSpPr/>
          <p:nvPr/>
        </p:nvSpPr>
        <p:spPr>
          <a:xfrm>
            <a:off x="11259007" y="740664"/>
            <a:ext cx="384048" cy="384048"/>
          </a:xfrm>
          <a:prstGeom prst="ellipse">
            <a:avLst/>
          </a:prstGeom>
          <a:solidFill>
            <a:srgbClr val="FFFFFF"/>
          </a:solidFill>
          <a:ln w="22225">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11351179" y="832836"/>
            <a:ext cx="199705" cy="199705"/>
          </a:xfrm>
          <a:prstGeom prst="rect">
            <a:avLst/>
          </a:prstGeom>
        </p:spPr>
      </p:pic>
      <p:sp>
        <p:nvSpPr>
          <p:cNvPr id="13" name="Shape 8"/>
          <p:cNvSpPr/>
          <p:nvPr/>
        </p:nvSpPr>
        <p:spPr>
          <a:xfrm>
            <a:off x="548640" y="1554480"/>
            <a:ext cx="6035040" cy="2565146"/>
          </a:xfrm>
          <a:prstGeom prst="roundRect">
            <a:avLst>
              <a:gd name="adj" fmla="val 2852"/>
            </a:avLst>
          </a:prstGeom>
          <a:solidFill>
            <a:srgbClr val="FBFCFA"/>
          </a:solidFill>
          <a:ln/>
          <a:effectLst>
            <a:outerShdw sx="100000" sy="100000" kx="0" ky="0" algn="bl" rotWithShape="0" blurRad="101600" dist="25400" dir="5400000">
              <a:srgbClr val="000000">
                <a:alpha val="14000"/>
              </a:srgbClr>
            </a:outerShdw>
          </a:effectLst>
        </p:spPr>
      </p:sp>
      <p:sp>
        <p:nvSpPr>
          <p:cNvPr id="14" name="Shape 9"/>
          <p:cNvSpPr/>
          <p:nvPr/>
        </p:nvSpPr>
        <p:spPr>
          <a:xfrm>
            <a:off x="548640" y="1554480"/>
            <a:ext cx="6035040" cy="438912"/>
          </a:xfrm>
          <a:prstGeom prst="roundRect">
            <a:avLst>
              <a:gd name="adj" fmla="val 16667"/>
            </a:avLst>
          </a:prstGeom>
          <a:solidFill>
            <a:srgbClr val="FAEEDB"/>
          </a:solidFill>
          <a:ln/>
        </p:spPr>
      </p:sp>
      <p:sp>
        <p:nvSpPr>
          <p:cNvPr id="15" name="Shape 10"/>
          <p:cNvSpPr/>
          <p:nvPr/>
        </p:nvSpPr>
        <p:spPr>
          <a:xfrm>
            <a:off x="548640" y="1883664"/>
            <a:ext cx="6035040" cy="109728"/>
          </a:xfrm>
          <a:prstGeom prst="rect">
            <a:avLst/>
          </a:prstGeom>
          <a:solidFill>
            <a:srgbClr val="FBFCFA"/>
          </a:solidFill>
          <a:ln/>
        </p:spPr>
      </p:sp>
      <p:sp>
        <p:nvSpPr>
          <p:cNvPr id="16" name="Shape 11"/>
          <p:cNvSpPr/>
          <p:nvPr/>
        </p:nvSpPr>
        <p:spPr>
          <a:xfrm>
            <a:off x="548640" y="1883664"/>
            <a:ext cx="6035040" cy="0"/>
          </a:xfrm>
          <a:prstGeom prst="line">
            <a:avLst/>
          </a:prstGeom>
          <a:noFill/>
          <a:ln w="9525">
            <a:solidFill>
              <a:srgbClr val="DFE3DE"/>
            </a:solidFill>
            <a:prstDash val="solid"/>
          </a:ln>
        </p:spPr>
      </p:sp>
      <p:sp>
        <p:nvSpPr>
          <p:cNvPr id="17" name="Shape 12"/>
          <p:cNvSpPr/>
          <p:nvPr/>
        </p:nvSpPr>
        <p:spPr>
          <a:xfrm>
            <a:off x="704088" y="1664208"/>
            <a:ext cx="109728" cy="109728"/>
          </a:xfrm>
          <a:prstGeom prst="ellipse">
            <a:avLst/>
          </a:prstGeom>
          <a:solidFill>
            <a:srgbClr val="DF8700"/>
          </a:solidFill>
          <a:ln/>
        </p:spPr>
      </p:sp>
      <p:sp>
        <p:nvSpPr>
          <p:cNvPr id="18" name="Text 13"/>
          <p:cNvSpPr txBox="1"/>
          <p:nvPr/>
        </p:nvSpPr>
        <p:spPr>
          <a:xfrm>
            <a:off x="896112" y="1554480"/>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till.js</a:t>
            </a:r>
            <a:endParaRPr lang="en-US" sz="1050" dirty="0"/>
          </a:p>
        </p:txBody>
      </p:sp>
      <p:sp>
        <p:nvSpPr>
          <p:cNvPr id="19" name="Text 14"/>
          <p:cNvSpPr txBox="1"/>
          <p:nvPr/>
        </p:nvSpPr>
        <p:spPr>
          <a:xfrm>
            <a:off x="3566160" y="1554480"/>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JavaScript</a:t>
            </a:r>
            <a:endParaRPr lang="en-US" sz="1050" dirty="0"/>
          </a:p>
        </p:txBody>
      </p:sp>
      <p:sp>
        <p:nvSpPr>
          <p:cNvPr id="20" name="Text 15"/>
          <p:cNvSpPr txBox="1"/>
          <p:nvPr/>
        </p:nvSpPr>
        <p:spPr>
          <a:xfrm>
            <a:off x="694944" y="1975104"/>
            <a:ext cx="5815584" cy="2025650"/>
          </a:xfrm>
          <a:prstGeom prst="rect">
            <a:avLst/>
          </a:prstGeom>
          <a:noFill/>
          <a:ln/>
        </p:spPr>
        <p:txBody>
          <a:bodyPr wrap="square" lIns="0" tIns="0" rIns="0" bIns="0" rtlCol="0" anchor="t"/>
          <a:lstStyle/>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 1  </a:t>
            </a:r>
            <a:r>
              <a:rPr lang="en-US" sz="1050" i="1" dirty="0">
                <a:solidFill>
                  <a:srgbClr val="4A534E"/>
                </a:solidFill>
                <a:latin typeface="Consolas" pitchFamily="34" charset="0"/>
                <a:ea typeface="Consolas" pitchFamily="34" charset="-122"/>
                <a:cs typeface="Consolas" pitchFamily="34" charset="-120"/>
              </a:rPr>
              <a:t>// the web page has &lt;p id="total"&gt; and &lt;button id="add"&gt;</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 2  </a:t>
            </a:r>
            <a:r>
              <a:rPr lang="en-US" sz="1050" b="1" dirty="0">
                <a:solidFill>
                  <a:srgbClr val="B8323A"/>
                </a:solidFill>
                <a:latin typeface="Consolas" pitchFamily="34" charset="0"/>
                <a:ea typeface="Consolas" pitchFamily="34" charset="-122"/>
                <a:cs typeface="Consolas" pitchFamily="34" charset="-120"/>
              </a:rPr>
              <a:t>let</a:t>
            </a:r>
            <a:r>
              <a:rPr lang="en-US" sz="1050" dirty="0">
                <a:solidFill>
                  <a:srgbClr val="1B1F1D"/>
                </a:solidFill>
                <a:latin typeface="Consolas" pitchFamily="34" charset="0"/>
                <a:ea typeface="Consolas" pitchFamily="34" charset="-122"/>
                <a:cs typeface="Consolas" pitchFamily="34" charset="-120"/>
              </a:rPr>
              <a:t> total = </a:t>
            </a:r>
            <a:r>
              <a:rPr lang="en-US" sz="1050" dirty="0">
                <a:solidFill>
                  <a:srgbClr val="A35A00"/>
                </a:solidFill>
                <a:latin typeface="Consolas" pitchFamily="34" charset="0"/>
                <a:ea typeface="Consolas" pitchFamily="34" charset="-122"/>
                <a:cs typeface="Consolas" pitchFamily="34" charset="-120"/>
              </a:rPr>
              <a:t>0</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 3  </a:t>
            </a:r>
            <a:r>
              <a:rPr lang="en-US" sz="1050" b="1" dirty="0">
                <a:solidFill>
                  <a:srgbClr val="B8323A"/>
                </a:solidFill>
                <a:latin typeface="Consolas" pitchFamily="34" charset="0"/>
                <a:ea typeface="Consolas" pitchFamily="34" charset="-122"/>
                <a:cs typeface="Consolas" pitchFamily="34" charset="-120"/>
              </a:rPr>
              <a:t>const</a:t>
            </a:r>
            <a:r>
              <a:rPr lang="en-US" sz="1050" dirty="0">
                <a:solidFill>
                  <a:srgbClr val="1B1F1D"/>
                </a:solidFill>
                <a:latin typeface="Consolas" pitchFamily="34" charset="0"/>
                <a:ea typeface="Consolas" pitchFamily="34" charset="-122"/>
                <a:cs typeface="Consolas" pitchFamily="34" charset="-120"/>
              </a:rPr>
              <a:t> button = </a:t>
            </a:r>
            <a:r>
              <a:rPr lang="en-US" sz="1050" dirty="0">
                <a:solidFill>
                  <a:srgbClr val="3456C0"/>
                </a:solidFill>
                <a:latin typeface="Consolas" pitchFamily="34" charset="0"/>
                <a:ea typeface="Consolas" pitchFamily="34" charset="-122"/>
                <a:cs typeface="Consolas" pitchFamily="34" charset="-120"/>
              </a:rPr>
              <a:t>document</a:t>
            </a:r>
            <a:r>
              <a:rPr lang="en-US" sz="1050" dirty="0">
                <a:solidFill>
                  <a:srgbClr val="1B1F1D"/>
                </a:solidFill>
                <a:latin typeface="Consolas" pitchFamily="34" charset="0"/>
                <a:ea typeface="Consolas" pitchFamily="34" charset="-122"/>
                <a:cs typeface="Consolas" pitchFamily="34" charset="-120"/>
              </a:rPr>
              <a:t>.querySelector(</a:t>
            </a:r>
            <a:r>
              <a:rPr lang="en-US" sz="1050" dirty="0">
                <a:solidFill>
                  <a:srgbClr val="1D7A4E"/>
                </a:solidFill>
                <a:latin typeface="Consolas" pitchFamily="34" charset="0"/>
                <a:ea typeface="Consolas" pitchFamily="34" charset="-122"/>
                <a:cs typeface="Consolas" pitchFamily="34" charset="-120"/>
              </a:rPr>
              <a:t>"#add"</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 4  </a:t>
            </a:r>
            <a:r>
              <a:rPr lang="en-US" sz="1050" b="1" dirty="0">
                <a:solidFill>
                  <a:srgbClr val="B8323A"/>
                </a:solidFill>
                <a:latin typeface="Consolas" pitchFamily="34" charset="0"/>
                <a:ea typeface="Consolas" pitchFamily="34" charset="-122"/>
                <a:cs typeface="Consolas" pitchFamily="34" charset="-120"/>
              </a:rPr>
              <a:t>const</a:t>
            </a:r>
            <a:r>
              <a:rPr lang="en-US" sz="1050" dirty="0">
                <a:solidFill>
                  <a:srgbClr val="1B1F1D"/>
                </a:solidFill>
                <a:latin typeface="Consolas" pitchFamily="34" charset="0"/>
                <a:ea typeface="Consolas" pitchFamily="34" charset="-122"/>
                <a:cs typeface="Consolas" pitchFamily="34" charset="-120"/>
              </a:rPr>
              <a:t> label = </a:t>
            </a:r>
            <a:r>
              <a:rPr lang="en-US" sz="1050" dirty="0">
                <a:solidFill>
                  <a:srgbClr val="3456C0"/>
                </a:solidFill>
                <a:latin typeface="Consolas" pitchFamily="34" charset="0"/>
                <a:ea typeface="Consolas" pitchFamily="34" charset="-122"/>
                <a:cs typeface="Consolas" pitchFamily="34" charset="-120"/>
              </a:rPr>
              <a:t>document</a:t>
            </a:r>
            <a:r>
              <a:rPr lang="en-US" sz="1050" dirty="0">
                <a:solidFill>
                  <a:srgbClr val="1B1F1D"/>
                </a:solidFill>
                <a:latin typeface="Consolas" pitchFamily="34" charset="0"/>
                <a:ea typeface="Consolas" pitchFamily="34" charset="-122"/>
                <a:cs typeface="Consolas" pitchFamily="34" charset="-120"/>
              </a:rPr>
              <a:t>.querySelector(</a:t>
            </a:r>
            <a:r>
              <a:rPr lang="en-US" sz="1050" dirty="0">
                <a:solidFill>
                  <a:srgbClr val="1D7A4E"/>
                </a:solidFill>
                <a:latin typeface="Consolas" pitchFamily="34" charset="0"/>
                <a:ea typeface="Consolas" pitchFamily="34" charset="-122"/>
                <a:cs typeface="Consolas" pitchFamily="34" charset="-120"/>
              </a:rPr>
              <a:t>"#total"</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 5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 6  </a:t>
            </a:r>
            <a:r>
              <a:rPr lang="en-US" sz="1050" b="1" dirty="0">
                <a:solidFill>
                  <a:srgbClr val="B8323A"/>
                </a:solidFill>
                <a:latin typeface="Consolas" pitchFamily="34" charset="0"/>
                <a:ea typeface="Consolas" pitchFamily="34" charset="-122"/>
                <a:cs typeface="Consolas" pitchFamily="34" charset="-120"/>
              </a:rPr>
              <a:t>function</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addCroissant</a:t>
            </a:r>
            <a:r>
              <a:rPr lang="en-US" sz="1050" dirty="0">
                <a:solidFill>
                  <a:srgbClr val="1B1F1D"/>
                </a:solidFill>
                <a:latin typeface="Consolas" pitchFamily="34" charset="0"/>
                <a:ea typeface="Consolas" pitchFamily="34" charset="-122"/>
                <a:cs typeface="Consolas" pitchFamily="34" charset="-120"/>
              </a:rPr>
              <a:t>() {                        </a:t>
            </a:r>
            <a:r>
              <a:rPr lang="en-US" sz="1050" i="1" dirty="0">
                <a:solidFill>
                  <a:srgbClr val="4A534E"/>
                </a:solidFill>
                <a:latin typeface="Consolas" pitchFamily="34" charset="0"/>
                <a:ea typeface="Consolas" pitchFamily="34" charset="-122"/>
                <a:cs typeface="Consolas" pitchFamily="34" charset="-120"/>
              </a:rPr>
              <a:t>// event handler</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 7  </a:t>
            </a:r>
            <a:r>
              <a:rPr lang="en-US" sz="1050" dirty="0">
                <a:solidFill>
                  <a:srgbClr val="1B1F1D"/>
                </a:solidFill>
                <a:latin typeface="Consolas" pitchFamily="34" charset="0"/>
                <a:ea typeface="Consolas" pitchFamily="34" charset="-122"/>
                <a:cs typeface="Consolas" pitchFamily="34" charset="-120"/>
              </a:rPr>
              <a:t>  total = total + </a:t>
            </a:r>
            <a:r>
              <a:rPr lang="en-US" sz="1050" dirty="0">
                <a:solidFill>
                  <a:srgbClr val="A35A00"/>
                </a:solidFill>
                <a:latin typeface="Consolas" pitchFamily="34" charset="0"/>
                <a:ea typeface="Consolas" pitchFamily="34" charset="-122"/>
                <a:cs typeface="Consolas" pitchFamily="34" charset="-120"/>
              </a:rPr>
              <a:t>1.25</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 8  </a:t>
            </a:r>
            <a:r>
              <a:rPr lang="en-US" sz="1050" dirty="0">
                <a:solidFill>
                  <a:srgbClr val="1B1F1D"/>
                </a:solidFill>
                <a:latin typeface="Consolas" pitchFamily="34" charset="0"/>
                <a:ea typeface="Consolas" pitchFamily="34" charset="-122"/>
                <a:cs typeface="Consolas" pitchFamily="34" charset="-120"/>
              </a:rPr>
              <a:t>  label.textContent = </a:t>
            </a:r>
            <a:r>
              <a:rPr lang="en-US" sz="1050" dirty="0">
                <a:solidFill>
                  <a:srgbClr val="1D7A4E"/>
                </a:solidFill>
                <a:latin typeface="Consolas" pitchFamily="34" charset="0"/>
                <a:ea typeface="Consolas" pitchFamily="34" charset="-122"/>
                <a:cs typeface="Consolas" pitchFamily="34" charset="-120"/>
              </a:rPr>
              <a:t>`Total: £${total.toFixed(2)}`</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 9  </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10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450"/>
              </a:lnSpc>
              <a:buNone/>
            </a:pPr>
            <a:r>
              <a:rPr lang="en-US" sz="1050" dirty="0">
                <a:solidFill>
                  <a:srgbClr val="8A948F"/>
                </a:solidFill>
                <a:latin typeface="Consolas" pitchFamily="34" charset="0"/>
                <a:ea typeface="Consolas" pitchFamily="34" charset="-122"/>
                <a:cs typeface="Consolas" pitchFamily="34" charset="-120"/>
              </a:rPr>
              <a:t>11  </a:t>
            </a:r>
            <a:r>
              <a:rPr lang="en-US" sz="1050" dirty="0">
                <a:solidFill>
                  <a:srgbClr val="1B1F1D"/>
                </a:solidFill>
                <a:latin typeface="Consolas" pitchFamily="34" charset="0"/>
                <a:ea typeface="Consolas" pitchFamily="34" charset="-122"/>
                <a:cs typeface="Consolas" pitchFamily="34" charset="-120"/>
              </a:rPr>
              <a:t>button.addEventListener(</a:t>
            </a:r>
            <a:r>
              <a:rPr lang="en-US" sz="1050" dirty="0">
                <a:solidFill>
                  <a:srgbClr val="1D7A4E"/>
                </a:solidFill>
                <a:latin typeface="Consolas" pitchFamily="34" charset="0"/>
                <a:ea typeface="Consolas" pitchFamily="34" charset="-122"/>
                <a:cs typeface="Consolas" pitchFamily="34" charset="-120"/>
              </a:rPr>
              <a:t>"click"</a:t>
            </a:r>
            <a:r>
              <a:rPr lang="en-US" sz="1050" dirty="0">
                <a:solidFill>
                  <a:srgbClr val="1B1F1D"/>
                </a:solidFill>
                <a:latin typeface="Consolas" pitchFamily="34" charset="0"/>
                <a:ea typeface="Consolas" pitchFamily="34" charset="-122"/>
                <a:cs typeface="Consolas" pitchFamily="34" charset="-120"/>
              </a:rPr>
              <a:t>, addCroissant);  </a:t>
            </a:r>
            <a:r>
              <a:rPr lang="en-US" sz="1050" i="1" dirty="0">
                <a:solidFill>
                  <a:srgbClr val="4A534E"/>
                </a:solidFill>
                <a:latin typeface="Consolas" pitchFamily="34" charset="0"/>
                <a:ea typeface="Consolas" pitchFamily="34" charset="-122"/>
                <a:cs typeface="Consolas" pitchFamily="34" charset="-120"/>
              </a:rPr>
              <a:t>// event listener</a:t>
            </a:r>
            <a:endParaRPr lang="en-US" sz="1050" dirty="0"/>
          </a:p>
        </p:txBody>
      </p:sp>
      <p:sp>
        <p:nvSpPr>
          <p:cNvPr id="21" name="Shape 16"/>
          <p:cNvSpPr/>
          <p:nvPr/>
        </p:nvSpPr>
        <p:spPr>
          <a:xfrm>
            <a:off x="548640" y="1554480"/>
            <a:ext cx="6035040" cy="2565146"/>
          </a:xfrm>
          <a:prstGeom prst="roundRect">
            <a:avLst>
              <a:gd name="adj" fmla="val 2852"/>
            </a:avLst>
          </a:prstGeom>
          <a:ln w="12700">
            <a:solidFill>
              <a:srgbClr val="DFE3DE"/>
            </a:solidFill>
            <a:prstDash val="solid"/>
          </a:ln>
        </p:spPr>
      </p:sp>
      <p:sp>
        <p:nvSpPr>
          <p:cNvPr id="22" name="Text 17"/>
          <p:cNvSpPr txBox="1"/>
          <p:nvPr/>
        </p:nvSpPr>
        <p:spPr>
          <a:xfrm>
            <a:off x="548640" y="4229354"/>
            <a:ext cx="6035040" cy="457200"/>
          </a:xfrm>
          <a:prstGeom prst="rect">
            <a:avLst/>
          </a:prstGeom>
          <a:noFill/>
          <a:ln/>
        </p:spPr>
        <p:txBody>
          <a:bodyPr wrap="square" lIns="0" tIns="0" rIns="0" bIns="0" rtlCol="0" anchor="t"/>
          <a:lstStyle/>
          <a:p>
            <a:pPr indent="0" marL="0">
              <a:buNone/>
            </a:pPr>
            <a:r>
              <a:rPr lang="en-US" sz="1200" dirty="0">
                <a:solidFill>
                  <a:srgbClr val="4A534E"/>
                </a:solidFill>
                <a:latin typeface="Calibri" pitchFamily="34" charset="0"/>
                <a:ea typeface="Calibri" pitchFamily="34" charset="-122"/>
                <a:cs typeface="Calibri" pitchFamily="34" charset="-120"/>
              </a:rPr>
              <a:t>The same idea on a web page. Browsers are event-driven: </a:t>
            </a:r>
            <a:r>
              <a:rPr lang="en-US" sz="1104" dirty="0">
                <a:solidFill>
                  <a:srgbClr val="4A534E"/>
                </a:solidFill>
                <a:latin typeface="Consolas" pitchFamily="34" charset="0"/>
                <a:ea typeface="Consolas" pitchFamily="34" charset="-122"/>
                <a:cs typeface="Consolas" pitchFamily="34" charset="-120"/>
              </a:rPr>
              <a:t>addEventListener()</a:t>
            </a:r>
            <a:r>
              <a:rPr lang="en-US" sz="1200" dirty="0">
                <a:solidFill>
                  <a:srgbClr val="4A534E"/>
                </a:solidFill>
                <a:latin typeface="Calibri" pitchFamily="34" charset="0"/>
                <a:ea typeface="Calibri" pitchFamily="34" charset="-122"/>
                <a:cs typeface="Calibri" pitchFamily="34" charset="-120"/>
              </a:rPr>
              <a:t> links an event to its handler </a:t>
            </a:r>
            <a:r>
              <a:rPr lang="en-US" sz="1050" dirty="0">
                <a:solidFill>
                  <a:srgbClr val="5F6964"/>
                </a:solidFill>
                <a:latin typeface="Calibri" pitchFamily="34" charset="0"/>
                <a:ea typeface="Calibri" pitchFamily="34" charset="-122"/>
                <a:cs typeface="Calibri" pitchFamily="34" charset="-120"/>
              </a:rPr>
              <a:t>(MDN Web Docs, no date b).</a:t>
            </a:r>
            <a:endParaRPr lang="en-US" sz="1400" dirty="0"/>
          </a:p>
        </p:txBody>
      </p:sp>
      <p:sp>
        <p:nvSpPr>
          <p:cNvPr id="23" name="Shape 18"/>
          <p:cNvSpPr/>
          <p:nvPr/>
        </p:nvSpPr>
        <p:spPr>
          <a:xfrm>
            <a:off x="548640" y="4777994"/>
            <a:ext cx="6035040" cy="1261872"/>
          </a:xfrm>
          <a:prstGeom prst="roundRect">
            <a:avLst>
              <a:gd name="adj" fmla="val 8696"/>
            </a:avLst>
          </a:prstGeom>
          <a:solidFill>
            <a:srgbClr val="FCF5EB"/>
          </a:solidFill>
          <a:ln w="12700">
            <a:solidFill>
              <a:srgbClr val="F7E1BF"/>
            </a:solidFill>
            <a:prstDash val="solid"/>
          </a:ln>
        </p:spPr>
      </p:sp>
      <p:sp>
        <p:nvSpPr>
          <p:cNvPr id="24" name="Text 19"/>
          <p:cNvSpPr txBox="1"/>
          <p:nvPr/>
        </p:nvSpPr>
        <p:spPr>
          <a:xfrm>
            <a:off x="749808" y="4887722"/>
            <a:ext cx="5577840" cy="292608"/>
          </a:xfrm>
          <a:prstGeom prst="rect">
            <a:avLst/>
          </a:prstGeom>
          <a:noFill/>
          <a:ln/>
        </p:spPr>
        <p:txBody>
          <a:bodyPr wrap="square" lIns="0" tIns="0" rIns="0" bIns="0" rtlCol="0" anchor="ctr"/>
          <a:lstStyle/>
          <a:p>
            <a:pPr indent="0" marL="0">
              <a:buNone/>
            </a:pPr>
            <a:r>
              <a:rPr lang="en-US" sz="1400" b="1" dirty="0">
                <a:solidFill>
                  <a:srgbClr val="1B1F1D"/>
                </a:solidFill>
                <a:latin typeface="Cambria" pitchFamily="34" charset="0"/>
                <a:ea typeface="Cambria" pitchFamily="34" charset="-122"/>
                <a:cs typeface="Cambria" pitchFamily="34" charset="-120"/>
              </a:rPr>
              <a:t>This presentation is event-driven too</a:t>
            </a:r>
            <a:endParaRPr lang="en-US" sz="1400" dirty="0"/>
          </a:p>
        </p:txBody>
      </p:sp>
      <p:sp>
        <p:nvSpPr>
          <p:cNvPr id="25" name="Text 20"/>
          <p:cNvSpPr txBox="1"/>
          <p:nvPr/>
        </p:nvSpPr>
        <p:spPr>
          <a:xfrm>
            <a:off x="749808" y="5198618"/>
            <a:ext cx="5577840" cy="384048"/>
          </a:xfrm>
          <a:prstGeom prst="rect">
            <a:avLst/>
          </a:prstGeom>
          <a:noFill/>
          <a:ln/>
        </p:spPr>
        <p:txBody>
          <a:bodyPr wrap="square" lIns="0" tIns="0" rIns="0" bIns="0" rtlCol="0" anchor="t"/>
          <a:lstStyle/>
          <a:p>
            <a:pPr indent="0" marL="0">
              <a:buNone/>
            </a:pPr>
            <a:r>
              <a:rPr lang="en-US" sz="1200" dirty="0">
                <a:solidFill>
                  <a:srgbClr val="4A534E"/>
                </a:solidFill>
                <a:latin typeface="Calibri" pitchFamily="34" charset="0"/>
                <a:ea typeface="Calibri" pitchFamily="34" charset="-122"/>
                <a:cs typeface="Calibri" pitchFamily="34" charset="-120"/>
              </a:rPr>
              <a:t>Every click or key press is an event. PowerPoint's event handler reacts by showing the next slide.</a:t>
            </a:r>
            <a:endParaRPr lang="en-US" sz="1200" dirty="0"/>
          </a:p>
        </p:txBody>
      </p:sp>
      <p:sp>
        <p:nvSpPr>
          <p:cNvPr id="26" name="Shape 21"/>
          <p:cNvSpPr/>
          <p:nvPr/>
        </p:nvSpPr>
        <p:spPr>
          <a:xfrm>
            <a:off x="749808" y="5619242"/>
            <a:ext cx="1798320" cy="292608"/>
          </a:xfrm>
          <a:prstGeom prst="roundRect">
            <a:avLst>
              <a:gd name="adj" fmla="val 18750"/>
            </a:avLst>
          </a:prstGeom>
          <a:solidFill>
            <a:srgbClr val="FFFFFF"/>
          </a:solidFill>
          <a:ln w="12700">
            <a:solidFill>
              <a:srgbClr val="F7E1BF"/>
            </a:solidFill>
            <a:prstDash val="solid"/>
          </a:ln>
        </p:spPr>
      </p:sp>
      <p:sp>
        <p:nvSpPr>
          <p:cNvPr id="27" name="Text 22"/>
          <p:cNvSpPr txBox="1"/>
          <p:nvPr/>
        </p:nvSpPr>
        <p:spPr>
          <a:xfrm>
            <a:off x="749808" y="5619242"/>
            <a:ext cx="1798320" cy="292608"/>
          </a:xfrm>
          <a:prstGeom prst="rect">
            <a:avLst/>
          </a:prstGeom>
          <a:noFill/>
          <a:ln/>
        </p:spPr>
        <p:txBody>
          <a:bodyPr wrap="square" lIns="0" tIns="0" rIns="0" bIns="0" rtlCol="0" anchor="ctr"/>
          <a:lstStyle/>
          <a:p>
            <a:pPr algn="ctr" indent="0" marL="0">
              <a:buNone/>
            </a:pPr>
            <a:r>
              <a:rPr lang="en-US" sz="1000" dirty="0">
                <a:solidFill>
                  <a:srgbClr val="1B1F1D"/>
                </a:solidFill>
                <a:latin typeface="Consolas" pitchFamily="34" charset="0"/>
                <a:ea typeface="Consolas" pitchFamily="34" charset="-122"/>
                <a:cs typeface="Consolas" pitchFamily="34" charset="-120"/>
              </a:rPr>
              <a:t>click  →  next slide</a:t>
            </a:r>
            <a:endParaRPr lang="en-US" sz="1000" dirty="0"/>
          </a:p>
        </p:txBody>
      </p:sp>
      <p:sp>
        <p:nvSpPr>
          <p:cNvPr id="28" name="Shape 23"/>
          <p:cNvSpPr/>
          <p:nvPr/>
        </p:nvSpPr>
        <p:spPr>
          <a:xfrm>
            <a:off x="2657856" y="5619242"/>
            <a:ext cx="2103120" cy="292608"/>
          </a:xfrm>
          <a:prstGeom prst="roundRect">
            <a:avLst>
              <a:gd name="adj" fmla="val 18750"/>
            </a:avLst>
          </a:prstGeom>
          <a:solidFill>
            <a:srgbClr val="FFFFFF"/>
          </a:solidFill>
          <a:ln w="12700">
            <a:solidFill>
              <a:srgbClr val="F7E1BF"/>
            </a:solidFill>
            <a:prstDash val="solid"/>
          </a:ln>
        </p:spPr>
      </p:sp>
      <p:sp>
        <p:nvSpPr>
          <p:cNvPr id="29" name="Text 24"/>
          <p:cNvSpPr txBox="1"/>
          <p:nvPr/>
        </p:nvSpPr>
        <p:spPr>
          <a:xfrm>
            <a:off x="2657856" y="5619242"/>
            <a:ext cx="2103120" cy="292608"/>
          </a:xfrm>
          <a:prstGeom prst="rect">
            <a:avLst/>
          </a:prstGeom>
          <a:noFill/>
          <a:ln/>
        </p:spPr>
        <p:txBody>
          <a:bodyPr wrap="square" lIns="0" tIns="0" rIns="0" bIns="0" rtlCol="0" anchor="ctr"/>
          <a:lstStyle/>
          <a:p>
            <a:pPr algn="ctr" indent="0" marL="0">
              <a:buNone/>
            </a:pPr>
            <a:r>
              <a:rPr lang="en-US" sz="1000" dirty="0">
                <a:solidFill>
                  <a:srgbClr val="1B1F1D"/>
                </a:solidFill>
                <a:latin typeface="Consolas" pitchFamily="34" charset="0"/>
                <a:ea typeface="Consolas" pitchFamily="34" charset="-122"/>
                <a:cs typeface="Consolas" pitchFamily="34" charset="-120"/>
              </a:rPr>
              <a:t>arrow key  →  next slide</a:t>
            </a:r>
            <a:endParaRPr lang="en-US" sz="1000" dirty="0"/>
          </a:p>
        </p:txBody>
      </p:sp>
      <p:sp>
        <p:nvSpPr>
          <p:cNvPr id="30" name="Shape 25"/>
          <p:cNvSpPr/>
          <p:nvPr/>
        </p:nvSpPr>
        <p:spPr>
          <a:xfrm>
            <a:off x="6903720" y="1554480"/>
            <a:ext cx="4736592" cy="1481328"/>
          </a:xfrm>
          <a:prstGeom prst="roundRect">
            <a:avLst>
              <a:gd name="adj" fmla="val 7407"/>
            </a:avLst>
          </a:prstGeom>
          <a:solidFill>
            <a:srgbClr val="E3F3E5"/>
          </a:solidFill>
          <a:ln/>
        </p:spPr>
      </p:sp>
      <p:sp>
        <p:nvSpPr>
          <p:cNvPr id="31" name="Shape 26"/>
          <p:cNvSpPr/>
          <p:nvPr/>
        </p:nvSpPr>
        <p:spPr>
          <a:xfrm>
            <a:off x="7086600" y="1700784"/>
            <a:ext cx="292608" cy="292608"/>
          </a:xfrm>
          <a:prstGeom prst="ellipse">
            <a:avLst/>
          </a:prstGeom>
          <a:solidFill>
            <a:srgbClr val="0CA30C"/>
          </a:solidFill>
          <a:ln/>
        </p:spPr>
      </p:sp>
      <p:sp>
        <p:nvSpPr>
          <p:cNvPr id="32" name="Text 27"/>
          <p:cNvSpPr txBox="1"/>
          <p:nvPr/>
        </p:nvSpPr>
        <p:spPr>
          <a:xfrm>
            <a:off x="7086600" y="1700784"/>
            <a:ext cx="292608"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3" name="Text 28"/>
          <p:cNvSpPr txBox="1"/>
          <p:nvPr/>
        </p:nvSpPr>
        <p:spPr>
          <a:xfrm>
            <a:off x="7488936" y="1664208"/>
            <a:ext cx="4005072" cy="365760"/>
          </a:xfrm>
          <a:prstGeom prst="rect">
            <a:avLst/>
          </a:prstGeom>
          <a:noFill/>
          <a:ln/>
        </p:spPr>
        <p:txBody>
          <a:bodyPr wrap="square" lIns="0" tIns="0" rIns="0" bIns="0" rtlCol="0" anchor="ctr"/>
          <a:lstStyle/>
          <a:p>
            <a:pPr indent="0" marL="0">
              <a:buNone/>
            </a:pPr>
            <a:r>
              <a:rPr lang="en-US" sz="1700" b="1" dirty="0">
                <a:solidFill>
                  <a:srgbClr val="1B1F1D"/>
                </a:solidFill>
                <a:latin typeface="Cambria" pitchFamily="34" charset="0"/>
                <a:ea typeface="Cambria" pitchFamily="34" charset="-122"/>
                <a:cs typeface="Cambria" pitchFamily="34" charset="-120"/>
              </a:rPr>
              <a:t>Advantages</a:t>
            </a:r>
            <a:endParaRPr lang="en-US" sz="1700" dirty="0"/>
          </a:p>
        </p:txBody>
      </p:sp>
      <p:sp>
        <p:nvSpPr>
          <p:cNvPr id="34" name="Text 29"/>
          <p:cNvSpPr txBox="1"/>
          <p:nvPr/>
        </p:nvSpPr>
        <p:spPr>
          <a:xfrm>
            <a:off x="7123176" y="2103120"/>
            <a:ext cx="4352544" cy="877824"/>
          </a:xfrm>
          <a:prstGeom prst="rect">
            <a:avLst/>
          </a:prstGeom>
          <a:noFill/>
          <a:ln/>
        </p:spPr>
        <p:txBody>
          <a:bodyPr wrap="square" lIns="0" tIns="0" rIns="0" bIns="0" rtlCol="0" anchor="t"/>
          <a:lstStyle/>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Made for interaction:</a:t>
            </a:r>
            <a:r>
              <a:rPr lang="en-US" sz="1250" dirty="0">
                <a:solidFill>
                  <a:srgbClr val="1B1F1D"/>
                </a:solidFill>
                <a:latin typeface="Calibri" pitchFamily="34" charset="0"/>
                <a:ea typeface="Calibri" pitchFamily="34" charset="-122"/>
                <a:cs typeface="Calibri" pitchFamily="34" charset="-120"/>
              </a:rPr>
              <a:t> it reacts straight away</a:t>
            </a:r>
            <a:endParaRPr lang="en-US" sz="1400" dirty="0"/>
          </a:p>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Easy to extend:</a:t>
            </a:r>
            <a:r>
              <a:rPr lang="en-US" sz="1250" dirty="0">
                <a:solidFill>
                  <a:srgbClr val="1B1F1D"/>
                </a:solidFill>
                <a:latin typeface="Calibri" pitchFamily="34" charset="0"/>
                <a:ea typeface="Calibri" pitchFamily="34" charset="-122"/>
                <a:cs typeface="Calibri" pitchFamily="34" charset="-120"/>
              </a:rPr>
              <a:t> a new button needs a new handler</a:t>
            </a:r>
            <a:endParaRPr lang="en-US" sz="1400" dirty="0"/>
          </a:p>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No wasted work:</a:t>
            </a:r>
            <a:r>
              <a:rPr lang="en-US" sz="1250" dirty="0">
                <a:solidFill>
                  <a:srgbClr val="1B1F1D"/>
                </a:solidFill>
                <a:latin typeface="Calibri" pitchFamily="34" charset="0"/>
                <a:ea typeface="Calibri" pitchFamily="34" charset="-122"/>
                <a:cs typeface="Calibri" pitchFamily="34" charset="-120"/>
              </a:rPr>
              <a:t> nothing runs until an event</a:t>
            </a:r>
            <a:endParaRPr lang="en-US" sz="1400" dirty="0"/>
          </a:p>
        </p:txBody>
      </p:sp>
      <p:sp>
        <p:nvSpPr>
          <p:cNvPr id="35" name="Shape 30"/>
          <p:cNvSpPr/>
          <p:nvPr/>
        </p:nvSpPr>
        <p:spPr>
          <a:xfrm>
            <a:off x="6903720" y="3145536"/>
            <a:ext cx="4736592" cy="1481328"/>
          </a:xfrm>
          <a:prstGeom prst="roundRect">
            <a:avLst>
              <a:gd name="adj" fmla="val 7407"/>
            </a:avLst>
          </a:prstGeom>
          <a:solidFill>
            <a:srgbClr val="FBE8E7"/>
          </a:solidFill>
          <a:ln/>
        </p:spPr>
      </p:sp>
      <p:sp>
        <p:nvSpPr>
          <p:cNvPr id="36" name="Shape 31"/>
          <p:cNvSpPr/>
          <p:nvPr/>
        </p:nvSpPr>
        <p:spPr>
          <a:xfrm>
            <a:off x="7086600" y="3291840"/>
            <a:ext cx="292608" cy="292608"/>
          </a:xfrm>
          <a:prstGeom prst="ellipse">
            <a:avLst/>
          </a:prstGeom>
          <a:solidFill>
            <a:srgbClr val="D03B3B"/>
          </a:solidFill>
          <a:ln/>
        </p:spPr>
      </p:sp>
      <p:sp>
        <p:nvSpPr>
          <p:cNvPr id="37" name="Text 32"/>
          <p:cNvSpPr txBox="1"/>
          <p:nvPr/>
        </p:nvSpPr>
        <p:spPr>
          <a:xfrm>
            <a:off x="7086600" y="3291840"/>
            <a:ext cx="292608"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8" name="Text 33"/>
          <p:cNvSpPr txBox="1"/>
          <p:nvPr/>
        </p:nvSpPr>
        <p:spPr>
          <a:xfrm>
            <a:off x="7488936" y="3255264"/>
            <a:ext cx="4005072" cy="365760"/>
          </a:xfrm>
          <a:prstGeom prst="rect">
            <a:avLst/>
          </a:prstGeom>
          <a:noFill/>
          <a:ln/>
        </p:spPr>
        <p:txBody>
          <a:bodyPr wrap="square" lIns="0" tIns="0" rIns="0" bIns="0" rtlCol="0" anchor="ctr"/>
          <a:lstStyle/>
          <a:p>
            <a:pPr indent="0" marL="0">
              <a:buNone/>
            </a:pPr>
            <a:r>
              <a:rPr lang="en-US" sz="1700" b="1" dirty="0">
                <a:solidFill>
                  <a:srgbClr val="1B1F1D"/>
                </a:solidFill>
                <a:latin typeface="Cambria" pitchFamily="34" charset="0"/>
                <a:ea typeface="Cambria" pitchFamily="34" charset="-122"/>
                <a:cs typeface="Cambria" pitchFamily="34" charset="-120"/>
              </a:rPr>
              <a:t>Disadvantages</a:t>
            </a:r>
            <a:endParaRPr lang="en-US" sz="1700" dirty="0"/>
          </a:p>
        </p:txBody>
      </p:sp>
      <p:sp>
        <p:nvSpPr>
          <p:cNvPr id="39" name="Text 34"/>
          <p:cNvSpPr txBox="1"/>
          <p:nvPr/>
        </p:nvSpPr>
        <p:spPr>
          <a:xfrm>
            <a:off x="7123176" y="3694176"/>
            <a:ext cx="4352544" cy="877824"/>
          </a:xfrm>
          <a:prstGeom prst="rect">
            <a:avLst/>
          </a:prstGeom>
          <a:noFill/>
          <a:ln/>
        </p:spPr>
        <p:txBody>
          <a:bodyPr wrap="square" lIns="0" tIns="0" rIns="0" bIns="0" rtlCol="0" anchor="t"/>
          <a:lstStyle/>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Harder to test:</a:t>
            </a:r>
            <a:r>
              <a:rPr lang="en-US" sz="1250" dirty="0">
                <a:solidFill>
                  <a:srgbClr val="1B1F1D"/>
                </a:solidFill>
                <a:latin typeface="Calibri" pitchFamily="34" charset="0"/>
                <a:ea typeface="Calibri" pitchFamily="34" charset="-122"/>
                <a:cs typeface="Calibri" pitchFamily="34" charset="-120"/>
              </a:rPr>
              <a:t> events can come in any order</a:t>
            </a:r>
            <a:endParaRPr lang="en-US" sz="1400" dirty="0"/>
          </a:p>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Harder to follow:</a:t>
            </a:r>
            <a:r>
              <a:rPr lang="en-US" sz="1250" dirty="0">
                <a:solidFill>
                  <a:srgbClr val="1B1F1D"/>
                </a:solidFill>
                <a:latin typeface="Calibri" pitchFamily="34" charset="0"/>
                <a:ea typeface="Calibri" pitchFamily="34" charset="-122"/>
                <a:cs typeface="Calibri" pitchFamily="34" charset="-120"/>
              </a:rPr>
              <a:t> the code jumps between handlers</a:t>
            </a:r>
            <a:endParaRPr lang="en-US" sz="1400" dirty="0"/>
          </a:p>
          <a:p>
            <a:pPr marL="177800" indent="-177800">
              <a:spcAft>
                <a:spcPts val="400"/>
              </a:spcAft>
              <a:buSzPct val="100000"/>
              <a:buChar char="•"/>
            </a:pPr>
            <a:r>
              <a:rPr lang="en-US" sz="1250" b="1" dirty="0">
                <a:solidFill>
                  <a:srgbClr val="1B1F1D"/>
                </a:solidFill>
                <a:latin typeface="Calibri" pitchFamily="34" charset="0"/>
                <a:ea typeface="Calibri" pitchFamily="34" charset="-122"/>
                <a:cs typeface="Calibri" pitchFamily="34" charset="-120"/>
              </a:rPr>
              <a:t>A slow handler freezes</a:t>
            </a:r>
            <a:r>
              <a:rPr lang="en-US" sz="1250" dirty="0">
                <a:solidFill>
                  <a:srgbClr val="1B1F1D"/>
                </a:solidFill>
                <a:latin typeface="Calibri" pitchFamily="34" charset="0"/>
                <a:ea typeface="Calibri" pitchFamily="34" charset="-122"/>
                <a:cs typeface="Calibri" pitchFamily="34" charset="-120"/>
              </a:rPr>
              <a:t> the whole app</a:t>
            </a:r>
            <a:endParaRPr lang="en-US" sz="1400" dirty="0"/>
          </a:p>
        </p:txBody>
      </p:sp>
      <p:sp>
        <p:nvSpPr>
          <p:cNvPr id="40" name="Text 35"/>
          <p:cNvSpPr txBox="1"/>
          <p:nvPr/>
        </p:nvSpPr>
        <p:spPr>
          <a:xfrm>
            <a:off x="6903720" y="4791456"/>
            <a:ext cx="4736592"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WHERE IT'S USED</a:t>
            </a:r>
            <a:endParaRPr lang="en-US" sz="1000" dirty="0"/>
          </a:p>
        </p:txBody>
      </p:sp>
      <p:sp>
        <p:nvSpPr>
          <p:cNvPr id="41" name="Shape 36"/>
          <p:cNvSpPr/>
          <p:nvPr/>
        </p:nvSpPr>
        <p:spPr>
          <a:xfrm>
            <a:off x="6903720" y="5065776"/>
            <a:ext cx="1221486" cy="292608"/>
          </a:xfrm>
          <a:prstGeom prst="roundRect">
            <a:avLst>
              <a:gd name="adj" fmla="val 50000"/>
            </a:avLst>
          </a:prstGeom>
          <a:solidFill>
            <a:srgbClr val="FFFFFF"/>
          </a:solidFill>
          <a:ln w="12700">
            <a:solidFill>
              <a:srgbClr val="DFE3DE"/>
            </a:solidFill>
            <a:prstDash val="solid"/>
          </a:ln>
        </p:spPr>
      </p:sp>
      <p:sp>
        <p:nvSpPr>
          <p:cNvPr id="42" name="Text 37"/>
          <p:cNvSpPr txBox="1"/>
          <p:nvPr/>
        </p:nvSpPr>
        <p:spPr>
          <a:xfrm>
            <a:off x="6903720" y="5065776"/>
            <a:ext cx="1221486"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desktop apps</a:t>
            </a:r>
            <a:endParaRPr lang="en-US" sz="1400" dirty="0"/>
          </a:p>
        </p:txBody>
      </p:sp>
      <p:sp>
        <p:nvSpPr>
          <p:cNvPr id="43" name="Shape 38"/>
          <p:cNvSpPr/>
          <p:nvPr/>
        </p:nvSpPr>
        <p:spPr>
          <a:xfrm>
            <a:off x="8216646" y="5065776"/>
            <a:ext cx="1918145" cy="292608"/>
          </a:xfrm>
          <a:prstGeom prst="roundRect">
            <a:avLst>
              <a:gd name="adj" fmla="val 50000"/>
            </a:avLst>
          </a:prstGeom>
          <a:solidFill>
            <a:srgbClr val="FFFFFF"/>
          </a:solidFill>
          <a:ln w="12700">
            <a:solidFill>
              <a:srgbClr val="DFE3DE"/>
            </a:solidFill>
            <a:prstDash val="solid"/>
          </a:ln>
        </p:spPr>
      </p:sp>
      <p:sp>
        <p:nvSpPr>
          <p:cNvPr id="44" name="Text 39"/>
          <p:cNvSpPr txBox="1"/>
          <p:nvPr/>
        </p:nvSpPr>
        <p:spPr>
          <a:xfrm>
            <a:off x="8216646" y="5065776"/>
            <a:ext cx="1918145"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websites (JavaScript)</a:t>
            </a:r>
            <a:endParaRPr lang="en-US" sz="1400" dirty="0"/>
          </a:p>
        </p:txBody>
      </p:sp>
      <p:sp>
        <p:nvSpPr>
          <p:cNvPr id="45" name="Shape 40"/>
          <p:cNvSpPr/>
          <p:nvPr/>
        </p:nvSpPr>
        <p:spPr>
          <a:xfrm>
            <a:off x="10226231" y="5065776"/>
            <a:ext cx="679641" cy="292608"/>
          </a:xfrm>
          <a:prstGeom prst="roundRect">
            <a:avLst>
              <a:gd name="adj" fmla="val 50000"/>
            </a:avLst>
          </a:prstGeom>
          <a:solidFill>
            <a:srgbClr val="FFFFFF"/>
          </a:solidFill>
          <a:ln w="12700">
            <a:solidFill>
              <a:srgbClr val="DFE3DE"/>
            </a:solidFill>
            <a:prstDash val="solid"/>
          </a:ln>
        </p:spPr>
      </p:sp>
      <p:sp>
        <p:nvSpPr>
          <p:cNvPr id="46" name="Text 41"/>
          <p:cNvSpPr txBox="1"/>
          <p:nvPr/>
        </p:nvSpPr>
        <p:spPr>
          <a:xfrm>
            <a:off x="10226231" y="5065776"/>
            <a:ext cx="679641"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games</a:t>
            </a:r>
            <a:endParaRPr lang="en-US" sz="1400" dirty="0"/>
          </a:p>
        </p:txBody>
      </p:sp>
      <p:sp>
        <p:nvSpPr>
          <p:cNvPr id="47" name="Shape 42"/>
          <p:cNvSpPr/>
          <p:nvPr/>
        </p:nvSpPr>
        <p:spPr>
          <a:xfrm>
            <a:off x="6903720" y="5449824"/>
            <a:ext cx="1144080" cy="292608"/>
          </a:xfrm>
          <a:prstGeom prst="roundRect">
            <a:avLst>
              <a:gd name="adj" fmla="val 50000"/>
            </a:avLst>
          </a:prstGeom>
          <a:solidFill>
            <a:srgbClr val="FFFFFF"/>
          </a:solidFill>
          <a:ln w="12700">
            <a:solidFill>
              <a:srgbClr val="DFE3DE"/>
            </a:solidFill>
            <a:prstDash val="solid"/>
          </a:ln>
        </p:spPr>
      </p:sp>
      <p:sp>
        <p:nvSpPr>
          <p:cNvPr id="48" name="Text 43"/>
          <p:cNvSpPr txBox="1"/>
          <p:nvPr/>
        </p:nvSpPr>
        <p:spPr>
          <a:xfrm>
            <a:off x="6903720" y="5449824"/>
            <a:ext cx="1144080"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mobile apps</a:t>
            </a:r>
            <a:endParaRPr lang="en-US" sz="1400" dirty="0"/>
          </a:p>
        </p:txBody>
      </p:sp>
      <p:sp>
        <p:nvSpPr>
          <p:cNvPr id="49" name="Shape 44"/>
          <p:cNvSpPr/>
          <p:nvPr/>
        </p:nvSpPr>
        <p:spPr>
          <a:xfrm>
            <a:off x="8139240" y="5449824"/>
            <a:ext cx="1531112" cy="292608"/>
          </a:xfrm>
          <a:prstGeom prst="roundRect">
            <a:avLst>
              <a:gd name="adj" fmla="val 50000"/>
            </a:avLst>
          </a:prstGeom>
          <a:solidFill>
            <a:srgbClr val="FFFFFF"/>
          </a:solidFill>
          <a:ln w="12700">
            <a:solidFill>
              <a:srgbClr val="DFE3DE"/>
            </a:solidFill>
            <a:prstDash val="solid"/>
          </a:ln>
        </p:spPr>
      </p:sp>
      <p:sp>
        <p:nvSpPr>
          <p:cNvPr id="50" name="Text 45"/>
          <p:cNvSpPr txBox="1"/>
          <p:nvPr/>
        </p:nvSpPr>
        <p:spPr>
          <a:xfrm>
            <a:off x="8139240" y="5449824"/>
            <a:ext cx="1531112"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sensors &amp; alarms</a:t>
            </a:r>
            <a:endParaRPr lang="en-US" sz="1400" dirty="0"/>
          </a:p>
        </p:txBody>
      </p:sp>
      <p:sp>
        <p:nvSpPr>
          <p:cNvPr id="51" name="Shape 46"/>
          <p:cNvSpPr/>
          <p:nvPr/>
        </p:nvSpPr>
        <p:spPr>
          <a:xfrm>
            <a:off x="9761792" y="5449824"/>
            <a:ext cx="1144080" cy="292608"/>
          </a:xfrm>
          <a:prstGeom prst="roundRect">
            <a:avLst>
              <a:gd name="adj" fmla="val 50000"/>
            </a:avLst>
          </a:prstGeom>
          <a:solidFill>
            <a:srgbClr val="FFFFFF"/>
          </a:solidFill>
          <a:ln w="12700">
            <a:solidFill>
              <a:srgbClr val="DFE3DE"/>
            </a:solidFill>
            <a:prstDash val="solid"/>
          </a:ln>
        </p:spPr>
      </p:sp>
      <p:sp>
        <p:nvSpPr>
          <p:cNvPr id="52" name="Text 47"/>
          <p:cNvSpPr txBox="1"/>
          <p:nvPr/>
        </p:nvSpPr>
        <p:spPr>
          <a:xfrm>
            <a:off x="9761792" y="5449824"/>
            <a:ext cx="1144080" cy="292608"/>
          </a:xfrm>
          <a:prstGeom prst="rect">
            <a:avLst/>
          </a:prstGeom>
          <a:noFill/>
          <a:ln/>
        </p:spPr>
        <p:txBody>
          <a:bodyPr wrap="square" lIns="0" tIns="0" rIns="0" bIns="0" rtlCol="0" anchor="ctr"/>
          <a:lstStyle/>
          <a:p>
            <a:pPr algn="ctr" indent="0" marL="0">
              <a:buNone/>
            </a:pPr>
            <a:r>
              <a:rPr lang="en-US" sz="1150" dirty="0">
                <a:solidFill>
                  <a:srgbClr val="1B1F1D"/>
                </a:solidFill>
                <a:latin typeface="Calibri" pitchFamily="34" charset="0"/>
                <a:ea typeface="Calibri" pitchFamily="34" charset="-122"/>
                <a:cs typeface="Calibri" pitchFamily="34" charset="-120"/>
              </a:rPr>
              <a:t>web servers</a:t>
            </a:r>
            <a:endParaRPr lang="en-US" sz="1400" dirty="0"/>
          </a:p>
        </p:txBody>
      </p:sp>
      <p:sp>
        <p:nvSpPr>
          <p:cNvPr id="53" name="Text 48"/>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F0D0E6"/>
          </a:solidFill>
          <a:ln w="25400">
            <a:solidFill>
              <a:srgbClr val="C2449A"/>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4</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OBJECT-ORIENTED · WHAT IT IS</a:t>
            </a:r>
            <a:endParaRPr lang="en-US" sz="1100" dirty="0"/>
          </a:p>
        </p:txBody>
      </p:sp>
      <p:sp>
        <p:nvSpPr>
          <p:cNvPr id="5" name="Text 3"/>
          <p:cNvSpPr txBox="1"/>
          <p:nvPr/>
        </p:nvSpPr>
        <p:spPr>
          <a:xfrm>
            <a:off x="548640" y="731520"/>
            <a:ext cx="9144000"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Object-oriented programming (OOP)</a:t>
            </a:r>
            <a:endParaRPr lang="en-US" sz="3200" dirty="0"/>
          </a:p>
        </p:txBody>
      </p:sp>
      <p:sp>
        <p:nvSpPr>
          <p:cNvPr id="6" name="Shape 4"/>
          <p:cNvSpPr/>
          <p:nvPr/>
        </p:nvSpPr>
        <p:spPr>
          <a:xfrm>
            <a:off x="10189159" y="932688"/>
            <a:ext cx="1197864" cy="0"/>
          </a:xfrm>
          <a:prstGeom prst="line">
            <a:avLst/>
          </a:prstGeom>
          <a:noFill/>
          <a:ln w="19050">
            <a:solidFill>
              <a:srgbClr val="B7C0BA"/>
            </a:solidFill>
            <a:prstDash val="solid"/>
          </a:ln>
        </p:spPr>
      </p:sp>
      <p:sp>
        <p:nvSpPr>
          <p:cNvPr id="7" name="Shape 5"/>
          <p:cNvSpPr/>
          <p:nvPr/>
        </p:nvSpPr>
        <p:spPr>
          <a:xfrm>
            <a:off x="9997135" y="740664"/>
            <a:ext cx="384048" cy="384048"/>
          </a:xfrm>
          <a:prstGeom prst="ellipse">
            <a:avLst/>
          </a:prstGeom>
          <a:solidFill>
            <a:srgbClr val="FFFFFF"/>
          </a:solidFill>
          <a:ln w="22225">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10089307" y="832836"/>
            <a:ext cx="199705" cy="199705"/>
          </a:xfrm>
          <a:prstGeom prst="rect">
            <a:avLst/>
          </a:prstGeom>
        </p:spPr>
      </p:pic>
      <p:sp>
        <p:nvSpPr>
          <p:cNvPr id="9" name="Shape 6"/>
          <p:cNvSpPr/>
          <p:nvPr/>
        </p:nvSpPr>
        <p:spPr>
          <a:xfrm>
            <a:off x="10564063" y="740664"/>
            <a:ext cx="384048" cy="384048"/>
          </a:xfrm>
          <a:prstGeom prst="ellipse">
            <a:avLst/>
          </a:prstGeom>
          <a:solidFill>
            <a:srgbClr val="FFFFFF"/>
          </a:solidFill>
          <a:ln w="22225">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10656235" y="832836"/>
            <a:ext cx="199705" cy="199705"/>
          </a:xfrm>
          <a:prstGeom prst="rect">
            <a:avLst/>
          </a:prstGeom>
        </p:spPr>
      </p:pic>
      <p:sp>
        <p:nvSpPr>
          <p:cNvPr id="11" name="Shape 7"/>
          <p:cNvSpPr/>
          <p:nvPr/>
        </p:nvSpPr>
        <p:spPr>
          <a:xfrm>
            <a:off x="11130991" y="676656"/>
            <a:ext cx="512064" cy="512064"/>
          </a:xfrm>
          <a:prstGeom prst="ellipse">
            <a:avLst/>
          </a:prstGeom>
          <a:solidFill>
            <a:srgbClr val="F0D0E6"/>
          </a:solidFill>
          <a:ln w="31750">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11253887" y="799551"/>
            <a:ext cx="266273" cy="266273"/>
          </a:xfrm>
          <a:prstGeom prst="rect">
            <a:avLst/>
          </a:prstGeom>
        </p:spPr>
      </p:pic>
      <p:sp>
        <p:nvSpPr>
          <p:cNvPr id="13" name="Shape 8"/>
          <p:cNvSpPr/>
          <p:nvPr/>
        </p:nvSpPr>
        <p:spPr>
          <a:xfrm>
            <a:off x="548640" y="1554480"/>
            <a:ext cx="5577840" cy="2057400"/>
          </a:xfrm>
          <a:prstGeom prst="roundRect">
            <a:avLst>
              <a:gd name="adj" fmla="val 5333"/>
            </a:avLst>
          </a:prstGeom>
          <a:solidFill>
            <a:srgbClr val="FAF0F7"/>
          </a:solidFill>
          <a:ln w="12700">
            <a:solidFill>
              <a:srgbClr val="F0D0E6"/>
            </a:solidFill>
            <a:prstDash val="solid"/>
          </a:ln>
        </p:spPr>
      </p:sp>
      <p:sp>
        <p:nvSpPr>
          <p:cNvPr id="14" name="Text 9"/>
          <p:cNvSpPr txBox="1"/>
          <p:nvPr/>
        </p:nvSpPr>
        <p:spPr>
          <a:xfrm>
            <a:off x="768096" y="1691640"/>
            <a:ext cx="5138928" cy="384048"/>
          </a:xfrm>
          <a:prstGeom prst="rect">
            <a:avLst/>
          </a:prstGeom>
          <a:noFill/>
          <a:ln/>
        </p:spPr>
        <p:txBody>
          <a:bodyPr wrap="square" lIns="0" tIns="0" rIns="0" bIns="0" rtlCol="0" anchor="ctr"/>
          <a:lstStyle/>
          <a:p>
            <a:pPr indent="0" marL="0">
              <a:buNone/>
            </a:pPr>
            <a:r>
              <a:rPr lang="en-US" sz="1900" b="1" dirty="0">
                <a:solidFill>
                  <a:srgbClr val="1B1F1D"/>
                </a:solidFill>
                <a:latin typeface="Cambria" pitchFamily="34" charset="0"/>
                <a:ea typeface="Cambria" pitchFamily="34" charset="-122"/>
                <a:cs typeface="Cambria" pitchFamily="34" charset="-120"/>
              </a:rPr>
              <a:t>object-oriented programming</a:t>
            </a:r>
            <a:r>
              <a:rPr lang="en-US" sz="1300" i="1" dirty="0">
                <a:solidFill>
                  <a:srgbClr val="5F6964"/>
                </a:solidFill>
                <a:latin typeface="Calibri" pitchFamily="34" charset="0"/>
                <a:ea typeface="Calibri" pitchFamily="34" charset="-122"/>
                <a:cs typeface="Calibri" pitchFamily="34" charset="-120"/>
              </a:rPr>
              <a:t>   noun · OOP for short</a:t>
            </a:r>
            <a:endParaRPr lang="en-US" sz="1400" dirty="0"/>
          </a:p>
        </p:txBody>
      </p:sp>
      <p:sp>
        <p:nvSpPr>
          <p:cNvPr id="15" name="Text 10"/>
          <p:cNvSpPr txBox="1"/>
          <p:nvPr/>
        </p:nvSpPr>
        <p:spPr>
          <a:xfrm>
            <a:off x="768096" y="2121408"/>
            <a:ext cx="5138928" cy="1014984"/>
          </a:xfrm>
          <a:prstGeom prst="rect">
            <a:avLst/>
          </a:prstGeom>
          <a:noFill/>
          <a:ln/>
        </p:spPr>
        <p:txBody>
          <a:bodyPr wrap="square" lIns="0" tIns="0" rIns="0" bIns="0" rtlCol="0" anchor="t"/>
          <a:lstStyle/>
          <a:p>
            <a:pPr indent="0" marL="0">
              <a:lnSpc>
                <a:spcPct val="105000"/>
              </a:lnSpc>
              <a:buNone/>
            </a:pPr>
            <a:r>
              <a:rPr lang="en-US" sz="1350" dirty="0">
                <a:solidFill>
                  <a:srgbClr val="1B1F1D"/>
                </a:solidFill>
                <a:latin typeface="Calibri" pitchFamily="34" charset="0"/>
                <a:ea typeface="Calibri" pitchFamily="34" charset="-122"/>
                <a:cs typeface="Calibri" pitchFamily="34" charset="-120"/>
              </a:rPr>
              <a:t>A style of programming where the program is built from objects. Each object keeps its own data (attributes) together with the actions that use that data (methods). Objects are made from classes, which work like blueprints </a:t>
            </a:r>
            <a:r>
              <a:rPr lang="en-US" sz="1050" dirty="0">
                <a:solidFill>
                  <a:srgbClr val="5F6964"/>
                </a:solidFill>
                <a:latin typeface="Calibri" pitchFamily="34" charset="0"/>
                <a:ea typeface="Calibri" pitchFamily="34" charset="-122"/>
                <a:cs typeface="Calibri" pitchFamily="34" charset="-120"/>
              </a:rPr>
              <a:t>(Oracle, no date)</a:t>
            </a:r>
            <a:endParaRPr lang="en-US" sz="1400" dirty="0"/>
          </a:p>
        </p:txBody>
      </p:sp>
      <p:sp>
        <p:nvSpPr>
          <p:cNvPr id="16" name="Text 11"/>
          <p:cNvSpPr txBox="1"/>
          <p:nvPr/>
        </p:nvSpPr>
        <p:spPr>
          <a:xfrm>
            <a:off x="768096" y="3154680"/>
            <a:ext cx="5138928" cy="347472"/>
          </a:xfrm>
          <a:prstGeom prst="rect">
            <a:avLst/>
          </a:prstGeom>
          <a:noFill/>
          <a:ln/>
        </p:spPr>
        <p:txBody>
          <a:bodyPr wrap="square" lIns="0" tIns="0" rIns="0" bIns="0" rtlCol="0" anchor="b"/>
          <a:lstStyle/>
          <a:p>
            <a:pPr indent="0" marL="0">
              <a:buNone/>
            </a:pPr>
            <a:r>
              <a:rPr lang="en-US" sz="950" dirty="0">
                <a:solidFill>
                  <a:srgbClr val="4A534E"/>
                </a:solidFill>
                <a:latin typeface="Consolas" pitchFamily="34" charset="0"/>
                <a:ea typeface="Consolas" pitchFamily="34" charset="-122"/>
                <a:cs typeface="Consolas" pitchFamily="34" charset="-120"/>
              </a:rPr>
              <a:t>e.g. Java, C#, C++, Python, Ruby, Kotlin</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730752"/>
          <a:ext cx="5577840" cy="914400"/>
        </p:xfrm>
        <a:graphic>
          <a:graphicData uri="http://schemas.openxmlformats.org/drawingml/2006/table">
            <a:tbl>
              <a:tblPr/>
              <a:tblGrid>
                <a:gridCol w="1234440"/>
                <a:gridCol w="4343400"/>
              </a:tblGrid>
              <a:tr h="265176">
                <a:tc>
                  <a:txBody>
                    <a:bodyPr/>
                    <a:lstStyle/>
                    <a:p>
                      <a:pPr indent="0" marL="0">
                        <a:buNone/>
                      </a:pPr>
                      <a:r>
                        <a:rPr lang="en-US" sz="1250" b="1" dirty="0">
                          <a:solidFill>
                            <a:srgbClr val="1B1F1D"/>
                          </a:solidFill>
                          <a:latin typeface="Calibri" pitchFamily="34" charset="0"/>
                          <a:ea typeface="Calibri" pitchFamily="34" charset="-122"/>
                          <a:cs typeface="Calibri" pitchFamily="34" charset="-120"/>
                        </a:rPr>
                        <a:t>Class</a:t>
                      </a:r>
                      <a:endParaRPr lang="en-US" sz="125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c>
                  <a:txBody>
                    <a:bodyPr/>
                    <a:lstStyle/>
                    <a:p>
                      <a:pPr indent="0" marL="0">
                        <a:buNone/>
                      </a:pPr>
                      <a:r>
                        <a:rPr lang="en-US" sz="1200" dirty="0">
                          <a:solidFill>
                            <a:srgbClr val="4A534E"/>
                          </a:solidFill>
                          <a:latin typeface="Calibri" pitchFamily="34" charset="0"/>
                          <a:ea typeface="Calibri" pitchFamily="34" charset="-122"/>
                          <a:cs typeface="Calibri" pitchFamily="34" charset="-120"/>
                        </a:rPr>
                        <a:t>The blueprint for making objects, e.g. </a:t>
                      </a:r>
                      <a:r>
                        <a:rPr lang="en-US" sz="1104" dirty="0">
                          <a:solidFill>
                            <a:srgbClr val="4A534E"/>
                          </a:solidFill>
                          <a:latin typeface="Consolas" pitchFamily="34" charset="0"/>
                          <a:ea typeface="Consolas" pitchFamily="34" charset="-122"/>
                          <a:cs typeface="Consolas" pitchFamily="34" charset="-120"/>
                        </a:rPr>
                        <a:t>Product</a:t>
                      </a:r>
                      <a:r>
                        <a:rPr lang="en-US" sz="1200" dirty="0">
                          <a:solidFill>
                            <a:srgbClr val="4A534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r>
              <a:tr h="265176">
                <a:tc>
                  <a:txBody>
                    <a:bodyPr/>
                    <a:lstStyle/>
                    <a:p>
                      <a:pPr indent="0" marL="0">
                        <a:buNone/>
                      </a:pPr>
                      <a:r>
                        <a:rPr lang="en-US" sz="1250" b="1" dirty="0">
                          <a:solidFill>
                            <a:srgbClr val="1B1F1D"/>
                          </a:solidFill>
                          <a:latin typeface="Calibri" pitchFamily="34" charset="0"/>
                          <a:ea typeface="Calibri" pitchFamily="34" charset="-122"/>
                          <a:cs typeface="Calibri" pitchFamily="34" charset="-120"/>
                        </a:rPr>
                        <a:t>Object</a:t>
                      </a:r>
                      <a:endParaRPr lang="en-US" sz="125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c>
                  <a:txBody>
                    <a:bodyPr/>
                    <a:lstStyle/>
                    <a:p>
                      <a:pPr indent="0" marL="0">
                        <a:buNone/>
                      </a:pPr>
                      <a:r>
                        <a:rPr lang="en-US" sz="1200" dirty="0">
                          <a:solidFill>
                            <a:srgbClr val="4A534E"/>
                          </a:solidFill>
                          <a:latin typeface="Calibri" pitchFamily="34" charset="0"/>
                          <a:ea typeface="Calibri" pitchFamily="34" charset="-122"/>
                          <a:cs typeface="Calibri" pitchFamily="34" charset="-120"/>
                        </a:rPr>
                        <a:t>One thing made from a class (an instance), e.g. </a:t>
                      </a:r>
                      <a:r>
                        <a:rPr lang="en-US" sz="1104" dirty="0">
                          <a:solidFill>
                            <a:srgbClr val="4A534E"/>
                          </a:solidFill>
                          <a:latin typeface="Consolas" pitchFamily="34" charset="0"/>
                          <a:ea typeface="Consolas" pitchFamily="34" charset="-122"/>
                          <a:cs typeface="Consolas" pitchFamily="34" charset="-120"/>
                        </a:rPr>
                        <a:t>croissant</a:t>
                      </a:r>
                      <a:r>
                        <a:rPr lang="en-US" sz="1200" dirty="0">
                          <a:solidFill>
                            <a:srgbClr val="4A534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r>
              <a:tr h="265176">
                <a:tc>
                  <a:txBody>
                    <a:bodyPr/>
                    <a:lstStyle/>
                    <a:p>
                      <a:pPr indent="0" marL="0">
                        <a:buNone/>
                      </a:pPr>
                      <a:r>
                        <a:rPr lang="en-US" sz="1250" b="1" dirty="0">
                          <a:solidFill>
                            <a:srgbClr val="1B1F1D"/>
                          </a:solidFill>
                          <a:latin typeface="Calibri" pitchFamily="34" charset="0"/>
                          <a:ea typeface="Calibri" pitchFamily="34" charset="-122"/>
                          <a:cs typeface="Calibri" pitchFamily="34" charset="-120"/>
                        </a:rPr>
                        <a:t>Attribute</a:t>
                      </a:r>
                      <a:endParaRPr lang="en-US" sz="125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c>
                  <a:txBody>
                    <a:bodyPr/>
                    <a:lstStyle/>
                    <a:p>
                      <a:pPr indent="0" marL="0">
                        <a:buNone/>
                      </a:pPr>
                      <a:r>
                        <a:rPr lang="en-US" sz="1200" dirty="0">
                          <a:solidFill>
                            <a:srgbClr val="4A534E"/>
                          </a:solidFill>
                          <a:latin typeface="Calibri" pitchFamily="34" charset="0"/>
                          <a:ea typeface="Calibri" pitchFamily="34" charset="-122"/>
                          <a:cs typeface="Calibri" pitchFamily="34" charset="-120"/>
                        </a:rPr>
                        <a:t>A piece of data an object keeps, e.g. its </a:t>
                      </a:r>
                      <a:r>
                        <a:rPr lang="en-US" sz="1104" dirty="0">
                          <a:solidFill>
                            <a:srgbClr val="4A534E"/>
                          </a:solidFill>
                          <a:latin typeface="Consolas" pitchFamily="34" charset="0"/>
                          <a:ea typeface="Consolas" pitchFamily="34" charset="-122"/>
                          <a:cs typeface="Consolas" pitchFamily="34" charset="-120"/>
                        </a:rPr>
                        <a:t>name</a:t>
                      </a:r>
                      <a:r>
                        <a:rPr lang="en-US" sz="1200" dirty="0">
                          <a:solidFill>
                            <a:srgbClr val="4A534E"/>
                          </a:solidFill>
                          <a:latin typeface="Calibri" pitchFamily="34" charset="0"/>
                          <a:ea typeface="Calibri" pitchFamily="34" charset="-122"/>
                          <a:cs typeface="Calibri" pitchFamily="34" charset="-120"/>
                        </a:rPr>
                        <a:t> and </a:t>
                      </a:r>
                      <a:r>
                        <a:rPr lang="en-US" sz="1104" dirty="0">
                          <a:solidFill>
                            <a:srgbClr val="4A534E"/>
                          </a:solidFill>
                          <a:latin typeface="Consolas" pitchFamily="34" charset="0"/>
                          <a:ea typeface="Consolas" pitchFamily="34" charset="-122"/>
                          <a:cs typeface="Consolas" pitchFamily="34" charset="-120"/>
                        </a:rPr>
                        <a:t>price</a:t>
                      </a:r>
                      <a:r>
                        <a:rPr lang="en-US" sz="1200" dirty="0">
                          <a:solidFill>
                            <a:srgbClr val="4A534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r>
              <a:tr h="265176">
                <a:tc>
                  <a:txBody>
                    <a:bodyPr/>
                    <a:lstStyle/>
                    <a:p>
                      <a:pPr indent="0" marL="0">
                        <a:buNone/>
                      </a:pPr>
                      <a:r>
                        <a:rPr lang="en-US" sz="1250" b="1" dirty="0">
                          <a:solidFill>
                            <a:srgbClr val="1B1F1D"/>
                          </a:solidFill>
                          <a:latin typeface="Calibri" pitchFamily="34" charset="0"/>
                          <a:ea typeface="Calibri" pitchFamily="34" charset="-122"/>
                          <a:cs typeface="Calibri" pitchFamily="34" charset="-120"/>
                        </a:rPr>
                        <a:t>Method</a:t>
                      </a:r>
                      <a:endParaRPr lang="en-US" sz="125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c>
                  <a:txBody>
                    <a:bodyPr/>
                    <a:lstStyle/>
                    <a:p>
                      <a:pPr indent="0" marL="0">
                        <a:buNone/>
                      </a:pPr>
                      <a:r>
                        <a:rPr lang="en-US" sz="1200" dirty="0">
                          <a:solidFill>
                            <a:srgbClr val="4A534E"/>
                          </a:solidFill>
                          <a:latin typeface="Calibri" pitchFamily="34" charset="0"/>
                          <a:ea typeface="Calibri" pitchFamily="34" charset="-122"/>
                          <a:cs typeface="Calibri" pitchFamily="34" charset="-120"/>
                        </a:rPr>
                        <a:t>A function that belongs to an object, e.g. </a:t>
                      </a:r>
                      <a:r>
                        <a:rPr lang="en-US" sz="1104" dirty="0">
                          <a:solidFill>
                            <a:srgbClr val="4A534E"/>
                          </a:solidFill>
                          <a:latin typeface="Consolas" pitchFamily="34" charset="0"/>
                          <a:ea typeface="Consolas" pitchFamily="34" charset="-122"/>
                          <a:cs typeface="Consolas" pitchFamily="34" charset="-120"/>
                        </a:rPr>
                        <a:t>describe()</a:t>
                      </a:r>
                      <a:r>
                        <a:rPr lang="en-US" sz="1200" dirty="0">
                          <a:solidFill>
                            <a:srgbClr val="4A534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r>
              <a:tr h="265176">
                <a:tc>
                  <a:txBody>
                    <a:bodyPr/>
                    <a:lstStyle/>
                    <a:p>
                      <a:pPr indent="0" marL="0">
                        <a:buNone/>
                      </a:pPr>
                      <a:r>
                        <a:rPr lang="en-US" sz="1250" b="1" dirty="0">
                          <a:solidFill>
                            <a:srgbClr val="1B1F1D"/>
                          </a:solidFill>
                          <a:latin typeface="Calibri" pitchFamily="34" charset="0"/>
                          <a:ea typeface="Calibri" pitchFamily="34" charset="-122"/>
                          <a:cs typeface="Calibri" pitchFamily="34" charset="-120"/>
                        </a:rPr>
                        <a:t>Constructor</a:t>
                      </a:r>
                      <a:endParaRPr lang="en-US" sz="125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c>
                  <a:txBody>
                    <a:bodyPr/>
                    <a:lstStyle/>
                    <a:p>
                      <a:pPr indent="0" marL="0">
                        <a:buNone/>
                      </a:pPr>
                      <a:r>
                        <a:rPr lang="en-US" sz="1200" dirty="0">
                          <a:solidFill>
                            <a:srgbClr val="4A534E"/>
                          </a:solidFill>
                          <a:latin typeface="Calibri" pitchFamily="34" charset="0"/>
                          <a:ea typeface="Calibri" pitchFamily="34" charset="-122"/>
                          <a:cs typeface="Calibri" pitchFamily="34" charset="-120"/>
                        </a:rPr>
                        <a:t>The method that sets up a new object: </a:t>
                      </a:r>
                      <a:r>
                        <a:rPr lang="en-US" sz="1104" dirty="0">
                          <a:solidFill>
                            <a:srgbClr val="4A534E"/>
                          </a:solidFill>
                          <a:latin typeface="Consolas" pitchFamily="34" charset="0"/>
                          <a:ea typeface="Consolas" pitchFamily="34" charset="-122"/>
                          <a:cs typeface="Consolas" pitchFamily="34" charset="-120"/>
                        </a:rPr>
                        <a:t>__init__()</a:t>
                      </a:r>
                      <a:r>
                        <a:rPr lang="en-US" sz="1200" dirty="0">
                          <a:solidFill>
                            <a:srgbClr val="4A534E"/>
                          </a:solidFill>
                          <a:latin typeface="Calibri" pitchFamily="34" charset="0"/>
                          <a:ea typeface="Calibri" pitchFamily="34" charset="-122"/>
                          <a:cs typeface="Calibri" pitchFamily="34" charset="-120"/>
                        </a:rPr>
                        <a:t> in Python.</a:t>
                      </a:r>
                      <a:endParaRPr lang="en-US" sz="1200" dirty="0">
                        <a:latin typeface="Calibri" charset="0"/>
                        <a:ea typeface="Calibri" charset="0"/>
                        <a:cs typeface="Calibri" charset="0"/>
                      </a:endParaRPr>
                    </a:p>
                  </a:txBody>
                  <a:tcPr marL="0" marR="54864" marT="18288" marB="18288" anchor="ctr">
                    <a:lnL w="0" cap="flat" cmpd="sng" algn="ctr">
                      <a:noFill/>
                    </a:lnL>
                    <a:lnR w="0" cap="flat" cmpd="sng" algn="ctr">
                      <a:noFill/>
                    </a:lnR>
                    <a:lnT w="9525" cap="flat" cmpd="sng" algn="ctr">
                      <a:solidFill>
                        <a:srgbClr val="DFE3DE"/>
                      </a:solidFill>
                      <a:prstDash val="solid"/>
                      <a:round/>
                      <a:headEnd type="none" w="med" len="med"/>
                      <a:tailEnd type="none" w="med" len="med"/>
                    </a:lnT>
                    <a:lnB w="9525" cap="flat" cmpd="sng" algn="ctr">
                      <a:solidFill>
                        <a:srgbClr val="DFE3DE"/>
                      </a:solidFill>
                      <a:prstDash val="solid"/>
                      <a:round/>
                      <a:headEnd type="none" w="med" len="med"/>
                      <a:tailEnd type="none" w="med" len="med"/>
                    </a:lnB>
                    <a:solidFill>
                      <a:srgbClr val="F5F6F3"/>
                    </a:solidFill>
                  </a:tcPr>
                </a:tc>
              </a:tr>
            </a:tbl>
          </a:graphicData>
        </a:graphic>
      </p:graphicFrame>
      <p:sp>
        <p:nvSpPr>
          <p:cNvPr id="18" name="Shape 12"/>
          <p:cNvSpPr/>
          <p:nvPr/>
        </p:nvSpPr>
        <p:spPr>
          <a:xfrm>
            <a:off x="6400800" y="1554480"/>
            <a:ext cx="5239512" cy="3520440"/>
          </a:xfrm>
          <a:prstGeom prst="roundRect">
            <a:avLst>
              <a:gd name="adj" fmla="val 3117"/>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19" name="Text 13"/>
          <p:cNvSpPr txBox="1"/>
          <p:nvPr/>
        </p:nvSpPr>
        <p:spPr>
          <a:xfrm>
            <a:off x="6583680" y="1700784"/>
            <a:ext cx="484632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ONE CLASS, MANY OBJECTS</a:t>
            </a:r>
            <a:endParaRPr lang="en-US" sz="1000" dirty="0"/>
          </a:p>
        </p:txBody>
      </p:sp>
      <p:sp>
        <p:nvSpPr>
          <p:cNvPr id="20" name="Text 14"/>
          <p:cNvSpPr txBox="1"/>
          <p:nvPr/>
        </p:nvSpPr>
        <p:spPr>
          <a:xfrm>
            <a:off x="6510528" y="2148840"/>
            <a:ext cx="731520" cy="219456"/>
          </a:xfrm>
          <a:prstGeom prst="rect">
            <a:avLst/>
          </a:prstGeom>
          <a:noFill/>
          <a:ln/>
        </p:spPr>
        <p:txBody>
          <a:bodyPr wrap="square" lIns="0" tIns="0" rIns="0" bIns="0" rtlCol="0" anchor="ctr"/>
          <a:lstStyle/>
          <a:p>
            <a:pPr algn="r" indent="0" marL="0">
              <a:buNone/>
            </a:pPr>
            <a:r>
              <a:rPr lang="en-US" sz="950" dirty="0">
                <a:solidFill>
                  <a:srgbClr val="5F6964"/>
                </a:solidFill>
                <a:latin typeface="Calibri" pitchFamily="34" charset="0"/>
                <a:ea typeface="Calibri" pitchFamily="34" charset="-122"/>
                <a:cs typeface="Calibri" pitchFamily="34" charset="-120"/>
              </a:rPr>
              <a:t>class</a:t>
            </a:r>
            <a:endParaRPr lang="en-US" sz="950" dirty="0"/>
          </a:p>
        </p:txBody>
      </p:sp>
      <p:sp>
        <p:nvSpPr>
          <p:cNvPr id="21" name="Text 15"/>
          <p:cNvSpPr txBox="1"/>
          <p:nvPr/>
        </p:nvSpPr>
        <p:spPr>
          <a:xfrm>
            <a:off x="6510528" y="2670048"/>
            <a:ext cx="731520" cy="219456"/>
          </a:xfrm>
          <a:prstGeom prst="rect">
            <a:avLst/>
          </a:prstGeom>
          <a:noFill/>
          <a:ln/>
        </p:spPr>
        <p:txBody>
          <a:bodyPr wrap="square" lIns="0" tIns="0" rIns="0" bIns="0" rtlCol="0" anchor="ctr"/>
          <a:lstStyle/>
          <a:p>
            <a:pPr algn="r" indent="0" marL="0">
              <a:buNone/>
            </a:pPr>
            <a:r>
              <a:rPr lang="en-US" sz="950" dirty="0">
                <a:solidFill>
                  <a:srgbClr val="5F6964"/>
                </a:solidFill>
                <a:latin typeface="Calibri" pitchFamily="34" charset="0"/>
                <a:ea typeface="Calibri" pitchFamily="34" charset="-122"/>
                <a:cs typeface="Calibri" pitchFamily="34" charset="-120"/>
              </a:rPr>
              <a:t>attributes</a:t>
            </a:r>
            <a:endParaRPr lang="en-US" sz="950" dirty="0"/>
          </a:p>
        </p:txBody>
      </p:sp>
      <p:sp>
        <p:nvSpPr>
          <p:cNvPr id="22" name="Text 16"/>
          <p:cNvSpPr txBox="1"/>
          <p:nvPr/>
        </p:nvSpPr>
        <p:spPr>
          <a:xfrm>
            <a:off x="6510528" y="3310128"/>
            <a:ext cx="731520" cy="219456"/>
          </a:xfrm>
          <a:prstGeom prst="rect">
            <a:avLst/>
          </a:prstGeom>
          <a:noFill/>
          <a:ln/>
        </p:spPr>
        <p:txBody>
          <a:bodyPr wrap="square" lIns="0" tIns="0" rIns="0" bIns="0" rtlCol="0" anchor="ctr"/>
          <a:lstStyle/>
          <a:p>
            <a:pPr algn="r" indent="0" marL="0">
              <a:buNone/>
            </a:pPr>
            <a:r>
              <a:rPr lang="en-US" sz="950" dirty="0">
                <a:solidFill>
                  <a:srgbClr val="5F6964"/>
                </a:solidFill>
                <a:latin typeface="Calibri" pitchFamily="34" charset="0"/>
                <a:ea typeface="Calibri" pitchFamily="34" charset="-122"/>
                <a:cs typeface="Calibri" pitchFamily="34" charset="-120"/>
              </a:rPr>
              <a:t>methods</a:t>
            </a:r>
            <a:endParaRPr lang="en-US" sz="950" dirty="0"/>
          </a:p>
        </p:txBody>
      </p:sp>
      <p:sp>
        <p:nvSpPr>
          <p:cNvPr id="23" name="Shape 17"/>
          <p:cNvSpPr/>
          <p:nvPr/>
        </p:nvSpPr>
        <p:spPr>
          <a:xfrm>
            <a:off x="7296912" y="2057400"/>
            <a:ext cx="1783080" cy="402336"/>
          </a:xfrm>
          <a:prstGeom prst="rect">
            <a:avLst/>
          </a:prstGeom>
          <a:solidFill>
            <a:srgbClr val="F0D0E6"/>
          </a:solidFill>
          <a:ln w="19050">
            <a:solidFill>
              <a:srgbClr val="C2449A"/>
            </a:solidFill>
            <a:prstDash val="solid"/>
          </a:ln>
        </p:spPr>
      </p:sp>
      <p:sp>
        <p:nvSpPr>
          <p:cNvPr id="24" name="Text 18"/>
          <p:cNvSpPr txBox="1"/>
          <p:nvPr/>
        </p:nvSpPr>
        <p:spPr>
          <a:xfrm>
            <a:off x="7296912" y="2057400"/>
            <a:ext cx="1783080" cy="402336"/>
          </a:xfrm>
          <a:prstGeom prst="rect">
            <a:avLst/>
          </a:prstGeom>
          <a:noFill/>
          <a:ln/>
        </p:spPr>
        <p:txBody>
          <a:bodyPr wrap="square" lIns="0" tIns="0" rIns="0" bIns="0" rtlCol="0" anchor="ctr"/>
          <a:lstStyle/>
          <a:p>
            <a:pPr algn="ctr" indent="0" marL="0">
              <a:buNone/>
            </a:pPr>
            <a:r>
              <a:rPr lang="en-US" sz="1400" b="1" dirty="0">
                <a:solidFill>
                  <a:srgbClr val="1B1F1D"/>
                </a:solidFill>
                <a:latin typeface="Cambria" pitchFamily="34" charset="0"/>
                <a:ea typeface="Cambria" pitchFamily="34" charset="-122"/>
                <a:cs typeface="Cambria" pitchFamily="34" charset="-120"/>
              </a:rPr>
              <a:t>Product</a:t>
            </a:r>
            <a:endParaRPr lang="en-US" sz="1400" dirty="0"/>
          </a:p>
        </p:txBody>
      </p:sp>
      <p:sp>
        <p:nvSpPr>
          <p:cNvPr id="25" name="Shape 19"/>
          <p:cNvSpPr/>
          <p:nvPr/>
        </p:nvSpPr>
        <p:spPr>
          <a:xfrm>
            <a:off x="7296912" y="2459736"/>
            <a:ext cx="1783080" cy="621792"/>
          </a:xfrm>
          <a:prstGeom prst="rect">
            <a:avLst/>
          </a:prstGeom>
          <a:solidFill>
            <a:srgbClr val="FFFFFF"/>
          </a:solidFill>
          <a:ln w="12700">
            <a:solidFill>
              <a:srgbClr val="4A534E"/>
            </a:solidFill>
            <a:prstDash val="solid"/>
          </a:ln>
        </p:spPr>
      </p:sp>
      <p:sp>
        <p:nvSpPr>
          <p:cNvPr id="26" name="Shape 20"/>
          <p:cNvSpPr/>
          <p:nvPr/>
        </p:nvSpPr>
        <p:spPr>
          <a:xfrm>
            <a:off x="7296912" y="3081528"/>
            <a:ext cx="1783080" cy="621792"/>
          </a:xfrm>
          <a:prstGeom prst="rect">
            <a:avLst/>
          </a:prstGeom>
          <a:solidFill>
            <a:srgbClr val="FFFFFF"/>
          </a:solidFill>
          <a:ln w="12700">
            <a:solidFill>
              <a:srgbClr val="4A534E"/>
            </a:solidFill>
            <a:prstDash val="solid"/>
          </a:ln>
        </p:spPr>
      </p:sp>
      <p:sp>
        <p:nvSpPr>
          <p:cNvPr id="27" name="Text 21"/>
          <p:cNvSpPr txBox="1"/>
          <p:nvPr/>
        </p:nvSpPr>
        <p:spPr>
          <a:xfrm>
            <a:off x="7370064" y="2505456"/>
            <a:ext cx="1691640" cy="530352"/>
          </a:xfrm>
          <a:prstGeom prst="rect">
            <a:avLst/>
          </a:prstGeom>
          <a:noFill/>
          <a:ln/>
        </p:spPr>
        <p:txBody>
          <a:bodyPr wrap="square" lIns="0" tIns="0" rIns="0" bIns="0" rtlCol="0" anchor="ctr"/>
          <a:lstStyle/>
          <a:p>
            <a:pPr indent="0" marL="0">
              <a:lnSpc>
                <a:spcPts val="1600"/>
              </a:lnSpc>
              <a:buNone/>
            </a:pPr>
            <a:r>
              <a:rPr lang="en-US" sz="950" dirty="0">
                <a:solidFill>
                  <a:srgbClr val="1B1F1D"/>
                </a:solidFill>
                <a:latin typeface="Consolas" pitchFamily="34" charset="0"/>
                <a:ea typeface="Consolas" pitchFamily="34" charset="-122"/>
                <a:cs typeface="Consolas" pitchFamily="34" charset="-120"/>
              </a:rPr>
              <a:t>+ name: str</a:t>
            </a:r>
            <a:endParaRPr lang="en-US" sz="950" dirty="0"/>
          </a:p>
          <a:p>
            <a:pPr indent="0" marL="0">
              <a:lnSpc>
                <a:spcPts val="1600"/>
              </a:lnSpc>
              <a:buNone/>
            </a:pPr>
            <a:r>
              <a:rPr lang="en-US" sz="950" dirty="0">
                <a:solidFill>
                  <a:srgbClr val="1B1F1D"/>
                </a:solidFill>
                <a:latin typeface="Consolas" pitchFamily="34" charset="0"/>
                <a:ea typeface="Consolas" pitchFamily="34" charset="-122"/>
                <a:cs typeface="Consolas" pitchFamily="34" charset="-120"/>
              </a:rPr>
              <a:t>+ price: float</a:t>
            </a:r>
            <a:endParaRPr lang="en-US" sz="950" dirty="0"/>
          </a:p>
        </p:txBody>
      </p:sp>
      <p:sp>
        <p:nvSpPr>
          <p:cNvPr id="28" name="Text 22"/>
          <p:cNvSpPr txBox="1"/>
          <p:nvPr/>
        </p:nvSpPr>
        <p:spPr>
          <a:xfrm>
            <a:off x="7370064" y="3127248"/>
            <a:ext cx="1691640" cy="530352"/>
          </a:xfrm>
          <a:prstGeom prst="rect">
            <a:avLst/>
          </a:prstGeom>
          <a:noFill/>
          <a:ln/>
        </p:spPr>
        <p:txBody>
          <a:bodyPr wrap="square" lIns="0" tIns="0" rIns="0" bIns="0" rtlCol="0" anchor="ctr"/>
          <a:lstStyle/>
          <a:p>
            <a:pPr indent="0" marL="0">
              <a:lnSpc>
                <a:spcPts val="1600"/>
              </a:lnSpc>
              <a:buNone/>
            </a:pPr>
            <a:r>
              <a:rPr lang="en-US" sz="950" dirty="0">
                <a:solidFill>
                  <a:srgbClr val="1B1F1D"/>
                </a:solidFill>
                <a:latin typeface="Consolas" pitchFamily="34" charset="0"/>
                <a:ea typeface="Consolas" pitchFamily="34" charset="-122"/>
                <a:cs typeface="Consolas" pitchFamily="34" charset="-120"/>
              </a:rPr>
              <a:t>+ __init__(name, price)</a:t>
            </a:r>
            <a:endParaRPr lang="en-US" sz="950" dirty="0"/>
          </a:p>
          <a:p>
            <a:pPr indent="0" marL="0">
              <a:lnSpc>
                <a:spcPts val="1600"/>
              </a:lnSpc>
              <a:buNone/>
            </a:pPr>
            <a:r>
              <a:rPr lang="en-US" sz="950" dirty="0">
                <a:solidFill>
                  <a:srgbClr val="1B1F1D"/>
                </a:solidFill>
                <a:latin typeface="Consolas" pitchFamily="34" charset="0"/>
                <a:ea typeface="Consolas" pitchFamily="34" charset="-122"/>
                <a:cs typeface="Consolas" pitchFamily="34" charset="-120"/>
              </a:rPr>
              <a:t>+ describe(): str</a:t>
            </a:r>
            <a:endParaRPr lang="en-US" sz="950" dirty="0"/>
          </a:p>
        </p:txBody>
      </p:sp>
      <p:sp>
        <p:nvSpPr>
          <p:cNvPr id="29" name="Shape 23"/>
          <p:cNvSpPr/>
          <p:nvPr/>
        </p:nvSpPr>
        <p:spPr>
          <a:xfrm>
            <a:off x="9829800" y="1965960"/>
            <a:ext cx="1627632" cy="329184"/>
          </a:xfrm>
          <a:prstGeom prst="rect">
            <a:avLst/>
          </a:prstGeom>
          <a:solidFill>
            <a:srgbClr val="FFFFFF"/>
          </a:solidFill>
          <a:ln w="12700">
            <a:solidFill>
              <a:srgbClr val="4A534E"/>
            </a:solidFill>
            <a:prstDash val="solid"/>
          </a:ln>
        </p:spPr>
      </p:sp>
      <p:sp>
        <p:nvSpPr>
          <p:cNvPr id="30" name="Text 24"/>
          <p:cNvSpPr txBox="1"/>
          <p:nvPr/>
        </p:nvSpPr>
        <p:spPr>
          <a:xfrm>
            <a:off x="9829800" y="1965960"/>
            <a:ext cx="1627632" cy="329184"/>
          </a:xfrm>
          <a:prstGeom prst="rect">
            <a:avLst/>
          </a:prstGeom>
          <a:noFill/>
          <a:ln/>
        </p:spPr>
        <p:txBody>
          <a:bodyPr wrap="square" lIns="0" tIns="0" rIns="0" bIns="0" rtlCol="0" anchor="ctr"/>
          <a:lstStyle/>
          <a:p>
            <a:pPr algn="ctr" indent="0" marL="0">
              <a:buNone/>
            </a:pPr>
            <a:r>
              <a:rPr lang="en-US" sz="1000" u="sng" dirty="0">
                <a:solidFill>
                  <a:srgbClr val="1B1F1D"/>
                </a:solidFill>
                <a:latin typeface="Consolas" pitchFamily="34" charset="0"/>
                <a:ea typeface="Consolas" pitchFamily="34" charset="-122"/>
                <a:cs typeface="Consolas" pitchFamily="34" charset="-120"/>
              </a:rPr>
              <a:t>croissant : Product</a:t>
            </a:r>
            <a:endParaRPr lang="en-US" sz="1000" dirty="0"/>
          </a:p>
        </p:txBody>
      </p:sp>
      <p:sp>
        <p:nvSpPr>
          <p:cNvPr id="31" name="Shape 25"/>
          <p:cNvSpPr/>
          <p:nvPr/>
        </p:nvSpPr>
        <p:spPr>
          <a:xfrm>
            <a:off x="9829800" y="2295144"/>
            <a:ext cx="1627632" cy="548640"/>
          </a:xfrm>
          <a:prstGeom prst="rect">
            <a:avLst/>
          </a:prstGeom>
          <a:solidFill>
            <a:srgbClr val="FFFFFF"/>
          </a:solidFill>
          <a:ln w="12700">
            <a:solidFill>
              <a:srgbClr val="4A534E"/>
            </a:solidFill>
            <a:prstDash val="solid"/>
          </a:ln>
        </p:spPr>
      </p:sp>
      <p:sp>
        <p:nvSpPr>
          <p:cNvPr id="32" name="Text 26"/>
          <p:cNvSpPr txBox="1"/>
          <p:nvPr/>
        </p:nvSpPr>
        <p:spPr>
          <a:xfrm>
            <a:off x="9912096" y="2331720"/>
            <a:ext cx="1517904" cy="475488"/>
          </a:xfrm>
          <a:prstGeom prst="rect">
            <a:avLst/>
          </a:prstGeom>
          <a:noFill/>
          <a:ln/>
        </p:spPr>
        <p:txBody>
          <a:bodyPr wrap="square" lIns="0" tIns="0" rIns="0" bIns="0" rtlCol="0" anchor="ctr"/>
          <a:lstStyle/>
          <a:p>
            <a:pPr indent="0" marL="0">
              <a:lnSpc>
                <a:spcPts val="1600"/>
              </a:lnSpc>
              <a:buNone/>
            </a:pPr>
            <a:r>
              <a:rPr lang="en-US" sz="1000" dirty="0">
                <a:solidFill>
                  <a:srgbClr val="1B1F1D"/>
                </a:solidFill>
                <a:latin typeface="Consolas" pitchFamily="34" charset="0"/>
                <a:ea typeface="Consolas" pitchFamily="34" charset="-122"/>
                <a:cs typeface="Consolas" pitchFamily="34" charset="-120"/>
              </a:rPr>
              <a:t>name = 'Croissant'</a:t>
            </a:r>
            <a:endParaRPr lang="en-US" sz="1000" dirty="0"/>
          </a:p>
          <a:p>
            <a:pPr indent="0" marL="0">
              <a:lnSpc>
                <a:spcPts val="1600"/>
              </a:lnSpc>
              <a:buNone/>
            </a:pPr>
            <a:r>
              <a:rPr lang="en-US" sz="1000" dirty="0">
                <a:solidFill>
                  <a:srgbClr val="1B1F1D"/>
                </a:solidFill>
                <a:latin typeface="Consolas" pitchFamily="34" charset="0"/>
                <a:ea typeface="Consolas" pitchFamily="34" charset="-122"/>
                <a:cs typeface="Consolas" pitchFamily="34" charset="-120"/>
              </a:rPr>
              <a:t>price = 1.25</a:t>
            </a:r>
            <a:endParaRPr lang="en-US" sz="1000" dirty="0"/>
          </a:p>
        </p:txBody>
      </p:sp>
      <p:sp>
        <p:nvSpPr>
          <p:cNvPr id="33" name="Shape 27"/>
          <p:cNvSpPr/>
          <p:nvPr/>
        </p:nvSpPr>
        <p:spPr>
          <a:xfrm>
            <a:off x="9829800" y="3154680"/>
            <a:ext cx="1627632" cy="329184"/>
          </a:xfrm>
          <a:prstGeom prst="rect">
            <a:avLst/>
          </a:prstGeom>
          <a:solidFill>
            <a:srgbClr val="FFFFFF"/>
          </a:solidFill>
          <a:ln w="12700">
            <a:solidFill>
              <a:srgbClr val="4A534E"/>
            </a:solidFill>
            <a:prstDash val="solid"/>
          </a:ln>
        </p:spPr>
      </p:sp>
      <p:sp>
        <p:nvSpPr>
          <p:cNvPr id="34" name="Text 28"/>
          <p:cNvSpPr txBox="1"/>
          <p:nvPr/>
        </p:nvSpPr>
        <p:spPr>
          <a:xfrm>
            <a:off x="9829800" y="3154680"/>
            <a:ext cx="1627632" cy="329184"/>
          </a:xfrm>
          <a:prstGeom prst="rect">
            <a:avLst/>
          </a:prstGeom>
          <a:noFill/>
          <a:ln/>
        </p:spPr>
        <p:txBody>
          <a:bodyPr wrap="square" lIns="0" tIns="0" rIns="0" bIns="0" rtlCol="0" anchor="ctr"/>
          <a:lstStyle/>
          <a:p>
            <a:pPr algn="ctr" indent="0" marL="0">
              <a:buNone/>
            </a:pPr>
            <a:r>
              <a:rPr lang="en-US" sz="1000" u="sng" dirty="0">
                <a:solidFill>
                  <a:srgbClr val="1B1F1D"/>
                </a:solidFill>
                <a:latin typeface="Consolas" pitchFamily="34" charset="0"/>
                <a:ea typeface="Consolas" pitchFamily="34" charset="-122"/>
                <a:cs typeface="Consolas" pitchFamily="34" charset="-120"/>
              </a:rPr>
              <a:t>sourdough : Product</a:t>
            </a:r>
            <a:endParaRPr lang="en-US" sz="1000" dirty="0"/>
          </a:p>
        </p:txBody>
      </p:sp>
      <p:sp>
        <p:nvSpPr>
          <p:cNvPr id="35" name="Shape 29"/>
          <p:cNvSpPr/>
          <p:nvPr/>
        </p:nvSpPr>
        <p:spPr>
          <a:xfrm>
            <a:off x="9829800" y="3483864"/>
            <a:ext cx="1627632" cy="548640"/>
          </a:xfrm>
          <a:prstGeom prst="rect">
            <a:avLst/>
          </a:prstGeom>
          <a:solidFill>
            <a:srgbClr val="FFFFFF"/>
          </a:solidFill>
          <a:ln w="12700">
            <a:solidFill>
              <a:srgbClr val="4A534E"/>
            </a:solidFill>
            <a:prstDash val="solid"/>
          </a:ln>
        </p:spPr>
      </p:sp>
      <p:sp>
        <p:nvSpPr>
          <p:cNvPr id="36" name="Text 30"/>
          <p:cNvSpPr txBox="1"/>
          <p:nvPr/>
        </p:nvSpPr>
        <p:spPr>
          <a:xfrm>
            <a:off x="9912096" y="3520440"/>
            <a:ext cx="1517904" cy="475488"/>
          </a:xfrm>
          <a:prstGeom prst="rect">
            <a:avLst/>
          </a:prstGeom>
          <a:noFill/>
          <a:ln/>
        </p:spPr>
        <p:txBody>
          <a:bodyPr wrap="square" lIns="0" tIns="0" rIns="0" bIns="0" rtlCol="0" anchor="ctr"/>
          <a:lstStyle/>
          <a:p>
            <a:pPr indent="0" marL="0">
              <a:lnSpc>
                <a:spcPts val="1600"/>
              </a:lnSpc>
              <a:buNone/>
            </a:pPr>
            <a:r>
              <a:rPr lang="en-US" sz="1000" dirty="0">
                <a:solidFill>
                  <a:srgbClr val="1B1F1D"/>
                </a:solidFill>
                <a:latin typeface="Consolas" pitchFamily="34" charset="0"/>
                <a:ea typeface="Consolas" pitchFamily="34" charset="-122"/>
                <a:cs typeface="Consolas" pitchFamily="34" charset="-120"/>
              </a:rPr>
              <a:t>name = 'Sourdough'</a:t>
            </a:r>
            <a:endParaRPr lang="en-US" sz="1000" dirty="0"/>
          </a:p>
          <a:p>
            <a:pPr indent="0" marL="0">
              <a:lnSpc>
                <a:spcPts val="1600"/>
              </a:lnSpc>
              <a:buNone/>
            </a:pPr>
            <a:r>
              <a:rPr lang="en-US" sz="1000" dirty="0">
                <a:solidFill>
                  <a:srgbClr val="1B1F1D"/>
                </a:solidFill>
                <a:latin typeface="Consolas" pitchFamily="34" charset="0"/>
                <a:ea typeface="Consolas" pitchFamily="34" charset="-122"/>
                <a:cs typeface="Consolas" pitchFamily="34" charset="-120"/>
              </a:rPr>
              <a:t>price = 3.5</a:t>
            </a:r>
            <a:endParaRPr lang="en-US" sz="1000" dirty="0"/>
          </a:p>
        </p:txBody>
      </p:sp>
      <p:sp>
        <p:nvSpPr>
          <p:cNvPr id="37" name="Shape 31"/>
          <p:cNvSpPr/>
          <p:nvPr/>
        </p:nvSpPr>
        <p:spPr>
          <a:xfrm flipH="1">
            <a:off x="9098280" y="2404872"/>
            <a:ext cx="731520" cy="338328"/>
          </a:xfrm>
          <a:prstGeom prst="line">
            <a:avLst/>
          </a:prstGeom>
          <a:noFill/>
          <a:ln w="13970">
            <a:solidFill>
              <a:srgbClr val="4A534E"/>
            </a:solidFill>
            <a:prstDash val="dash"/>
            <a:tailEnd type="arrow"/>
          </a:ln>
        </p:spPr>
      </p:sp>
      <p:sp>
        <p:nvSpPr>
          <p:cNvPr id="38" name="Shape 32"/>
          <p:cNvSpPr/>
          <p:nvPr/>
        </p:nvSpPr>
        <p:spPr>
          <a:xfrm flipH="1" flipV="1">
            <a:off x="9098280" y="3200400"/>
            <a:ext cx="731520" cy="393192"/>
          </a:xfrm>
          <a:prstGeom prst="line">
            <a:avLst/>
          </a:prstGeom>
          <a:noFill/>
          <a:ln w="13970">
            <a:solidFill>
              <a:srgbClr val="4A534E"/>
            </a:solidFill>
            <a:prstDash val="dash"/>
            <a:tailEnd type="arrow"/>
          </a:ln>
        </p:spPr>
      </p:sp>
      <p:sp>
        <p:nvSpPr>
          <p:cNvPr id="39" name="Text 33"/>
          <p:cNvSpPr txBox="1"/>
          <p:nvPr/>
        </p:nvSpPr>
        <p:spPr>
          <a:xfrm>
            <a:off x="9098280" y="2862072"/>
            <a:ext cx="731520" cy="219456"/>
          </a:xfrm>
          <a:prstGeom prst="rect">
            <a:avLst/>
          </a:prstGeom>
          <a:noFill/>
          <a:ln/>
        </p:spPr>
        <p:txBody>
          <a:bodyPr wrap="square" lIns="0" tIns="0" rIns="0" bIns="0" rtlCol="0" anchor="ctr"/>
          <a:lstStyle/>
          <a:p>
            <a:pPr algn="ctr" indent="0" marL="0">
              <a:buNone/>
            </a:pPr>
            <a:r>
              <a:rPr lang="en-US" sz="900" i="1" dirty="0">
                <a:solidFill>
                  <a:srgbClr val="5F6964"/>
                </a:solidFill>
                <a:latin typeface="Calibri" pitchFamily="34" charset="0"/>
                <a:ea typeface="Calibri" pitchFamily="34" charset="-122"/>
                <a:cs typeface="Calibri" pitchFamily="34" charset="-120"/>
              </a:rPr>
              <a:t>instance of</a:t>
            </a:r>
            <a:endParaRPr lang="en-US" sz="900" dirty="0"/>
          </a:p>
        </p:txBody>
      </p:sp>
      <p:sp>
        <p:nvSpPr>
          <p:cNvPr id="40" name="Text 34"/>
          <p:cNvSpPr txBox="1"/>
          <p:nvPr/>
        </p:nvSpPr>
        <p:spPr>
          <a:xfrm>
            <a:off x="7296912" y="3767328"/>
            <a:ext cx="1783080" cy="274320"/>
          </a:xfrm>
          <a:prstGeom prst="rect">
            <a:avLst/>
          </a:prstGeom>
          <a:noFill/>
          <a:ln/>
        </p:spPr>
        <p:txBody>
          <a:bodyPr wrap="square" lIns="0" tIns="0" rIns="0" bIns="0" rtlCol="0" anchor="t"/>
          <a:lstStyle/>
          <a:p>
            <a:pPr algn="ctr" indent="0" marL="0">
              <a:buNone/>
            </a:pPr>
            <a:r>
              <a:rPr lang="en-US" sz="1150" i="1" dirty="0">
                <a:solidFill>
                  <a:srgbClr val="4A534E"/>
                </a:solidFill>
                <a:latin typeface="Cambria" pitchFamily="34" charset="0"/>
                <a:ea typeface="Cambria" pitchFamily="34" charset="-122"/>
                <a:cs typeface="Cambria" pitchFamily="34" charset="-120"/>
              </a:rPr>
              <a:t>the class = a blueprint</a:t>
            </a:r>
            <a:endParaRPr lang="en-US" sz="1150" dirty="0"/>
          </a:p>
        </p:txBody>
      </p:sp>
      <p:sp>
        <p:nvSpPr>
          <p:cNvPr id="41" name="Text 35"/>
          <p:cNvSpPr txBox="1"/>
          <p:nvPr/>
        </p:nvSpPr>
        <p:spPr>
          <a:xfrm>
            <a:off x="9829800" y="4087368"/>
            <a:ext cx="1627632" cy="274320"/>
          </a:xfrm>
          <a:prstGeom prst="rect">
            <a:avLst/>
          </a:prstGeom>
          <a:noFill/>
          <a:ln/>
        </p:spPr>
        <p:txBody>
          <a:bodyPr wrap="square" lIns="0" tIns="0" rIns="0" bIns="0" rtlCol="0" anchor="t"/>
          <a:lstStyle/>
          <a:p>
            <a:pPr algn="ctr" indent="0" marL="0">
              <a:buNone/>
            </a:pPr>
            <a:r>
              <a:rPr lang="en-US" sz="1150" i="1" dirty="0">
                <a:solidFill>
                  <a:srgbClr val="4A534E"/>
                </a:solidFill>
                <a:latin typeface="Cambria" pitchFamily="34" charset="0"/>
                <a:ea typeface="Cambria" pitchFamily="34" charset="-122"/>
                <a:cs typeface="Cambria" pitchFamily="34" charset="-120"/>
              </a:rPr>
              <a:t>objects made from it</a:t>
            </a:r>
            <a:endParaRPr lang="en-US" sz="1150" dirty="0"/>
          </a:p>
        </p:txBody>
      </p:sp>
      <p:sp>
        <p:nvSpPr>
          <p:cNvPr id="42" name="Text 36"/>
          <p:cNvSpPr txBox="1"/>
          <p:nvPr/>
        </p:nvSpPr>
        <p:spPr>
          <a:xfrm>
            <a:off x="6583680" y="4443984"/>
            <a:ext cx="4873752" cy="548640"/>
          </a:xfrm>
          <a:prstGeom prst="rect">
            <a:avLst/>
          </a:prstGeom>
          <a:noFill/>
          <a:ln/>
        </p:spPr>
        <p:txBody>
          <a:bodyPr wrap="square" lIns="0" tIns="0" rIns="0" bIns="0" rtlCol="0" anchor="t"/>
          <a:lstStyle/>
          <a:p>
            <a:pPr indent="0" marL="0">
              <a:buNone/>
            </a:pPr>
            <a:r>
              <a:rPr lang="en-US" sz="1150" dirty="0">
                <a:solidFill>
                  <a:srgbClr val="4A534E"/>
                </a:solidFill>
                <a:latin typeface="Calibri" pitchFamily="34" charset="0"/>
                <a:ea typeface="Calibri" pitchFamily="34" charset="-122"/>
                <a:cs typeface="Calibri" pitchFamily="34" charset="-120"/>
              </a:rPr>
              <a:t>A UML class diagram (left) and two objects (right). Both objects have the same attributes, but each one has its own values.</a:t>
            </a:r>
            <a:endParaRPr lang="en-US" sz="1150" dirty="0"/>
          </a:p>
        </p:txBody>
      </p:sp>
      <p:sp>
        <p:nvSpPr>
          <p:cNvPr id="43" name="Text 37"/>
          <p:cNvSpPr txBox="1"/>
          <p:nvPr/>
        </p:nvSpPr>
        <p:spPr>
          <a:xfrm>
            <a:off x="548640" y="5212080"/>
            <a:ext cx="7315200"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THE FOUR MAIN IDEAS OF OOP  (BOOCH ET AL., 2007)</a:t>
            </a:r>
            <a:endParaRPr lang="en-US" sz="1000" dirty="0"/>
          </a:p>
        </p:txBody>
      </p:sp>
      <p:sp>
        <p:nvSpPr>
          <p:cNvPr id="44" name="Shape 38"/>
          <p:cNvSpPr/>
          <p:nvPr/>
        </p:nvSpPr>
        <p:spPr>
          <a:xfrm>
            <a:off x="548640" y="5468112"/>
            <a:ext cx="2636444" cy="841248"/>
          </a:xfrm>
          <a:prstGeom prst="roundRect">
            <a:avLst>
              <a:gd name="adj" fmla="val 10870"/>
            </a:avLst>
          </a:prstGeom>
          <a:solidFill>
            <a:srgbClr val="F6E5F1"/>
          </a:solidFill>
          <a:ln/>
        </p:spPr>
      </p:sp>
      <p:sp>
        <p:nvSpPr>
          <p:cNvPr id="45" name="Text 39"/>
          <p:cNvSpPr txBox="1"/>
          <p:nvPr/>
        </p:nvSpPr>
        <p:spPr>
          <a:xfrm>
            <a:off x="694944" y="5532120"/>
            <a:ext cx="2362124" cy="749808"/>
          </a:xfrm>
          <a:prstGeom prst="rect">
            <a:avLst/>
          </a:prstGeom>
          <a:noFill/>
          <a:ln/>
        </p:spPr>
        <p:txBody>
          <a:bodyPr wrap="square" lIns="0" tIns="0" rIns="0" bIns="0" rtlCol="0" anchor="t"/>
          <a:lstStyle/>
          <a:p>
            <a:pPr indent="0" marL="0">
              <a:spcAft>
                <a:spcPts val="200"/>
              </a:spcAft>
              <a:buNone/>
            </a:pPr>
            <a:r>
              <a:rPr lang="en-US" sz="1350" b="1" dirty="0">
                <a:solidFill>
                  <a:srgbClr val="1B1F1D"/>
                </a:solidFill>
                <a:latin typeface="Cambria" pitchFamily="34" charset="0"/>
                <a:ea typeface="Cambria" pitchFamily="34" charset="-122"/>
                <a:cs typeface="Cambria" pitchFamily="34" charset="-120"/>
              </a:rPr>
              <a:t>Encapsulation</a:t>
            </a:r>
            <a:endParaRPr lang="en-US" sz="1400" dirty="0"/>
          </a:p>
          <a:p>
            <a:pPr indent="0" marL="0">
              <a:spcAft>
                <a:spcPts val="200"/>
              </a:spcAft>
              <a:buNone/>
            </a:pPr>
            <a:r>
              <a:rPr lang="en-US" sz="1100" dirty="0">
                <a:solidFill>
                  <a:srgbClr val="4A534E"/>
                </a:solidFill>
                <a:latin typeface="Calibri" pitchFamily="34" charset="0"/>
                <a:ea typeface="Calibri" pitchFamily="34" charset="-122"/>
                <a:cs typeface="Calibri" pitchFamily="34" charset="-120"/>
              </a:rPr>
              <a:t>Data and methods live together in an object, and data can be kept private.</a:t>
            </a:r>
            <a:endParaRPr lang="en-US" sz="1400" dirty="0"/>
          </a:p>
        </p:txBody>
      </p:sp>
      <p:sp>
        <p:nvSpPr>
          <p:cNvPr id="46" name="Shape 40"/>
          <p:cNvSpPr/>
          <p:nvPr/>
        </p:nvSpPr>
        <p:spPr>
          <a:xfrm>
            <a:off x="3367964" y="5468112"/>
            <a:ext cx="2636444" cy="841248"/>
          </a:xfrm>
          <a:prstGeom prst="roundRect">
            <a:avLst>
              <a:gd name="adj" fmla="val 10870"/>
            </a:avLst>
          </a:prstGeom>
          <a:solidFill>
            <a:srgbClr val="F6E5F1"/>
          </a:solidFill>
          <a:ln/>
        </p:spPr>
      </p:sp>
      <p:sp>
        <p:nvSpPr>
          <p:cNvPr id="47" name="Text 41"/>
          <p:cNvSpPr txBox="1"/>
          <p:nvPr/>
        </p:nvSpPr>
        <p:spPr>
          <a:xfrm>
            <a:off x="3514268" y="5532120"/>
            <a:ext cx="2362124" cy="749808"/>
          </a:xfrm>
          <a:prstGeom prst="rect">
            <a:avLst/>
          </a:prstGeom>
          <a:noFill/>
          <a:ln/>
        </p:spPr>
        <p:txBody>
          <a:bodyPr wrap="square" lIns="0" tIns="0" rIns="0" bIns="0" rtlCol="0" anchor="t"/>
          <a:lstStyle/>
          <a:p>
            <a:pPr indent="0" marL="0">
              <a:spcAft>
                <a:spcPts val="200"/>
              </a:spcAft>
              <a:buNone/>
            </a:pPr>
            <a:r>
              <a:rPr lang="en-US" sz="1350" b="1" dirty="0">
                <a:solidFill>
                  <a:srgbClr val="1B1F1D"/>
                </a:solidFill>
                <a:latin typeface="Cambria" pitchFamily="34" charset="0"/>
                <a:ea typeface="Cambria" pitchFamily="34" charset="-122"/>
                <a:cs typeface="Cambria" pitchFamily="34" charset="-120"/>
              </a:rPr>
              <a:t>Inheritance</a:t>
            </a:r>
            <a:endParaRPr lang="en-US" sz="1400" dirty="0"/>
          </a:p>
          <a:p>
            <a:pPr indent="0" marL="0">
              <a:spcAft>
                <a:spcPts val="200"/>
              </a:spcAft>
              <a:buNone/>
            </a:pPr>
            <a:r>
              <a:rPr lang="en-US" sz="1100" dirty="0">
                <a:solidFill>
                  <a:srgbClr val="4A534E"/>
                </a:solidFill>
                <a:latin typeface="Calibri" pitchFamily="34" charset="0"/>
                <a:ea typeface="Calibri" pitchFamily="34" charset="-122"/>
                <a:cs typeface="Calibri" pitchFamily="34" charset="-120"/>
              </a:rPr>
              <a:t>A child class gets everything from a parent class, e.g. a Cake is a Product.</a:t>
            </a:r>
            <a:endParaRPr lang="en-US" sz="1400" dirty="0"/>
          </a:p>
        </p:txBody>
      </p:sp>
      <p:sp>
        <p:nvSpPr>
          <p:cNvPr id="48" name="Shape 42"/>
          <p:cNvSpPr/>
          <p:nvPr/>
        </p:nvSpPr>
        <p:spPr>
          <a:xfrm>
            <a:off x="6187288" y="5468112"/>
            <a:ext cx="2636444" cy="841248"/>
          </a:xfrm>
          <a:prstGeom prst="roundRect">
            <a:avLst>
              <a:gd name="adj" fmla="val 10870"/>
            </a:avLst>
          </a:prstGeom>
          <a:solidFill>
            <a:srgbClr val="F6E5F1"/>
          </a:solidFill>
          <a:ln/>
        </p:spPr>
      </p:sp>
      <p:sp>
        <p:nvSpPr>
          <p:cNvPr id="49" name="Text 43"/>
          <p:cNvSpPr txBox="1"/>
          <p:nvPr/>
        </p:nvSpPr>
        <p:spPr>
          <a:xfrm>
            <a:off x="6333592" y="5532120"/>
            <a:ext cx="2362124" cy="749808"/>
          </a:xfrm>
          <a:prstGeom prst="rect">
            <a:avLst/>
          </a:prstGeom>
          <a:noFill/>
          <a:ln/>
        </p:spPr>
        <p:txBody>
          <a:bodyPr wrap="square" lIns="0" tIns="0" rIns="0" bIns="0" rtlCol="0" anchor="t"/>
          <a:lstStyle/>
          <a:p>
            <a:pPr indent="0" marL="0">
              <a:spcAft>
                <a:spcPts val="200"/>
              </a:spcAft>
              <a:buNone/>
            </a:pPr>
            <a:r>
              <a:rPr lang="en-US" sz="1350" b="1" dirty="0">
                <a:solidFill>
                  <a:srgbClr val="1B1F1D"/>
                </a:solidFill>
                <a:latin typeface="Cambria" pitchFamily="34" charset="0"/>
                <a:ea typeface="Cambria" pitchFamily="34" charset="-122"/>
                <a:cs typeface="Cambria" pitchFamily="34" charset="-120"/>
              </a:rPr>
              <a:t>Polymorphism</a:t>
            </a:r>
            <a:endParaRPr lang="en-US" sz="1400" dirty="0"/>
          </a:p>
          <a:p>
            <a:pPr indent="0" marL="0">
              <a:spcAft>
                <a:spcPts val="200"/>
              </a:spcAft>
              <a:buNone/>
            </a:pPr>
            <a:r>
              <a:rPr lang="en-US" sz="1100" dirty="0">
                <a:solidFill>
                  <a:srgbClr val="4A534E"/>
                </a:solidFill>
                <a:latin typeface="Calibri" pitchFamily="34" charset="0"/>
                <a:ea typeface="Calibri" pitchFamily="34" charset="-122"/>
                <a:cs typeface="Calibri" pitchFamily="34" charset="-120"/>
              </a:rPr>
              <a:t>The same method name does different things in different classes.</a:t>
            </a:r>
            <a:endParaRPr lang="en-US" sz="1400" dirty="0"/>
          </a:p>
        </p:txBody>
      </p:sp>
      <p:sp>
        <p:nvSpPr>
          <p:cNvPr id="50" name="Shape 44"/>
          <p:cNvSpPr/>
          <p:nvPr/>
        </p:nvSpPr>
        <p:spPr>
          <a:xfrm>
            <a:off x="9006611" y="5468112"/>
            <a:ext cx="2636444" cy="841248"/>
          </a:xfrm>
          <a:prstGeom prst="roundRect">
            <a:avLst>
              <a:gd name="adj" fmla="val 10870"/>
            </a:avLst>
          </a:prstGeom>
          <a:solidFill>
            <a:srgbClr val="F6E5F1"/>
          </a:solidFill>
          <a:ln/>
        </p:spPr>
      </p:sp>
      <p:sp>
        <p:nvSpPr>
          <p:cNvPr id="51" name="Text 45"/>
          <p:cNvSpPr txBox="1"/>
          <p:nvPr/>
        </p:nvSpPr>
        <p:spPr>
          <a:xfrm>
            <a:off x="9152915" y="5532120"/>
            <a:ext cx="2362124" cy="749808"/>
          </a:xfrm>
          <a:prstGeom prst="rect">
            <a:avLst/>
          </a:prstGeom>
          <a:noFill/>
          <a:ln/>
        </p:spPr>
        <p:txBody>
          <a:bodyPr wrap="square" lIns="0" tIns="0" rIns="0" bIns="0" rtlCol="0" anchor="t"/>
          <a:lstStyle/>
          <a:p>
            <a:pPr indent="0" marL="0">
              <a:spcAft>
                <a:spcPts val="200"/>
              </a:spcAft>
              <a:buNone/>
            </a:pPr>
            <a:r>
              <a:rPr lang="en-US" sz="1350" b="1" dirty="0">
                <a:solidFill>
                  <a:srgbClr val="1B1F1D"/>
                </a:solidFill>
                <a:latin typeface="Cambria" pitchFamily="34" charset="0"/>
                <a:ea typeface="Cambria" pitchFamily="34" charset="-122"/>
                <a:cs typeface="Cambria" pitchFamily="34" charset="-120"/>
              </a:rPr>
              <a:t>Abstraction</a:t>
            </a:r>
            <a:endParaRPr lang="en-US" sz="1400" dirty="0"/>
          </a:p>
          <a:p>
            <a:pPr indent="0" marL="0">
              <a:spcAft>
                <a:spcPts val="200"/>
              </a:spcAft>
              <a:buNone/>
            </a:pPr>
            <a:r>
              <a:rPr lang="en-US" sz="1100" dirty="0">
                <a:solidFill>
                  <a:srgbClr val="4A534E"/>
                </a:solidFill>
                <a:latin typeface="Calibri" pitchFamily="34" charset="0"/>
                <a:ea typeface="Calibri" pitchFamily="34" charset="-122"/>
                <a:cs typeface="Calibri" pitchFamily="34" charset="-120"/>
              </a:rPr>
              <a:t>You use an object without seeing how it works inside, e.g. </a:t>
            </a:r>
            <a:r>
              <a:rPr lang="en-US" sz="1012" dirty="0">
                <a:solidFill>
                  <a:srgbClr val="4A534E"/>
                </a:solidFill>
                <a:latin typeface="Consolas" pitchFamily="34" charset="0"/>
                <a:ea typeface="Consolas" pitchFamily="34" charset="-122"/>
                <a:cs typeface="Consolas" pitchFamily="34" charset="-120"/>
              </a:rPr>
              <a:t>basket.add()</a:t>
            </a:r>
            <a:r>
              <a:rPr lang="en-US" sz="1100" dirty="0">
                <a:solidFill>
                  <a:srgbClr val="4A534E"/>
                </a:solidFill>
                <a:latin typeface="Calibri" pitchFamily="34" charset="0"/>
                <a:ea typeface="Calibri" pitchFamily="34" charset="-122"/>
                <a:cs typeface="Calibri" pitchFamily="34" charset="-120"/>
              </a:rPr>
              <a:t>.</a:t>
            </a:r>
            <a:endParaRPr lang="en-US" sz="1400" dirty="0"/>
          </a:p>
        </p:txBody>
      </p:sp>
      <p:sp>
        <p:nvSpPr>
          <p:cNvPr id="52" name="Text 46"/>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F0D0E6"/>
          </a:solidFill>
          <a:ln w="25400">
            <a:solidFill>
              <a:srgbClr val="C2449A"/>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4</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OBJECT-ORIENTED · CODE EXAMPLE</a:t>
            </a:r>
            <a:endParaRPr lang="en-US" sz="1100" dirty="0"/>
          </a:p>
        </p:txBody>
      </p:sp>
      <p:sp>
        <p:nvSpPr>
          <p:cNvPr id="5" name="Text 3"/>
          <p:cNvSpPr txBox="1"/>
          <p:nvPr/>
        </p:nvSpPr>
        <p:spPr>
          <a:xfrm>
            <a:off x="548640" y="731520"/>
            <a:ext cx="9144000"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Example: products and a basket</a:t>
            </a:r>
            <a:endParaRPr lang="en-US" sz="3200" dirty="0"/>
          </a:p>
        </p:txBody>
      </p:sp>
      <p:sp>
        <p:nvSpPr>
          <p:cNvPr id="6" name="Shape 4"/>
          <p:cNvSpPr/>
          <p:nvPr/>
        </p:nvSpPr>
        <p:spPr>
          <a:xfrm>
            <a:off x="10189159" y="932688"/>
            <a:ext cx="1197864" cy="0"/>
          </a:xfrm>
          <a:prstGeom prst="line">
            <a:avLst/>
          </a:prstGeom>
          <a:noFill/>
          <a:ln w="19050">
            <a:solidFill>
              <a:srgbClr val="B7C0BA"/>
            </a:solidFill>
            <a:prstDash val="solid"/>
          </a:ln>
        </p:spPr>
      </p:sp>
      <p:sp>
        <p:nvSpPr>
          <p:cNvPr id="7" name="Shape 5"/>
          <p:cNvSpPr/>
          <p:nvPr/>
        </p:nvSpPr>
        <p:spPr>
          <a:xfrm>
            <a:off x="9997135" y="740664"/>
            <a:ext cx="384048" cy="384048"/>
          </a:xfrm>
          <a:prstGeom prst="ellipse">
            <a:avLst/>
          </a:prstGeom>
          <a:solidFill>
            <a:srgbClr val="FFFFFF"/>
          </a:solidFill>
          <a:ln w="22225">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10089307" y="832836"/>
            <a:ext cx="199705" cy="199705"/>
          </a:xfrm>
          <a:prstGeom prst="rect">
            <a:avLst/>
          </a:prstGeom>
        </p:spPr>
      </p:pic>
      <p:sp>
        <p:nvSpPr>
          <p:cNvPr id="9" name="Shape 6"/>
          <p:cNvSpPr/>
          <p:nvPr/>
        </p:nvSpPr>
        <p:spPr>
          <a:xfrm>
            <a:off x="10564063" y="740664"/>
            <a:ext cx="384048" cy="384048"/>
          </a:xfrm>
          <a:prstGeom prst="ellipse">
            <a:avLst/>
          </a:prstGeom>
          <a:solidFill>
            <a:srgbClr val="FFFFFF"/>
          </a:solidFill>
          <a:ln w="22225">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10656235" y="832836"/>
            <a:ext cx="199705" cy="199705"/>
          </a:xfrm>
          <a:prstGeom prst="rect">
            <a:avLst/>
          </a:prstGeom>
        </p:spPr>
      </p:pic>
      <p:sp>
        <p:nvSpPr>
          <p:cNvPr id="11" name="Shape 7"/>
          <p:cNvSpPr/>
          <p:nvPr/>
        </p:nvSpPr>
        <p:spPr>
          <a:xfrm>
            <a:off x="11130991" y="676656"/>
            <a:ext cx="512064" cy="512064"/>
          </a:xfrm>
          <a:prstGeom prst="ellipse">
            <a:avLst/>
          </a:prstGeom>
          <a:solidFill>
            <a:srgbClr val="F0D0E6"/>
          </a:solidFill>
          <a:ln w="31750">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11253887" y="799551"/>
            <a:ext cx="266273" cy="266273"/>
          </a:xfrm>
          <a:prstGeom prst="rect">
            <a:avLst/>
          </a:prstGeom>
        </p:spPr>
      </p:pic>
      <p:sp>
        <p:nvSpPr>
          <p:cNvPr id="13" name="Shape 8"/>
          <p:cNvSpPr/>
          <p:nvPr/>
        </p:nvSpPr>
        <p:spPr>
          <a:xfrm>
            <a:off x="548640" y="1554480"/>
            <a:ext cx="5760720" cy="4654296"/>
          </a:xfrm>
          <a:prstGeom prst="roundRect">
            <a:avLst>
              <a:gd name="adj" fmla="val 1572"/>
            </a:avLst>
          </a:prstGeom>
          <a:solidFill>
            <a:srgbClr val="FBFCFA"/>
          </a:solidFill>
          <a:ln/>
          <a:effectLst>
            <a:outerShdw sx="100000" sy="100000" kx="0" ky="0" algn="bl" rotWithShape="0" blurRad="101600" dist="25400" dir="5400000">
              <a:srgbClr val="000000">
                <a:alpha val="14000"/>
              </a:srgbClr>
            </a:outerShdw>
          </a:effectLst>
        </p:spPr>
      </p:sp>
      <p:sp>
        <p:nvSpPr>
          <p:cNvPr id="14" name="Shape 9"/>
          <p:cNvSpPr/>
          <p:nvPr/>
        </p:nvSpPr>
        <p:spPr>
          <a:xfrm>
            <a:off x="548640" y="1554480"/>
            <a:ext cx="5760720" cy="438912"/>
          </a:xfrm>
          <a:prstGeom prst="roundRect">
            <a:avLst>
              <a:gd name="adj" fmla="val 16667"/>
            </a:avLst>
          </a:prstGeom>
          <a:solidFill>
            <a:srgbClr val="F6E5F1"/>
          </a:solidFill>
          <a:ln/>
        </p:spPr>
      </p:sp>
      <p:sp>
        <p:nvSpPr>
          <p:cNvPr id="15" name="Shape 10"/>
          <p:cNvSpPr/>
          <p:nvPr/>
        </p:nvSpPr>
        <p:spPr>
          <a:xfrm>
            <a:off x="548640" y="1883664"/>
            <a:ext cx="5760720" cy="109728"/>
          </a:xfrm>
          <a:prstGeom prst="rect">
            <a:avLst/>
          </a:prstGeom>
          <a:solidFill>
            <a:srgbClr val="FBFCFA"/>
          </a:solidFill>
          <a:ln/>
        </p:spPr>
      </p:sp>
      <p:sp>
        <p:nvSpPr>
          <p:cNvPr id="16" name="Shape 11"/>
          <p:cNvSpPr/>
          <p:nvPr/>
        </p:nvSpPr>
        <p:spPr>
          <a:xfrm>
            <a:off x="548640" y="1883664"/>
            <a:ext cx="5760720" cy="0"/>
          </a:xfrm>
          <a:prstGeom prst="line">
            <a:avLst/>
          </a:prstGeom>
          <a:noFill/>
          <a:ln w="9525">
            <a:solidFill>
              <a:srgbClr val="DFE3DE"/>
            </a:solidFill>
            <a:prstDash val="solid"/>
          </a:ln>
        </p:spPr>
      </p:sp>
      <p:sp>
        <p:nvSpPr>
          <p:cNvPr id="17" name="Shape 12"/>
          <p:cNvSpPr/>
          <p:nvPr/>
        </p:nvSpPr>
        <p:spPr>
          <a:xfrm>
            <a:off x="704088" y="1664208"/>
            <a:ext cx="109728" cy="109728"/>
          </a:xfrm>
          <a:prstGeom prst="ellipse">
            <a:avLst/>
          </a:prstGeom>
          <a:solidFill>
            <a:srgbClr val="C2449A"/>
          </a:solidFill>
          <a:ln/>
        </p:spPr>
      </p:sp>
      <p:sp>
        <p:nvSpPr>
          <p:cNvPr id="18" name="Text 13"/>
          <p:cNvSpPr txBox="1"/>
          <p:nvPr/>
        </p:nvSpPr>
        <p:spPr>
          <a:xfrm>
            <a:off x="896112" y="1554480"/>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basket_oop.py</a:t>
            </a:r>
            <a:endParaRPr lang="en-US" sz="1050" dirty="0"/>
          </a:p>
        </p:txBody>
      </p:sp>
      <p:sp>
        <p:nvSpPr>
          <p:cNvPr id="19" name="Text 14"/>
          <p:cNvSpPr txBox="1"/>
          <p:nvPr/>
        </p:nvSpPr>
        <p:spPr>
          <a:xfrm>
            <a:off x="3291840" y="1554480"/>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Python 3</a:t>
            </a:r>
            <a:endParaRPr lang="en-US" sz="1050" dirty="0"/>
          </a:p>
        </p:txBody>
      </p:sp>
      <p:sp>
        <p:nvSpPr>
          <p:cNvPr id="20" name="Shape 15"/>
          <p:cNvSpPr/>
          <p:nvPr/>
        </p:nvSpPr>
        <p:spPr>
          <a:xfrm>
            <a:off x="576072" y="4889754"/>
            <a:ext cx="5705856" cy="171450"/>
          </a:xfrm>
          <a:prstGeom prst="rect">
            <a:avLst/>
          </a:prstGeom>
          <a:solidFill>
            <a:srgbClr val="F6E5F1"/>
          </a:solidFill>
          <a:ln/>
        </p:spPr>
      </p:sp>
      <p:sp>
        <p:nvSpPr>
          <p:cNvPr id="21" name="Shape 16"/>
          <p:cNvSpPr/>
          <p:nvPr/>
        </p:nvSpPr>
        <p:spPr>
          <a:xfrm>
            <a:off x="576072" y="5061204"/>
            <a:ext cx="5705856" cy="171450"/>
          </a:xfrm>
          <a:prstGeom prst="rect">
            <a:avLst/>
          </a:prstGeom>
          <a:solidFill>
            <a:srgbClr val="F6E5F1"/>
          </a:solidFill>
          <a:ln/>
        </p:spPr>
      </p:sp>
      <p:sp>
        <p:nvSpPr>
          <p:cNvPr id="22" name="Shape 17"/>
          <p:cNvSpPr/>
          <p:nvPr/>
        </p:nvSpPr>
        <p:spPr>
          <a:xfrm>
            <a:off x="576072" y="5232654"/>
            <a:ext cx="5705856" cy="171450"/>
          </a:xfrm>
          <a:prstGeom prst="rect">
            <a:avLst/>
          </a:prstGeom>
          <a:solidFill>
            <a:srgbClr val="F6E5F1"/>
          </a:solidFill>
          <a:ln/>
        </p:spPr>
      </p:sp>
      <p:sp>
        <p:nvSpPr>
          <p:cNvPr id="23" name="Text 18"/>
          <p:cNvSpPr txBox="1"/>
          <p:nvPr/>
        </p:nvSpPr>
        <p:spPr>
          <a:xfrm>
            <a:off x="694944" y="1975104"/>
            <a:ext cx="5541264" cy="4114800"/>
          </a:xfrm>
          <a:prstGeom prst="rect">
            <a:avLst/>
          </a:prstGeom>
          <a:noFill/>
          <a:ln/>
        </p:spPr>
        <p:txBody>
          <a:bodyPr wrap="square" lIns="0" tIns="0" rIns="0" bIns="0" rtlCol="0" anchor="t"/>
          <a:lstStyle/>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1  </a:t>
            </a:r>
            <a:r>
              <a:rPr lang="en-US" sz="1050" b="1" dirty="0">
                <a:solidFill>
                  <a:srgbClr val="B8323A"/>
                </a:solidFill>
                <a:latin typeface="Consolas" pitchFamily="34" charset="0"/>
                <a:ea typeface="Consolas" pitchFamily="34" charset="-122"/>
                <a:cs typeface="Consolas" pitchFamily="34" charset="-120"/>
              </a:rPr>
              <a:t>class</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Product</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2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__init__</a:t>
            </a:r>
            <a:r>
              <a:rPr lang="en-US" sz="1050" dirty="0">
                <a:solidFill>
                  <a:srgbClr val="1B1F1D"/>
                </a:solidFill>
                <a:latin typeface="Consolas" pitchFamily="34" charset="0"/>
                <a:ea typeface="Consolas" pitchFamily="34" charset="-122"/>
                <a:cs typeface="Consolas" pitchFamily="34" charset="-120"/>
              </a:rPr>
              <a:t>(</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 name, price):   </a:t>
            </a:r>
            <a:r>
              <a:rPr lang="en-US" sz="1050" i="1" dirty="0">
                <a:solidFill>
                  <a:srgbClr val="4A534E"/>
                </a:solidFill>
                <a:latin typeface="Consolas" pitchFamily="34" charset="0"/>
                <a:ea typeface="Consolas" pitchFamily="34" charset="-122"/>
                <a:cs typeface="Consolas" pitchFamily="34" charset="-120"/>
              </a:rPr>
              <a:t># constructor</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3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.name = name               </a:t>
            </a:r>
            <a:r>
              <a:rPr lang="en-US" sz="1050" i="1" dirty="0">
                <a:solidFill>
                  <a:srgbClr val="4A534E"/>
                </a:solidFill>
                <a:latin typeface="Consolas" pitchFamily="34" charset="0"/>
                <a:ea typeface="Consolas" pitchFamily="34" charset="-122"/>
                <a:cs typeface="Consolas" pitchFamily="34" charset="-120"/>
              </a:rPr>
              <a:t># attributes</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4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.price = price</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5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6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describe</a:t>
            </a:r>
            <a:r>
              <a:rPr lang="en-US" sz="1050" dirty="0">
                <a:solidFill>
                  <a:srgbClr val="1B1F1D"/>
                </a:solidFill>
                <a:latin typeface="Consolas" pitchFamily="34" charset="0"/>
                <a:ea typeface="Consolas" pitchFamily="34" charset="-122"/>
                <a:cs typeface="Consolas" pitchFamily="34" charset="-120"/>
              </a:rPr>
              <a:t>(</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                </a:t>
            </a:r>
            <a:r>
              <a:rPr lang="en-US" sz="1050" i="1" dirty="0">
                <a:solidFill>
                  <a:srgbClr val="4A534E"/>
                </a:solidFill>
                <a:latin typeface="Consolas" pitchFamily="34" charset="0"/>
                <a:ea typeface="Consolas" pitchFamily="34" charset="-122"/>
                <a:cs typeface="Consolas" pitchFamily="34" charset="-120"/>
              </a:rPr>
              <a:t># a method</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7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return</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1D7A4E"/>
                </a:solidFill>
                <a:latin typeface="Consolas" pitchFamily="34" charset="0"/>
                <a:ea typeface="Consolas" pitchFamily="34" charset="-122"/>
                <a:cs typeface="Consolas" pitchFamily="34" charset="-120"/>
              </a:rPr>
              <a:t>f"{self.name} costs £{self.price:.2f}"</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8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9  </a:t>
            </a:r>
            <a:r>
              <a:rPr lang="en-US" sz="1050" b="1" dirty="0">
                <a:solidFill>
                  <a:srgbClr val="B8323A"/>
                </a:solidFill>
                <a:latin typeface="Consolas" pitchFamily="34" charset="0"/>
                <a:ea typeface="Consolas" pitchFamily="34" charset="-122"/>
                <a:cs typeface="Consolas" pitchFamily="34" charset="-120"/>
              </a:rPr>
              <a:t>class</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Basket</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10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__init__</a:t>
            </a:r>
            <a:r>
              <a:rPr lang="en-US" sz="1050" dirty="0">
                <a:solidFill>
                  <a:srgbClr val="1B1F1D"/>
                </a:solidFill>
                <a:latin typeface="Consolas" pitchFamily="34" charset="0"/>
                <a:ea typeface="Consolas" pitchFamily="34" charset="-122"/>
                <a:cs typeface="Consolas" pitchFamily="34" charset="-120"/>
              </a:rPr>
              <a:t>(</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11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.items =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12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.total = </a:t>
            </a:r>
            <a:r>
              <a:rPr lang="en-US" sz="1050" dirty="0">
                <a:solidFill>
                  <a:srgbClr val="A35A00"/>
                </a:solidFill>
                <a:latin typeface="Consolas" pitchFamily="34" charset="0"/>
                <a:ea typeface="Consolas" pitchFamily="34" charset="-122"/>
                <a:cs typeface="Consolas" pitchFamily="34" charset="-120"/>
              </a:rPr>
              <a:t>0</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13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14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add</a:t>
            </a:r>
            <a:r>
              <a:rPr lang="en-US" sz="1050" dirty="0">
                <a:solidFill>
                  <a:srgbClr val="1B1F1D"/>
                </a:solidFill>
                <a:latin typeface="Consolas" pitchFamily="34" charset="0"/>
                <a:ea typeface="Consolas" pitchFamily="34" charset="-122"/>
                <a:cs typeface="Consolas" pitchFamily="34" charset="-120"/>
              </a:rPr>
              <a:t>(</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 product):            </a:t>
            </a:r>
            <a:r>
              <a:rPr lang="en-US" sz="1050" i="1" dirty="0">
                <a:solidFill>
                  <a:srgbClr val="4A534E"/>
                </a:solidFill>
                <a:latin typeface="Consolas" pitchFamily="34" charset="0"/>
                <a:ea typeface="Consolas" pitchFamily="34" charset="-122"/>
                <a:cs typeface="Consolas" pitchFamily="34" charset="-120"/>
              </a:rPr>
              <a:t># a method</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15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.items.append(product)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16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.total =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.total + product.price</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17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18  </a:t>
            </a:r>
            <a:r>
              <a:rPr lang="en-US" sz="1050" dirty="0">
                <a:solidFill>
                  <a:srgbClr val="1B1F1D"/>
                </a:solidFill>
                <a:latin typeface="Consolas" pitchFamily="34" charset="0"/>
                <a:ea typeface="Consolas" pitchFamily="34" charset="-122"/>
                <a:cs typeface="Consolas" pitchFamily="34" charset="-120"/>
              </a:rPr>
              <a:t>croissant = Product(</a:t>
            </a:r>
            <a:r>
              <a:rPr lang="en-US" sz="1050" dirty="0">
                <a:solidFill>
                  <a:srgbClr val="1D7A4E"/>
                </a:solidFill>
                <a:latin typeface="Consolas" pitchFamily="34" charset="0"/>
                <a:ea typeface="Consolas" pitchFamily="34" charset="-122"/>
                <a:cs typeface="Consolas" pitchFamily="34" charset="-120"/>
              </a:rPr>
              <a:t>"Croissant"</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A35A00"/>
                </a:solidFill>
                <a:latin typeface="Consolas" pitchFamily="34" charset="0"/>
                <a:ea typeface="Consolas" pitchFamily="34" charset="-122"/>
                <a:cs typeface="Consolas" pitchFamily="34" charset="-120"/>
              </a:rPr>
              <a:t>1.25</a:t>
            </a:r>
            <a:r>
              <a:rPr lang="en-US" sz="1050" dirty="0">
                <a:solidFill>
                  <a:srgbClr val="1B1F1D"/>
                </a:solidFill>
                <a:latin typeface="Consolas" pitchFamily="34" charset="0"/>
                <a:ea typeface="Consolas" pitchFamily="34" charset="-122"/>
                <a:cs typeface="Consolas" pitchFamily="34" charset="-120"/>
              </a:rPr>
              <a:t>) </a:t>
            </a:r>
            <a:r>
              <a:rPr lang="en-US" sz="1050" i="1" dirty="0">
                <a:solidFill>
                  <a:srgbClr val="4A534E"/>
                </a:solidFill>
                <a:latin typeface="Consolas" pitchFamily="34" charset="0"/>
                <a:ea typeface="Consolas" pitchFamily="34" charset="-122"/>
                <a:cs typeface="Consolas" pitchFamily="34" charset="-120"/>
              </a:rPr>
              <a:t># objects</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19  </a:t>
            </a:r>
            <a:r>
              <a:rPr lang="en-US" sz="1050" dirty="0">
                <a:solidFill>
                  <a:srgbClr val="1B1F1D"/>
                </a:solidFill>
                <a:latin typeface="Consolas" pitchFamily="34" charset="0"/>
                <a:ea typeface="Consolas" pitchFamily="34" charset="-122"/>
                <a:cs typeface="Consolas" pitchFamily="34" charset="-120"/>
              </a:rPr>
              <a:t>sourdough = Product(</a:t>
            </a:r>
            <a:r>
              <a:rPr lang="en-US" sz="1050" dirty="0">
                <a:solidFill>
                  <a:srgbClr val="1D7A4E"/>
                </a:solidFill>
                <a:latin typeface="Consolas" pitchFamily="34" charset="0"/>
                <a:ea typeface="Consolas" pitchFamily="34" charset="-122"/>
                <a:cs typeface="Consolas" pitchFamily="34" charset="-120"/>
              </a:rPr>
              <a:t>"Sourdough"</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A35A00"/>
                </a:solidFill>
                <a:latin typeface="Consolas" pitchFamily="34" charset="0"/>
                <a:ea typeface="Consolas" pitchFamily="34" charset="-122"/>
                <a:cs typeface="Consolas" pitchFamily="34" charset="-120"/>
              </a:rPr>
              <a:t>3.50</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20  </a:t>
            </a:r>
            <a:r>
              <a:rPr lang="en-US" sz="1050" dirty="0">
                <a:solidFill>
                  <a:srgbClr val="1B1F1D"/>
                </a:solidFill>
                <a:latin typeface="Consolas" pitchFamily="34" charset="0"/>
                <a:ea typeface="Consolas" pitchFamily="34" charset="-122"/>
                <a:cs typeface="Consolas" pitchFamily="34" charset="-120"/>
              </a:rPr>
              <a:t>basket = Basket()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21  </a:t>
            </a:r>
            <a:r>
              <a:rPr lang="en-US" sz="1050" dirty="0">
                <a:solidFill>
                  <a:srgbClr val="1B1F1D"/>
                </a:solidFill>
                <a:latin typeface="Consolas" pitchFamily="34" charset="0"/>
                <a:ea typeface="Consolas" pitchFamily="34" charset="-122"/>
                <a:cs typeface="Consolas" pitchFamily="34" charset="-120"/>
              </a:rPr>
              <a:t>basket.add(croissant)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22  </a:t>
            </a:r>
            <a:r>
              <a:rPr lang="en-US" sz="1050" dirty="0">
                <a:solidFill>
                  <a:srgbClr val="1B1F1D"/>
                </a:solidFill>
                <a:latin typeface="Consolas" pitchFamily="34" charset="0"/>
                <a:ea typeface="Consolas" pitchFamily="34" charset="-122"/>
                <a:cs typeface="Consolas" pitchFamily="34" charset="-120"/>
              </a:rPr>
              <a:t>basket.add(sourdough)</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23  </a:t>
            </a:r>
            <a:r>
              <a:rPr lang="en-US" sz="1050" dirty="0">
                <a:solidFill>
                  <a:srgbClr val="3456C0"/>
                </a:solidFill>
                <a:latin typeface="Consolas" pitchFamily="34" charset="0"/>
                <a:ea typeface="Consolas" pitchFamily="34" charset="-122"/>
                <a:cs typeface="Consolas" pitchFamily="34" charset="-120"/>
              </a:rPr>
              <a:t>print</a:t>
            </a:r>
            <a:r>
              <a:rPr lang="en-US" sz="1050" dirty="0">
                <a:solidFill>
                  <a:srgbClr val="1B1F1D"/>
                </a:solidFill>
                <a:latin typeface="Consolas" pitchFamily="34" charset="0"/>
                <a:ea typeface="Consolas" pitchFamily="34" charset="-122"/>
                <a:cs typeface="Consolas" pitchFamily="34" charset="-120"/>
              </a:rPr>
              <a:t>(croissant.describe())            </a:t>
            </a:r>
            <a:r>
              <a:rPr lang="en-US" sz="1050" i="1" dirty="0">
                <a:solidFill>
                  <a:srgbClr val="4A534E"/>
                </a:solidFill>
                <a:latin typeface="Consolas" pitchFamily="34" charset="0"/>
                <a:ea typeface="Consolas" pitchFamily="34" charset="-122"/>
                <a:cs typeface="Consolas" pitchFamily="34" charset="-120"/>
              </a:rPr>
              <a:t># Croissant costs £1.25</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24  </a:t>
            </a:r>
            <a:r>
              <a:rPr lang="en-US" sz="1050" dirty="0">
                <a:solidFill>
                  <a:srgbClr val="3456C0"/>
                </a:solidFill>
                <a:latin typeface="Consolas" pitchFamily="34" charset="0"/>
                <a:ea typeface="Consolas" pitchFamily="34" charset="-122"/>
                <a:cs typeface="Consolas" pitchFamily="34" charset="-120"/>
              </a:rPr>
              <a:t>print</a:t>
            </a:r>
            <a:r>
              <a:rPr lang="en-US" sz="1050" dirty="0">
                <a:solidFill>
                  <a:srgbClr val="1B1F1D"/>
                </a:solidFill>
                <a:latin typeface="Consolas" pitchFamily="34" charset="0"/>
                <a:ea typeface="Consolas" pitchFamily="34" charset="-122"/>
                <a:cs typeface="Consolas" pitchFamily="34" charset="-120"/>
              </a:rPr>
              <a:t>(basket.total)                    </a:t>
            </a:r>
            <a:r>
              <a:rPr lang="en-US" sz="1050" i="1" dirty="0">
                <a:solidFill>
                  <a:srgbClr val="4A534E"/>
                </a:solidFill>
                <a:latin typeface="Consolas" pitchFamily="34" charset="0"/>
                <a:ea typeface="Consolas" pitchFamily="34" charset="-122"/>
                <a:cs typeface="Consolas" pitchFamily="34" charset="-120"/>
              </a:rPr>
              <a:t># 4.75</a:t>
            </a:r>
            <a:endParaRPr lang="en-US" sz="1050" dirty="0"/>
          </a:p>
        </p:txBody>
      </p:sp>
      <p:sp>
        <p:nvSpPr>
          <p:cNvPr id="24" name="Shape 19"/>
          <p:cNvSpPr/>
          <p:nvPr/>
        </p:nvSpPr>
        <p:spPr>
          <a:xfrm>
            <a:off x="548640" y="1554480"/>
            <a:ext cx="5760720" cy="4654296"/>
          </a:xfrm>
          <a:prstGeom prst="roundRect">
            <a:avLst>
              <a:gd name="adj" fmla="val 1572"/>
            </a:avLst>
          </a:prstGeom>
          <a:ln w="12700">
            <a:solidFill>
              <a:srgbClr val="DFE3DE"/>
            </a:solidFill>
            <a:prstDash val="solid"/>
          </a:ln>
        </p:spPr>
      </p:sp>
      <p:sp>
        <p:nvSpPr>
          <p:cNvPr id="25" name="Text 20"/>
          <p:cNvSpPr txBox="1"/>
          <p:nvPr/>
        </p:nvSpPr>
        <p:spPr>
          <a:xfrm>
            <a:off x="6629400" y="1554480"/>
            <a:ext cx="5010912"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THE OBJECTS AFTER LINE 22</a:t>
            </a:r>
            <a:endParaRPr lang="en-US" sz="1000" dirty="0"/>
          </a:p>
        </p:txBody>
      </p:sp>
      <p:sp>
        <p:nvSpPr>
          <p:cNvPr id="26" name="Shape 21"/>
          <p:cNvSpPr/>
          <p:nvPr/>
        </p:nvSpPr>
        <p:spPr>
          <a:xfrm>
            <a:off x="6629400" y="1828800"/>
            <a:ext cx="2377440" cy="896112"/>
          </a:xfrm>
          <a:prstGeom prst="roundRect">
            <a:avLst>
              <a:gd name="adj" fmla="val 12245"/>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27" name="Text 22"/>
          <p:cNvSpPr txBox="1"/>
          <p:nvPr/>
        </p:nvSpPr>
        <p:spPr>
          <a:xfrm>
            <a:off x="6775704" y="1920240"/>
            <a:ext cx="2103120" cy="256032"/>
          </a:xfrm>
          <a:prstGeom prst="rect">
            <a:avLst/>
          </a:prstGeom>
          <a:noFill/>
          <a:ln/>
        </p:spPr>
        <p:txBody>
          <a:bodyPr wrap="square" lIns="0" tIns="0" rIns="0" bIns="0" rtlCol="0" anchor="ctr"/>
          <a:lstStyle/>
          <a:p>
            <a:pPr indent="0" marL="0">
              <a:buNone/>
            </a:pPr>
            <a:r>
              <a:rPr lang="en-US" sz="1100" u="sng" dirty="0">
                <a:solidFill>
                  <a:srgbClr val="1B1F1D"/>
                </a:solidFill>
                <a:latin typeface="Consolas" pitchFamily="34" charset="0"/>
                <a:ea typeface="Consolas" pitchFamily="34" charset="-122"/>
                <a:cs typeface="Consolas" pitchFamily="34" charset="-120"/>
              </a:rPr>
              <a:t>croissant</a:t>
            </a:r>
            <a:r>
              <a:rPr lang="en-US" sz="1100" dirty="0">
                <a:solidFill>
                  <a:srgbClr val="1B1F1D"/>
                </a:solidFill>
                <a:latin typeface="Consolas" pitchFamily="34" charset="0"/>
                <a:ea typeface="Consolas" pitchFamily="34" charset="-122"/>
                <a:cs typeface="Consolas" pitchFamily="34" charset="-120"/>
              </a:rPr>
              <a:t> : Product</a:t>
            </a:r>
            <a:endParaRPr lang="en-US" sz="1100" dirty="0"/>
          </a:p>
        </p:txBody>
      </p:sp>
      <p:sp>
        <p:nvSpPr>
          <p:cNvPr id="28" name="Text 23"/>
          <p:cNvSpPr txBox="1"/>
          <p:nvPr/>
        </p:nvSpPr>
        <p:spPr>
          <a:xfrm>
            <a:off x="6775704" y="2231136"/>
            <a:ext cx="914400" cy="201168"/>
          </a:xfrm>
          <a:prstGeom prst="rect">
            <a:avLst/>
          </a:prstGeom>
          <a:noFill/>
          <a:ln/>
        </p:spPr>
        <p:txBody>
          <a:bodyPr wrap="square" lIns="0" tIns="0" rIns="0" bIns="0" rtlCol="0" anchor="ctr"/>
          <a:lstStyle/>
          <a:p>
            <a:pPr indent="0" marL="0">
              <a:buNone/>
            </a:pPr>
            <a:r>
              <a:rPr lang="en-US" sz="1050" dirty="0">
                <a:solidFill>
                  <a:srgbClr val="4A534E"/>
                </a:solidFill>
                <a:latin typeface="Consolas" pitchFamily="34" charset="0"/>
                <a:ea typeface="Consolas" pitchFamily="34" charset="-122"/>
                <a:cs typeface="Consolas" pitchFamily="34" charset="-120"/>
              </a:rPr>
              <a:t>name</a:t>
            </a:r>
            <a:endParaRPr lang="en-US" sz="1050" dirty="0"/>
          </a:p>
        </p:txBody>
      </p:sp>
      <p:sp>
        <p:nvSpPr>
          <p:cNvPr id="29" name="Text 24"/>
          <p:cNvSpPr txBox="1"/>
          <p:nvPr/>
        </p:nvSpPr>
        <p:spPr>
          <a:xfrm>
            <a:off x="7543800" y="2231136"/>
            <a:ext cx="1316736" cy="201168"/>
          </a:xfrm>
          <a:prstGeom prst="rect">
            <a:avLst/>
          </a:prstGeom>
          <a:noFill/>
          <a:ln/>
        </p:spPr>
        <p:txBody>
          <a:bodyPr wrap="square" lIns="0" tIns="0" rIns="0" bIns="0" rtlCol="0" anchor="ctr"/>
          <a:lstStyle/>
          <a:p>
            <a:pPr algn="r" indent="0" marL="0">
              <a:buNone/>
            </a:pPr>
            <a:r>
              <a:rPr lang="en-US" sz="1050" dirty="0">
                <a:solidFill>
                  <a:srgbClr val="1B1F1D"/>
                </a:solidFill>
                <a:latin typeface="Consolas" pitchFamily="34" charset="0"/>
                <a:ea typeface="Consolas" pitchFamily="34" charset="-122"/>
                <a:cs typeface="Consolas" pitchFamily="34" charset="-120"/>
              </a:rPr>
              <a:t>'Croissant'</a:t>
            </a:r>
            <a:endParaRPr lang="en-US" sz="1050" dirty="0"/>
          </a:p>
        </p:txBody>
      </p:sp>
      <p:sp>
        <p:nvSpPr>
          <p:cNvPr id="30" name="Text 25"/>
          <p:cNvSpPr txBox="1"/>
          <p:nvPr/>
        </p:nvSpPr>
        <p:spPr>
          <a:xfrm>
            <a:off x="6775704" y="2450592"/>
            <a:ext cx="914400" cy="201168"/>
          </a:xfrm>
          <a:prstGeom prst="rect">
            <a:avLst/>
          </a:prstGeom>
          <a:noFill/>
          <a:ln/>
        </p:spPr>
        <p:txBody>
          <a:bodyPr wrap="square" lIns="0" tIns="0" rIns="0" bIns="0" rtlCol="0" anchor="ctr"/>
          <a:lstStyle/>
          <a:p>
            <a:pPr indent="0" marL="0">
              <a:buNone/>
            </a:pPr>
            <a:r>
              <a:rPr lang="en-US" sz="1050" dirty="0">
                <a:solidFill>
                  <a:srgbClr val="4A534E"/>
                </a:solidFill>
                <a:latin typeface="Consolas" pitchFamily="34" charset="0"/>
                <a:ea typeface="Consolas" pitchFamily="34" charset="-122"/>
                <a:cs typeface="Consolas" pitchFamily="34" charset="-120"/>
              </a:rPr>
              <a:t>price</a:t>
            </a:r>
            <a:endParaRPr lang="en-US" sz="1050" dirty="0"/>
          </a:p>
        </p:txBody>
      </p:sp>
      <p:sp>
        <p:nvSpPr>
          <p:cNvPr id="31" name="Text 26"/>
          <p:cNvSpPr txBox="1"/>
          <p:nvPr/>
        </p:nvSpPr>
        <p:spPr>
          <a:xfrm>
            <a:off x="7543800" y="2450592"/>
            <a:ext cx="1316736" cy="201168"/>
          </a:xfrm>
          <a:prstGeom prst="rect">
            <a:avLst/>
          </a:prstGeom>
          <a:noFill/>
          <a:ln/>
        </p:spPr>
        <p:txBody>
          <a:bodyPr wrap="square" lIns="0" tIns="0" rIns="0" bIns="0" rtlCol="0" anchor="ctr"/>
          <a:lstStyle/>
          <a:p>
            <a:pPr algn="r" indent="0" marL="0">
              <a:buNone/>
            </a:pPr>
            <a:r>
              <a:rPr lang="en-US" sz="1050" dirty="0">
                <a:solidFill>
                  <a:srgbClr val="1B1F1D"/>
                </a:solidFill>
                <a:latin typeface="Consolas" pitchFamily="34" charset="0"/>
                <a:ea typeface="Consolas" pitchFamily="34" charset="-122"/>
                <a:cs typeface="Consolas" pitchFamily="34" charset="-120"/>
              </a:rPr>
              <a:t>1.25</a:t>
            </a:r>
            <a:endParaRPr lang="en-US" sz="1050" dirty="0"/>
          </a:p>
        </p:txBody>
      </p:sp>
      <p:sp>
        <p:nvSpPr>
          <p:cNvPr id="32" name="Shape 27"/>
          <p:cNvSpPr/>
          <p:nvPr/>
        </p:nvSpPr>
        <p:spPr>
          <a:xfrm>
            <a:off x="9262872" y="1828800"/>
            <a:ext cx="2377440" cy="896112"/>
          </a:xfrm>
          <a:prstGeom prst="roundRect">
            <a:avLst>
              <a:gd name="adj" fmla="val 12245"/>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33" name="Text 28"/>
          <p:cNvSpPr txBox="1"/>
          <p:nvPr/>
        </p:nvSpPr>
        <p:spPr>
          <a:xfrm>
            <a:off x="9409176" y="1920240"/>
            <a:ext cx="2103120" cy="256032"/>
          </a:xfrm>
          <a:prstGeom prst="rect">
            <a:avLst/>
          </a:prstGeom>
          <a:noFill/>
          <a:ln/>
        </p:spPr>
        <p:txBody>
          <a:bodyPr wrap="square" lIns="0" tIns="0" rIns="0" bIns="0" rtlCol="0" anchor="ctr"/>
          <a:lstStyle/>
          <a:p>
            <a:pPr indent="0" marL="0">
              <a:buNone/>
            </a:pPr>
            <a:r>
              <a:rPr lang="en-US" sz="1100" u="sng" dirty="0">
                <a:solidFill>
                  <a:srgbClr val="1B1F1D"/>
                </a:solidFill>
                <a:latin typeface="Consolas" pitchFamily="34" charset="0"/>
                <a:ea typeface="Consolas" pitchFamily="34" charset="-122"/>
                <a:cs typeface="Consolas" pitchFamily="34" charset="-120"/>
              </a:rPr>
              <a:t>sourdough</a:t>
            </a:r>
            <a:r>
              <a:rPr lang="en-US" sz="1100" dirty="0">
                <a:solidFill>
                  <a:srgbClr val="1B1F1D"/>
                </a:solidFill>
                <a:latin typeface="Consolas" pitchFamily="34" charset="0"/>
                <a:ea typeface="Consolas" pitchFamily="34" charset="-122"/>
                <a:cs typeface="Consolas" pitchFamily="34" charset="-120"/>
              </a:rPr>
              <a:t> : Product</a:t>
            </a:r>
            <a:endParaRPr lang="en-US" sz="1100" dirty="0"/>
          </a:p>
        </p:txBody>
      </p:sp>
      <p:sp>
        <p:nvSpPr>
          <p:cNvPr id="34" name="Text 29"/>
          <p:cNvSpPr txBox="1"/>
          <p:nvPr/>
        </p:nvSpPr>
        <p:spPr>
          <a:xfrm>
            <a:off x="9409176" y="2231136"/>
            <a:ext cx="914400" cy="201168"/>
          </a:xfrm>
          <a:prstGeom prst="rect">
            <a:avLst/>
          </a:prstGeom>
          <a:noFill/>
          <a:ln/>
        </p:spPr>
        <p:txBody>
          <a:bodyPr wrap="square" lIns="0" tIns="0" rIns="0" bIns="0" rtlCol="0" anchor="ctr"/>
          <a:lstStyle/>
          <a:p>
            <a:pPr indent="0" marL="0">
              <a:buNone/>
            </a:pPr>
            <a:r>
              <a:rPr lang="en-US" sz="1050" dirty="0">
                <a:solidFill>
                  <a:srgbClr val="4A534E"/>
                </a:solidFill>
                <a:latin typeface="Consolas" pitchFamily="34" charset="0"/>
                <a:ea typeface="Consolas" pitchFamily="34" charset="-122"/>
                <a:cs typeface="Consolas" pitchFamily="34" charset="-120"/>
              </a:rPr>
              <a:t>name</a:t>
            </a:r>
            <a:endParaRPr lang="en-US" sz="1050" dirty="0"/>
          </a:p>
        </p:txBody>
      </p:sp>
      <p:sp>
        <p:nvSpPr>
          <p:cNvPr id="35" name="Text 30"/>
          <p:cNvSpPr txBox="1"/>
          <p:nvPr/>
        </p:nvSpPr>
        <p:spPr>
          <a:xfrm>
            <a:off x="10177272" y="2231136"/>
            <a:ext cx="1316736" cy="201168"/>
          </a:xfrm>
          <a:prstGeom prst="rect">
            <a:avLst/>
          </a:prstGeom>
          <a:noFill/>
          <a:ln/>
        </p:spPr>
        <p:txBody>
          <a:bodyPr wrap="square" lIns="0" tIns="0" rIns="0" bIns="0" rtlCol="0" anchor="ctr"/>
          <a:lstStyle/>
          <a:p>
            <a:pPr algn="r" indent="0" marL="0">
              <a:buNone/>
            </a:pPr>
            <a:r>
              <a:rPr lang="en-US" sz="1050" dirty="0">
                <a:solidFill>
                  <a:srgbClr val="1B1F1D"/>
                </a:solidFill>
                <a:latin typeface="Consolas" pitchFamily="34" charset="0"/>
                <a:ea typeface="Consolas" pitchFamily="34" charset="-122"/>
                <a:cs typeface="Consolas" pitchFamily="34" charset="-120"/>
              </a:rPr>
              <a:t>'Sourdough'</a:t>
            </a:r>
            <a:endParaRPr lang="en-US" sz="1050" dirty="0"/>
          </a:p>
        </p:txBody>
      </p:sp>
      <p:sp>
        <p:nvSpPr>
          <p:cNvPr id="36" name="Text 31"/>
          <p:cNvSpPr txBox="1"/>
          <p:nvPr/>
        </p:nvSpPr>
        <p:spPr>
          <a:xfrm>
            <a:off x="9409176" y="2450592"/>
            <a:ext cx="914400" cy="201168"/>
          </a:xfrm>
          <a:prstGeom prst="rect">
            <a:avLst/>
          </a:prstGeom>
          <a:noFill/>
          <a:ln/>
        </p:spPr>
        <p:txBody>
          <a:bodyPr wrap="square" lIns="0" tIns="0" rIns="0" bIns="0" rtlCol="0" anchor="ctr"/>
          <a:lstStyle/>
          <a:p>
            <a:pPr indent="0" marL="0">
              <a:buNone/>
            </a:pPr>
            <a:r>
              <a:rPr lang="en-US" sz="1050" dirty="0">
                <a:solidFill>
                  <a:srgbClr val="4A534E"/>
                </a:solidFill>
                <a:latin typeface="Consolas" pitchFamily="34" charset="0"/>
                <a:ea typeface="Consolas" pitchFamily="34" charset="-122"/>
                <a:cs typeface="Consolas" pitchFamily="34" charset="-120"/>
              </a:rPr>
              <a:t>price</a:t>
            </a:r>
            <a:endParaRPr lang="en-US" sz="1050" dirty="0"/>
          </a:p>
        </p:txBody>
      </p:sp>
      <p:sp>
        <p:nvSpPr>
          <p:cNvPr id="37" name="Text 32"/>
          <p:cNvSpPr txBox="1"/>
          <p:nvPr/>
        </p:nvSpPr>
        <p:spPr>
          <a:xfrm>
            <a:off x="10177272" y="2450592"/>
            <a:ext cx="1316736" cy="201168"/>
          </a:xfrm>
          <a:prstGeom prst="rect">
            <a:avLst/>
          </a:prstGeom>
          <a:noFill/>
          <a:ln/>
        </p:spPr>
        <p:txBody>
          <a:bodyPr wrap="square" lIns="0" tIns="0" rIns="0" bIns="0" rtlCol="0" anchor="ctr"/>
          <a:lstStyle/>
          <a:p>
            <a:pPr algn="r" indent="0" marL="0">
              <a:buNone/>
            </a:pPr>
            <a:r>
              <a:rPr lang="en-US" sz="1050" dirty="0">
                <a:solidFill>
                  <a:srgbClr val="1B1F1D"/>
                </a:solidFill>
                <a:latin typeface="Consolas" pitchFamily="34" charset="0"/>
                <a:ea typeface="Consolas" pitchFamily="34" charset="-122"/>
                <a:cs typeface="Consolas" pitchFamily="34" charset="-120"/>
              </a:rPr>
              <a:t>3.5</a:t>
            </a:r>
            <a:endParaRPr lang="en-US" sz="1050" dirty="0"/>
          </a:p>
        </p:txBody>
      </p:sp>
      <p:sp>
        <p:nvSpPr>
          <p:cNvPr id="38" name="Shape 33"/>
          <p:cNvSpPr/>
          <p:nvPr/>
        </p:nvSpPr>
        <p:spPr>
          <a:xfrm flipV="1">
            <a:off x="7818120" y="2743200"/>
            <a:ext cx="0" cy="347472"/>
          </a:xfrm>
          <a:prstGeom prst="line">
            <a:avLst/>
          </a:prstGeom>
          <a:noFill/>
          <a:ln w="15875">
            <a:solidFill>
              <a:srgbClr val="4A534E"/>
            </a:solidFill>
            <a:prstDash val="solid"/>
            <a:tailEnd type="triangle"/>
          </a:ln>
        </p:spPr>
      </p:sp>
      <p:sp>
        <p:nvSpPr>
          <p:cNvPr id="39" name="Shape 34"/>
          <p:cNvSpPr/>
          <p:nvPr/>
        </p:nvSpPr>
        <p:spPr>
          <a:xfrm flipV="1">
            <a:off x="10451592" y="2743200"/>
            <a:ext cx="0" cy="347472"/>
          </a:xfrm>
          <a:prstGeom prst="line">
            <a:avLst/>
          </a:prstGeom>
          <a:noFill/>
          <a:ln w="15875">
            <a:solidFill>
              <a:srgbClr val="4A534E"/>
            </a:solidFill>
            <a:prstDash val="solid"/>
            <a:tailEnd type="triangle"/>
          </a:ln>
        </p:spPr>
      </p:sp>
      <p:sp>
        <p:nvSpPr>
          <p:cNvPr id="40" name="Text 35"/>
          <p:cNvSpPr txBox="1"/>
          <p:nvPr/>
        </p:nvSpPr>
        <p:spPr>
          <a:xfrm>
            <a:off x="8001000" y="2816352"/>
            <a:ext cx="2377440" cy="237744"/>
          </a:xfrm>
          <a:prstGeom prst="rect">
            <a:avLst/>
          </a:prstGeom>
          <a:noFill/>
          <a:ln/>
        </p:spPr>
        <p:txBody>
          <a:bodyPr wrap="square" lIns="0" tIns="0" rIns="0" bIns="0" rtlCol="0" anchor="ctr"/>
          <a:lstStyle/>
          <a:p>
            <a:pPr algn="ctr" indent="0" marL="0">
              <a:buNone/>
            </a:pPr>
            <a:r>
              <a:rPr lang="en-US" sz="1100" i="1" dirty="0">
                <a:solidFill>
                  <a:srgbClr val="4A534E"/>
                </a:solidFill>
                <a:latin typeface="Cambria" pitchFamily="34" charset="0"/>
                <a:ea typeface="Cambria" pitchFamily="34" charset="-122"/>
                <a:cs typeface="Cambria" pitchFamily="34" charset="-120"/>
              </a:rPr>
              <a:t>basket.items points to both objects</a:t>
            </a:r>
            <a:endParaRPr lang="en-US" sz="1100" dirty="0"/>
          </a:p>
        </p:txBody>
      </p:sp>
      <p:sp>
        <p:nvSpPr>
          <p:cNvPr id="41" name="Shape 36"/>
          <p:cNvSpPr/>
          <p:nvPr/>
        </p:nvSpPr>
        <p:spPr>
          <a:xfrm>
            <a:off x="6629400" y="3090672"/>
            <a:ext cx="5010912" cy="896112"/>
          </a:xfrm>
          <a:prstGeom prst="roundRect">
            <a:avLst>
              <a:gd name="adj" fmla="val 12245"/>
            </a:avLst>
          </a:prstGeom>
          <a:solidFill>
            <a:srgbClr val="FAF0F7"/>
          </a:solidFill>
          <a:ln w="12700">
            <a:solidFill>
              <a:srgbClr val="F0D0E6"/>
            </a:solidFill>
            <a:prstDash val="solid"/>
          </a:ln>
        </p:spPr>
      </p:sp>
      <p:sp>
        <p:nvSpPr>
          <p:cNvPr id="42" name="Text 37"/>
          <p:cNvSpPr txBox="1"/>
          <p:nvPr/>
        </p:nvSpPr>
        <p:spPr>
          <a:xfrm>
            <a:off x="6775704" y="3182112"/>
            <a:ext cx="4736592" cy="256032"/>
          </a:xfrm>
          <a:prstGeom prst="rect">
            <a:avLst/>
          </a:prstGeom>
          <a:noFill/>
          <a:ln/>
        </p:spPr>
        <p:txBody>
          <a:bodyPr wrap="square" lIns="0" tIns="0" rIns="0" bIns="0" rtlCol="0" anchor="ctr"/>
          <a:lstStyle/>
          <a:p>
            <a:pPr indent="0" marL="0">
              <a:buNone/>
            </a:pPr>
            <a:r>
              <a:rPr lang="en-US" sz="1100" u="sng" dirty="0">
                <a:solidFill>
                  <a:srgbClr val="1B1F1D"/>
                </a:solidFill>
                <a:latin typeface="Consolas" pitchFamily="34" charset="0"/>
                <a:ea typeface="Consolas" pitchFamily="34" charset="-122"/>
                <a:cs typeface="Consolas" pitchFamily="34" charset="-120"/>
              </a:rPr>
              <a:t>basket</a:t>
            </a:r>
            <a:r>
              <a:rPr lang="en-US" sz="1100" dirty="0">
                <a:solidFill>
                  <a:srgbClr val="1B1F1D"/>
                </a:solidFill>
                <a:latin typeface="Consolas" pitchFamily="34" charset="0"/>
                <a:ea typeface="Consolas" pitchFamily="34" charset="-122"/>
                <a:cs typeface="Consolas" pitchFamily="34" charset="-120"/>
              </a:rPr>
              <a:t> : Basket</a:t>
            </a:r>
            <a:endParaRPr lang="en-US" sz="1100" dirty="0"/>
          </a:p>
        </p:txBody>
      </p:sp>
      <p:sp>
        <p:nvSpPr>
          <p:cNvPr id="43" name="Text 38"/>
          <p:cNvSpPr txBox="1"/>
          <p:nvPr/>
        </p:nvSpPr>
        <p:spPr>
          <a:xfrm>
            <a:off x="6775704" y="3493008"/>
            <a:ext cx="914400" cy="201168"/>
          </a:xfrm>
          <a:prstGeom prst="rect">
            <a:avLst/>
          </a:prstGeom>
          <a:noFill/>
          <a:ln/>
        </p:spPr>
        <p:txBody>
          <a:bodyPr wrap="square" lIns="0" tIns="0" rIns="0" bIns="0" rtlCol="0" anchor="ctr"/>
          <a:lstStyle/>
          <a:p>
            <a:pPr indent="0" marL="0">
              <a:buNone/>
            </a:pPr>
            <a:r>
              <a:rPr lang="en-US" sz="1050" dirty="0">
                <a:solidFill>
                  <a:srgbClr val="4A534E"/>
                </a:solidFill>
                <a:latin typeface="Consolas" pitchFamily="34" charset="0"/>
                <a:ea typeface="Consolas" pitchFamily="34" charset="-122"/>
                <a:cs typeface="Consolas" pitchFamily="34" charset="-120"/>
              </a:rPr>
              <a:t>items</a:t>
            </a:r>
            <a:endParaRPr lang="en-US" sz="1050" dirty="0"/>
          </a:p>
        </p:txBody>
      </p:sp>
      <p:sp>
        <p:nvSpPr>
          <p:cNvPr id="44" name="Text 39"/>
          <p:cNvSpPr txBox="1"/>
          <p:nvPr/>
        </p:nvSpPr>
        <p:spPr>
          <a:xfrm>
            <a:off x="7543800" y="3493008"/>
            <a:ext cx="3950208" cy="201168"/>
          </a:xfrm>
          <a:prstGeom prst="rect">
            <a:avLst/>
          </a:prstGeom>
          <a:noFill/>
          <a:ln/>
        </p:spPr>
        <p:txBody>
          <a:bodyPr wrap="square" lIns="0" tIns="0" rIns="0" bIns="0" rtlCol="0" anchor="ctr"/>
          <a:lstStyle/>
          <a:p>
            <a:pPr algn="r" indent="0" marL="0">
              <a:buNone/>
            </a:pPr>
            <a:r>
              <a:rPr lang="en-US" sz="1050" dirty="0">
                <a:solidFill>
                  <a:srgbClr val="1B1F1D"/>
                </a:solidFill>
                <a:latin typeface="Consolas" pitchFamily="34" charset="0"/>
                <a:ea typeface="Consolas" pitchFamily="34" charset="-122"/>
                <a:cs typeface="Consolas" pitchFamily="34" charset="-120"/>
              </a:rPr>
              <a:t>[croissant, sourdough]</a:t>
            </a:r>
            <a:endParaRPr lang="en-US" sz="1050" dirty="0"/>
          </a:p>
        </p:txBody>
      </p:sp>
      <p:sp>
        <p:nvSpPr>
          <p:cNvPr id="45" name="Text 40"/>
          <p:cNvSpPr txBox="1"/>
          <p:nvPr/>
        </p:nvSpPr>
        <p:spPr>
          <a:xfrm>
            <a:off x="6775704" y="3712464"/>
            <a:ext cx="914400" cy="201168"/>
          </a:xfrm>
          <a:prstGeom prst="rect">
            <a:avLst/>
          </a:prstGeom>
          <a:noFill/>
          <a:ln/>
        </p:spPr>
        <p:txBody>
          <a:bodyPr wrap="square" lIns="0" tIns="0" rIns="0" bIns="0" rtlCol="0" anchor="ctr"/>
          <a:lstStyle/>
          <a:p>
            <a:pPr indent="0" marL="0">
              <a:buNone/>
            </a:pPr>
            <a:r>
              <a:rPr lang="en-US" sz="1050" dirty="0">
                <a:solidFill>
                  <a:srgbClr val="4A534E"/>
                </a:solidFill>
                <a:latin typeface="Consolas" pitchFamily="34" charset="0"/>
                <a:ea typeface="Consolas" pitchFamily="34" charset="-122"/>
                <a:cs typeface="Consolas" pitchFamily="34" charset="-120"/>
              </a:rPr>
              <a:t>total</a:t>
            </a:r>
            <a:endParaRPr lang="en-US" sz="1050" dirty="0"/>
          </a:p>
        </p:txBody>
      </p:sp>
      <p:sp>
        <p:nvSpPr>
          <p:cNvPr id="46" name="Text 41"/>
          <p:cNvSpPr txBox="1"/>
          <p:nvPr/>
        </p:nvSpPr>
        <p:spPr>
          <a:xfrm>
            <a:off x="7543800" y="3712464"/>
            <a:ext cx="3950208" cy="201168"/>
          </a:xfrm>
          <a:prstGeom prst="rect">
            <a:avLst/>
          </a:prstGeom>
          <a:noFill/>
          <a:ln/>
        </p:spPr>
        <p:txBody>
          <a:bodyPr wrap="square" lIns="0" tIns="0" rIns="0" bIns="0" rtlCol="0" anchor="ctr"/>
          <a:lstStyle/>
          <a:p>
            <a:pPr algn="r" indent="0" marL="0">
              <a:buNone/>
            </a:pPr>
            <a:r>
              <a:rPr lang="en-US" sz="1050" dirty="0">
                <a:solidFill>
                  <a:srgbClr val="1B1F1D"/>
                </a:solidFill>
                <a:latin typeface="Consolas" pitchFamily="34" charset="0"/>
                <a:ea typeface="Consolas" pitchFamily="34" charset="-122"/>
                <a:cs typeface="Consolas" pitchFamily="34" charset="-120"/>
              </a:rPr>
              <a:t>4.75</a:t>
            </a:r>
            <a:endParaRPr lang="en-US" sz="1050" dirty="0"/>
          </a:p>
        </p:txBody>
      </p:sp>
      <p:sp>
        <p:nvSpPr>
          <p:cNvPr id="47" name="Shape 42"/>
          <p:cNvSpPr/>
          <p:nvPr/>
        </p:nvSpPr>
        <p:spPr>
          <a:xfrm>
            <a:off x="6629400" y="4187952"/>
            <a:ext cx="5010912" cy="1838960"/>
          </a:xfrm>
          <a:prstGeom prst="roundRect">
            <a:avLst>
              <a:gd name="adj" fmla="val 4972"/>
            </a:avLst>
          </a:prstGeom>
          <a:solidFill>
            <a:srgbClr val="1D2320"/>
          </a:solidFill>
          <a:ln/>
        </p:spPr>
      </p:sp>
      <p:sp>
        <p:nvSpPr>
          <p:cNvPr id="48" name="Text 43"/>
          <p:cNvSpPr txBox="1"/>
          <p:nvPr/>
        </p:nvSpPr>
        <p:spPr>
          <a:xfrm>
            <a:off x="6812280" y="4279392"/>
            <a:ext cx="4645152" cy="201168"/>
          </a:xfrm>
          <a:prstGeom prst="rect">
            <a:avLst/>
          </a:prstGeom>
          <a:noFill/>
          <a:ln/>
        </p:spPr>
        <p:txBody>
          <a:bodyPr wrap="square" lIns="0" tIns="0" rIns="0" bIns="0" rtlCol="0" anchor="ctr"/>
          <a:lstStyle/>
          <a:p>
            <a:pPr indent="0" marL="0">
              <a:buNone/>
            </a:pPr>
            <a:r>
              <a:rPr lang="en-US" sz="850" spc="150" kern="0" dirty="0">
                <a:solidFill>
                  <a:srgbClr val="9AA7A0"/>
                </a:solidFill>
                <a:latin typeface="Calibri" pitchFamily="34" charset="0"/>
                <a:ea typeface="Calibri" pitchFamily="34" charset="-122"/>
                <a:cs typeface="Calibri" pitchFamily="34" charset="-120"/>
              </a:rPr>
              <a:t>PYTHON SHELL</a:t>
            </a:r>
            <a:endParaRPr lang="en-US" sz="850" dirty="0"/>
          </a:p>
        </p:txBody>
      </p:sp>
      <p:sp>
        <p:nvSpPr>
          <p:cNvPr id="49" name="Text 44"/>
          <p:cNvSpPr txBox="1"/>
          <p:nvPr/>
        </p:nvSpPr>
        <p:spPr>
          <a:xfrm>
            <a:off x="6812280" y="4517136"/>
            <a:ext cx="4645152" cy="1381760"/>
          </a:xfrm>
          <a:prstGeom prst="rect">
            <a:avLst/>
          </a:prstGeom>
          <a:noFill/>
          <a:ln/>
        </p:spPr>
        <p:txBody>
          <a:bodyPr wrap="square" lIns="0" tIns="0" rIns="0" bIns="0" rtlCol="0" anchor="t"/>
          <a:lstStyle/>
          <a:p>
            <a:pPr indent="0" marL="0">
              <a:lnSpc>
                <a:spcPts val="1360"/>
              </a:lnSpc>
              <a:buNone/>
            </a:pPr>
            <a:r>
              <a:rPr lang="en-US" sz="1050" dirty="0">
                <a:solidFill>
                  <a:srgbClr val="9AA7A0"/>
                </a:solidFill>
                <a:latin typeface="Consolas" pitchFamily="34" charset="0"/>
                <a:ea typeface="Consolas" pitchFamily="34" charset="-122"/>
                <a:cs typeface="Consolas" pitchFamily="34" charset="-120"/>
              </a:rPr>
              <a:t>$ python -i basket_oop.py</a:t>
            </a:r>
            <a:endParaRPr lang="en-US" sz="1050" dirty="0"/>
          </a:p>
          <a:p>
            <a:pPr indent="0" marL="0">
              <a:lnSpc>
                <a:spcPts val="1360"/>
              </a:lnSpc>
              <a:buNone/>
            </a:pPr>
            <a:r>
              <a:rPr lang="en-US" sz="1050" dirty="0">
                <a:solidFill>
                  <a:srgbClr val="A6E3BF"/>
                </a:solidFill>
                <a:latin typeface="Consolas" pitchFamily="34" charset="0"/>
                <a:ea typeface="Consolas" pitchFamily="34" charset="-122"/>
                <a:cs typeface="Consolas" pitchFamily="34" charset="-120"/>
              </a:rPr>
              <a:t>Croissant costs £1.25</a:t>
            </a:r>
            <a:endParaRPr lang="en-US" sz="1050" dirty="0"/>
          </a:p>
          <a:p>
            <a:pPr indent="0" marL="0">
              <a:lnSpc>
                <a:spcPts val="1360"/>
              </a:lnSpc>
              <a:buNone/>
            </a:pPr>
            <a:r>
              <a:rPr lang="en-US" sz="1050" dirty="0">
                <a:solidFill>
                  <a:srgbClr val="A6E3BF"/>
                </a:solidFill>
                <a:latin typeface="Consolas" pitchFamily="34" charset="0"/>
                <a:ea typeface="Consolas" pitchFamily="34" charset="-122"/>
                <a:cs typeface="Consolas" pitchFamily="34" charset="-120"/>
              </a:rPr>
              <a:t>4.75</a:t>
            </a:r>
            <a:endParaRPr lang="en-US" sz="1050" dirty="0"/>
          </a:p>
          <a:p>
            <a:pPr indent="0" marL="0">
              <a:lnSpc>
                <a:spcPts val="1360"/>
              </a:lnSpc>
              <a:buNone/>
            </a:pPr>
            <a:r>
              <a:rPr lang="en-US" sz="1050" dirty="0">
                <a:solidFill>
                  <a:srgbClr val="E6ECE8"/>
                </a:solidFill>
                <a:latin typeface="Consolas" pitchFamily="34" charset="0"/>
                <a:ea typeface="Consolas" pitchFamily="34" charset="-122"/>
                <a:cs typeface="Consolas" pitchFamily="34" charset="-120"/>
              </a:rPr>
              <a:t>&gt;&gt;&gt; sourdough.describe()</a:t>
            </a:r>
            <a:endParaRPr lang="en-US" sz="1050" dirty="0"/>
          </a:p>
          <a:p>
            <a:pPr indent="0" marL="0">
              <a:lnSpc>
                <a:spcPts val="1360"/>
              </a:lnSpc>
              <a:buNone/>
            </a:pPr>
            <a:r>
              <a:rPr lang="en-US" sz="1050" dirty="0">
                <a:solidFill>
                  <a:srgbClr val="A6E3BF"/>
                </a:solidFill>
                <a:latin typeface="Consolas" pitchFamily="34" charset="0"/>
                <a:ea typeface="Consolas" pitchFamily="34" charset="-122"/>
                <a:cs typeface="Consolas" pitchFamily="34" charset="-120"/>
              </a:rPr>
              <a:t>'Sourdough costs £3.50'</a:t>
            </a:r>
            <a:endParaRPr lang="en-US" sz="1050" dirty="0"/>
          </a:p>
          <a:p>
            <a:pPr indent="0" marL="0">
              <a:lnSpc>
                <a:spcPts val="1360"/>
              </a:lnSpc>
              <a:buNone/>
            </a:pPr>
            <a:r>
              <a:rPr lang="en-US" sz="1050" dirty="0">
                <a:solidFill>
                  <a:srgbClr val="E6ECE8"/>
                </a:solidFill>
                <a:latin typeface="Consolas" pitchFamily="34" charset="0"/>
                <a:ea typeface="Consolas" pitchFamily="34" charset="-122"/>
                <a:cs typeface="Consolas" pitchFamily="34" charset="-120"/>
              </a:rPr>
              <a:t>&gt;&gt;&gt; basket.add(Product("Cookie", 0.75))</a:t>
            </a:r>
            <a:endParaRPr lang="en-US" sz="1050" dirty="0"/>
          </a:p>
          <a:p>
            <a:pPr indent="0" marL="0">
              <a:lnSpc>
                <a:spcPts val="1360"/>
              </a:lnSpc>
              <a:buNone/>
            </a:pPr>
            <a:r>
              <a:rPr lang="en-US" sz="1050" dirty="0">
                <a:solidFill>
                  <a:srgbClr val="E6ECE8"/>
                </a:solidFill>
                <a:latin typeface="Consolas" pitchFamily="34" charset="0"/>
                <a:ea typeface="Consolas" pitchFamily="34" charset="-122"/>
                <a:cs typeface="Consolas" pitchFamily="34" charset="-120"/>
              </a:rPr>
              <a:t>&gt;&gt;&gt; basket.total</a:t>
            </a:r>
            <a:endParaRPr lang="en-US" sz="1050" dirty="0"/>
          </a:p>
          <a:p>
            <a:pPr indent="0" marL="0">
              <a:lnSpc>
                <a:spcPts val="1360"/>
              </a:lnSpc>
              <a:buNone/>
            </a:pPr>
            <a:r>
              <a:rPr lang="en-US" sz="1050" dirty="0">
                <a:solidFill>
                  <a:srgbClr val="A6E3BF"/>
                </a:solidFill>
                <a:latin typeface="Consolas" pitchFamily="34" charset="0"/>
                <a:ea typeface="Consolas" pitchFamily="34" charset="-122"/>
                <a:cs typeface="Consolas" pitchFamily="34" charset="-120"/>
              </a:rPr>
              <a:t>5.5</a:t>
            </a:r>
            <a:endParaRPr lang="en-US" sz="1050" dirty="0"/>
          </a:p>
        </p:txBody>
      </p:sp>
      <p:sp>
        <p:nvSpPr>
          <p:cNvPr id="50" name="Text 45"/>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F0D0E6"/>
          </a:solidFill>
          <a:ln w="25400">
            <a:solidFill>
              <a:srgbClr val="C2449A"/>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4</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OBJECT-ORIENTED · PROS &amp; CONS</a:t>
            </a:r>
            <a:endParaRPr lang="en-US" sz="1100" dirty="0"/>
          </a:p>
        </p:txBody>
      </p:sp>
      <p:sp>
        <p:nvSpPr>
          <p:cNvPr id="5" name="Text 3"/>
          <p:cNvSpPr txBox="1"/>
          <p:nvPr/>
        </p:nvSpPr>
        <p:spPr>
          <a:xfrm>
            <a:off x="548640" y="731520"/>
            <a:ext cx="9144000"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OOP: inheritance, pros and cons</a:t>
            </a:r>
            <a:endParaRPr lang="en-US" sz="3200" dirty="0"/>
          </a:p>
        </p:txBody>
      </p:sp>
      <p:sp>
        <p:nvSpPr>
          <p:cNvPr id="6" name="Shape 4"/>
          <p:cNvSpPr/>
          <p:nvPr/>
        </p:nvSpPr>
        <p:spPr>
          <a:xfrm>
            <a:off x="10189159" y="932688"/>
            <a:ext cx="1197864" cy="0"/>
          </a:xfrm>
          <a:prstGeom prst="line">
            <a:avLst/>
          </a:prstGeom>
          <a:noFill/>
          <a:ln w="19050">
            <a:solidFill>
              <a:srgbClr val="B7C0BA"/>
            </a:solidFill>
            <a:prstDash val="solid"/>
          </a:ln>
        </p:spPr>
      </p:sp>
      <p:sp>
        <p:nvSpPr>
          <p:cNvPr id="7" name="Shape 5"/>
          <p:cNvSpPr/>
          <p:nvPr/>
        </p:nvSpPr>
        <p:spPr>
          <a:xfrm>
            <a:off x="9997135" y="740664"/>
            <a:ext cx="384048" cy="384048"/>
          </a:xfrm>
          <a:prstGeom prst="ellipse">
            <a:avLst/>
          </a:prstGeom>
          <a:solidFill>
            <a:srgbClr val="FFFFFF"/>
          </a:solidFill>
          <a:ln w="22225">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10089307" y="832836"/>
            <a:ext cx="199705" cy="199705"/>
          </a:xfrm>
          <a:prstGeom prst="rect">
            <a:avLst/>
          </a:prstGeom>
        </p:spPr>
      </p:pic>
      <p:sp>
        <p:nvSpPr>
          <p:cNvPr id="9" name="Shape 6"/>
          <p:cNvSpPr/>
          <p:nvPr/>
        </p:nvSpPr>
        <p:spPr>
          <a:xfrm>
            <a:off x="10564063" y="740664"/>
            <a:ext cx="384048" cy="384048"/>
          </a:xfrm>
          <a:prstGeom prst="ellipse">
            <a:avLst/>
          </a:prstGeom>
          <a:solidFill>
            <a:srgbClr val="FFFFFF"/>
          </a:solidFill>
          <a:ln w="22225">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10656235" y="832836"/>
            <a:ext cx="199705" cy="199705"/>
          </a:xfrm>
          <a:prstGeom prst="rect">
            <a:avLst/>
          </a:prstGeom>
        </p:spPr>
      </p:pic>
      <p:sp>
        <p:nvSpPr>
          <p:cNvPr id="11" name="Shape 7"/>
          <p:cNvSpPr/>
          <p:nvPr/>
        </p:nvSpPr>
        <p:spPr>
          <a:xfrm>
            <a:off x="11130991" y="676656"/>
            <a:ext cx="512064" cy="512064"/>
          </a:xfrm>
          <a:prstGeom prst="ellipse">
            <a:avLst/>
          </a:prstGeom>
          <a:solidFill>
            <a:srgbClr val="F0D0E6"/>
          </a:solidFill>
          <a:ln w="31750">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11253887" y="799551"/>
            <a:ext cx="266273" cy="266273"/>
          </a:xfrm>
          <a:prstGeom prst="rect">
            <a:avLst/>
          </a:prstGeom>
        </p:spPr>
      </p:pic>
      <p:sp>
        <p:nvSpPr>
          <p:cNvPr id="13" name="Shape 8"/>
          <p:cNvSpPr/>
          <p:nvPr/>
        </p:nvSpPr>
        <p:spPr>
          <a:xfrm>
            <a:off x="548640" y="1554480"/>
            <a:ext cx="6172200" cy="4482846"/>
          </a:xfrm>
          <a:prstGeom prst="roundRect">
            <a:avLst>
              <a:gd name="adj" fmla="val 1632"/>
            </a:avLst>
          </a:prstGeom>
          <a:solidFill>
            <a:srgbClr val="FBFCFA"/>
          </a:solidFill>
          <a:ln/>
          <a:effectLst>
            <a:outerShdw sx="100000" sy="100000" kx="0" ky="0" algn="bl" rotWithShape="0" blurRad="101600" dist="25400" dir="5400000">
              <a:srgbClr val="000000">
                <a:alpha val="14000"/>
              </a:srgbClr>
            </a:outerShdw>
          </a:effectLst>
        </p:spPr>
      </p:sp>
      <p:sp>
        <p:nvSpPr>
          <p:cNvPr id="14" name="Shape 9"/>
          <p:cNvSpPr/>
          <p:nvPr/>
        </p:nvSpPr>
        <p:spPr>
          <a:xfrm>
            <a:off x="548640" y="1554480"/>
            <a:ext cx="6172200" cy="438912"/>
          </a:xfrm>
          <a:prstGeom prst="roundRect">
            <a:avLst>
              <a:gd name="adj" fmla="val 16667"/>
            </a:avLst>
          </a:prstGeom>
          <a:solidFill>
            <a:srgbClr val="F6E5F1"/>
          </a:solidFill>
          <a:ln/>
        </p:spPr>
      </p:sp>
      <p:sp>
        <p:nvSpPr>
          <p:cNvPr id="15" name="Shape 10"/>
          <p:cNvSpPr/>
          <p:nvPr/>
        </p:nvSpPr>
        <p:spPr>
          <a:xfrm>
            <a:off x="548640" y="1883664"/>
            <a:ext cx="6172200" cy="109728"/>
          </a:xfrm>
          <a:prstGeom prst="rect">
            <a:avLst/>
          </a:prstGeom>
          <a:solidFill>
            <a:srgbClr val="FBFCFA"/>
          </a:solidFill>
          <a:ln/>
        </p:spPr>
      </p:sp>
      <p:sp>
        <p:nvSpPr>
          <p:cNvPr id="16" name="Shape 11"/>
          <p:cNvSpPr/>
          <p:nvPr/>
        </p:nvSpPr>
        <p:spPr>
          <a:xfrm>
            <a:off x="548640" y="1883664"/>
            <a:ext cx="6172200" cy="0"/>
          </a:xfrm>
          <a:prstGeom prst="line">
            <a:avLst/>
          </a:prstGeom>
          <a:noFill/>
          <a:ln w="9525">
            <a:solidFill>
              <a:srgbClr val="DFE3DE"/>
            </a:solidFill>
            <a:prstDash val="solid"/>
          </a:ln>
        </p:spPr>
      </p:sp>
      <p:sp>
        <p:nvSpPr>
          <p:cNvPr id="17" name="Shape 12"/>
          <p:cNvSpPr/>
          <p:nvPr/>
        </p:nvSpPr>
        <p:spPr>
          <a:xfrm>
            <a:off x="704088" y="1664208"/>
            <a:ext cx="109728" cy="109728"/>
          </a:xfrm>
          <a:prstGeom prst="ellipse">
            <a:avLst/>
          </a:prstGeom>
          <a:solidFill>
            <a:srgbClr val="C2449A"/>
          </a:solidFill>
          <a:ln/>
        </p:spPr>
      </p:sp>
      <p:sp>
        <p:nvSpPr>
          <p:cNvPr id="18" name="Text 13"/>
          <p:cNvSpPr txBox="1"/>
          <p:nvPr/>
        </p:nvSpPr>
        <p:spPr>
          <a:xfrm>
            <a:off x="896112" y="1554480"/>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products.py</a:t>
            </a:r>
            <a:endParaRPr lang="en-US" sz="1050" dirty="0"/>
          </a:p>
        </p:txBody>
      </p:sp>
      <p:sp>
        <p:nvSpPr>
          <p:cNvPr id="19" name="Text 14"/>
          <p:cNvSpPr txBox="1"/>
          <p:nvPr/>
        </p:nvSpPr>
        <p:spPr>
          <a:xfrm>
            <a:off x="3703320" y="1554480"/>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Python 3</a:t>
            </a:r>
            <a:endParaRPr lang="en-US" sz="1050" dirty="0"/>
          </a:p>
        </p:txBody>
      </p:sp>
      <p:sp>
        <p:nvSpPr>
          <p:cNvPr id="20" name="Shape 15"/>
          <p:cNvSpPr/>
          <p:nvPr/>
        </p:nvSpPr>
        <p:spPr>
          <a:xfrm>
            <a:off x="576072" y="2489454"/>
            <a:ext cx="6117336" cy="171450"/>
          </a:xfrm>
          <a:prstGeom prst="rect">
            <a:avLst/>
          </a:prstGeom>
          <a:solidFill>
            <a:srgbClr val="F6E5F1"/>
          </a:solidFill>
          <a:ln/>
        </p:spPr>
      </p:sp>
      <p:sp>
        <p:nvSpPr>
          <p:cNvPr id="21" name="Shape 16"/>
          <p:cNvSpPr/>
          <p:nvPr/>
        </p:nvSpPr>
        <p:spPr>
          <a:xfrm>
            <a:off x="576072" y="2832354"/>
            <a:ext cx="6117336" cy="171450"/>
          </a:xfrm>
          <a:prstGeom prst="rect">
            <a:avLst/>
          </a:prstGeom>
          <a:solidFill>
            <a:srgbClr val="F6E5F1"/>
          </a:solidFill>
          <a:ln/>
        </p:spPr>
      </p:sp>
      <p:sp>
        <p:nvSpPr>
          <p:cNvPr id="22" name="Shape 17"/>
          <p:cNvSpPr/>
          <p:nvPr/>
        </p:nvSpPr>
        <p:spPr>
          <a:xfrm>
            <a:off x="576072" y="3003804"/>
            <a:ext cx="6117336" cy="171450"/>
          </a:xfrm>
          <a:prstGeom prst="rect">
            <a:avLst/>
          </a:prstGeom>
          <a:solidFill>
            <a:srgbClr val="F6E5F1"/>
          </a:solidFill>
          <a:ln/>
        </p:spPr>
      </p:sp>
      <p:sp>
        <p:nvSpPr>
          <p:cNvPr id="23" name="Shape 18"/>
          <p:cNvSpPr/>
          <p:nvPr/>
        </p:nvSpPr>
        <p:spPr>
          <a:xfrm>
            <a:off x="576072" y="3861054"/>
            <a:ext cx="6117336" cy="171450"/>
          </a:xfrm>
          <a:prstGeom prst="rect">
            <a:avLst/>
          </a:prstGeom>
          <a:solidFill>
            <a:srgbClr val="F6E5F1"/>
          </a:solidFill>
          <a:ln/>
        </p:spPr>
      </p:sp>
      <p:sp>
        <p:nvSpPr>
          <p:cNvPr id="24" name="Shape 19"/>
          <p:cNvSpPr/>
          <p:nvPr/>
        </p:nvSpPr>
        <p:spPr>
          <a:xfrm>
            <a:off x="576072" y="4203954"/>
            <a:ext cx="6117336" cy="171450"/>
          </a:xfrm>
          <a:prstGeom prst="rect">
            <a:avLst/>
          </a:prstGeom>
          <a:solidFill>
            <a:srgbClr val="F6E5F1"/>
          </a:solidFill>
          <a:ln/>
        </p:spPr>
      </p:sp>
      <p:sp>
        <p:nvSpPr>
          <p:cNvPr id="25" name="Shape 20"/>
          <p:cNvSpPr/>
          <p:nvPr/>
        </p:nvSpPr>
        <p:spPr>
          <a:xfrm>
            <a:off x="576072" y="4718304"/>
            <a:ext cx="6117336" cy="171450"/>
          </a:xfrm>
          <a:prstGeom prst="rect">
            <a:avLst/>
          </a:prstGeom>
          <a:solidFill>
            <a:srgbClr val="F6E5F1"/>
          </a:solidFill>
          <a:ln/>
        </p:spPr>
      </p:sp>
      <p:sp>
        <p:nvSpPr>
          <p:cNvPr id="26" name="Shape 21"/>
          <p:cNvSpPr/>
          <p:nvPr/>
        </p:nvSpPr>
        <p:spPr>
          <a:xfrm>
            <a:off x="576072" y="4889754"/>
            <a:ext cx="6117336" cy="171450"/>
          </a:xfrm>
          <a:prstGeom prst="rect">
            <a:avLst/>
          </a:prstGeom>
          <a:solidFill>
            <a:srgbClr val="F6E5F1"/>
          </a:solidFill>
          <a:ln/>
        </p:spPr>
      </p:sp>
      <p:sp>
        <p:nvSpPr>
          <p:cNvPr id="27" name="Shape 22"/>
          <p:cNvSpPr/>
          <p:nvPr/>
        </p:nvSpPr>
        <p:spPr>
          <a:xfrm>
            <a:off x="576072" y="5575554"/>
            <a:ext cx="6117336" cy="171450"/>
          </a:xfrm>
          <a:prstGeom prst="rect">
            <a:avLst/>
          </a:prstGeom>
          <a:solidFill>
            <a:srgbClr val="F6E5F1"/>
          </a:solidFill>
          <a:ln/>
        </p:spPr>
      </p:sp>
      <p:sp>
        <p:nvSpPr>
          <p:cNvPr id="28" name="Text 23"/>
          <p:cNvSpPr txBox="1"/>
          <p:nvPr/>
        </p:nvSpPr>
        <p:spPr>
          <a:xfrm>
            <a:off x="694944" y="1975104"/>
            <a:ext cx="5952744" cy="3943350"/>
          </a:xfrm>
          <a:prstGeom prst="rect">
            <a:avLst/>
          </a:prstGeom>
          <a:noFill/>
          <a:ln/>
        </p:spPr>
        <p:txBody>
          <a:bodyPr wrap="square" lIns="0" tIns="0" rIns="0" bIns="0" rtlCol="0" anchor="t"/>
          <a:lstStyle/>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1  </a:t>
            </a:r>
            <a:r>
              <a:rPr lang="en-US" sz="1050" b="1" dirty="0">
                <a:solidFill>
                  <a:srgbClr val="B8323A"/>
                </a:solidFill>
                <a:latin typeface="Consolas" pitchFamily="34" charset="0"/>
                <a:ea typeface="Consolas" pitchFamily="34" charset="-122"/>
                <a:cs typeface="Consolas" pitchFamily="34" charset="-120"/>
              </a:rPr>
              <a:t>class</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Product</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2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__init__</a:t>
            </a:r>
            <a:r>
              <a:rPr lang="en-US" sz="1050" dirty="0">
                <a:solidFill>
                  <a:srgbClr val="1B1F1D"/>
                </a:solidFill>
                <a:latin typeface="Consolas" pitchFamily="34" charset="0"/>
                <a:ea typeface="Consolas" pitchFamily="34" charset="-122"/>
                <a:cs typeface="Consolas" pitchFamily="34" charset="-120"/>
              </a:rPr>
              <a:t>(</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 name, price):</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3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.name = name</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4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.__price = price             </a:t>
            </a:r>
            <a:r>
              <a:rPr lang="en-US" sz="1050" i="1" dirty="0">
                <a:solidFill>
                  <a:srgbClr val="4A534E"/>
                </a:solidFill>
                <a:latin typeface="Consolas" pitchFamily="34" charset="0"/>
                <a:ea typeface="Consolas" pitchFamily="34" charset="-122"/>
                <a:cs typeface="Consolas" pitchFamily="34" charset="-120"/>
              </a:rPr>
              <a:t># private (encapsulation)</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5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6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get_price</a:t>
            </a:r>
            <a:r>
              <a:rPr lang="en-US" sz="1050" dirty="0">
                <a:solidFill>
                  <a:srgbClr val="1B1F1D"/>
                </a:solidFill>
                <a:latin typeface="Consolas" pitchFamily="34" charset="0"/>
                <a:ea typeface="Consolas" pitchFamily="34" charset="-122"/>
                <a:cs typeface="Consolas" pitchFamily="34" charset="-120"/>
              </a:rPr>
              <a:t>(</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                 </a:t>
            </a:r>
            <a:r>
              <a:rPr lang="en-US" sz="1050" i="1" dirty="0">
                <a:solidFill>
                  <a:srgbClr val="4A534E"/>
                </a:solidFill>
                <a:latin typeface="Consolas" pitchFamily="34" charset="0"/>
                <a:ea typeface="Consolas" pitchFamily="34" charset="-122"/>
                <a:cs typeface="Consolas" pitchFamily="34" charset="-120"/>
              </a:rPr>
              <a:t># the way to read it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7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return</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.__price</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8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 9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describe</a:t>
            </a:r>
            <a:r>
              <a:rPr lang="en-US" sz="1050" dirty="0">
                <a:solidFill>
                  <a:srgbClr val="1B1F1D"/>
                </a:solidFill>
                <a:latin typeface="Consolas" pitchFamily="34" charset="0"/>
                <a:ea typeface="Consolas" pitchFamily="34" charset="-122"/>
                <a:cs typeface="Consolas" pitchFamily="34" charset="-120"/>
              </a:rPr>
              <a:t>(</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10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return</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1D7A4E"/>
                </a:solidFill>
                <a:latin typeface="Consolas" pitchFamily="34" charset="0"/>
                <a:ea typeface="Consolas" pitchFamily="34" charset="-122"/>
                <a:cs typeface="Consolas" pitchFamily="34" charset="-120"/>
              </a:rPr>
              <a:t>f"{self.name}: £{self.__price:.2f}"</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11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12  </a:t>
            </a:r>
            <a:r>
              <a:rPr lang="en-US" sz="1050" b="1" dirty="0">
                <a:solidFill>
                  <a:srgbClr val="B8323A"/>
                </a:solidFill>
                <a:latin typeface="Consolas" pitchFamily="34" charset="0"/>
                <a:ea typeface="Consolas" pitchFamily="34" charset="-122"/>
                <a:cs typeface="Consolas" pitchFamily="34" charset="-120"/>
              </a:rPr>
              <a:t>class</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Cake</a:t>
            </a:r>
            <a:r>
              <a:rPr lang="en-US" sz="1050" dirty="0">
                <a:solidFill>
                  <a:srgbClr val="1B1F1D"/>
                </a:solidFill>
                <a:latin typeface="Consolas" pitchFamily="34" charset="0"/>
                <a:ea typeface="Consolas" pitchFamily="34" charset="-122"/>
                <a:cs typeface="Consolas" pitchFamily="34" charset="-120"/>
              </a:rPr>
              <a:t>(Product):                     </a:t>
            </a:r>
            <a:r>
              <a:rPr lang="en-US" sz="1050" i="1" dirty="0">
                <a:solidFill>
                  <a:srgbClr val="4A534E"/>
                </a:solidFill>
                <a:latin typeface="Consolas" pitchFamily="34" charset="0"/>
                <a:ea typeface="Consolas" pitchFamily="34" charset="-122"/>
                <a:cs typeface="Consolas" pitchFamily="34" charset="-120"/>
              </a:rPr>
              <a:t># inherits from Product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13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__init__</a:t>
            </a:r>
            <a:r>
              <a:rPr lang="en-US" sz="1050" dirty="0">
                <a:solidFill>
                  <a:srgbClr val="1B1F1D"/>
                </a:solidFill>
                <a:latin typeface="Consolas" pitchFamily="34" charset="0"/>
                <a:ea typeface="Consolas" pitchFamily="34" charset="-122"/>
                <a:cs typeface="Consolas" pitchFamily="34" charset="-120"/>
              </a:rPr>
              <a:t>(</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 name, price, slices):</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14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3456C0"/>
                </a:solidFill>
                <a:latin typeface="Consolas" pitchFamily="34" charset="0"/>
                <a:ea typeface="Consolas" pitchFamily="34" charset="-122"/>
                <a:cs typeface="Consolas" pitchFamily="34" charset="-120"/>
              </a:rPr>
              <a:t>super</a:t>
            </a:r>
            <a:r>
              <a:rPr lang="en-US" sz="1050" dirty="0">
                <a:solidFill>
                  <a:srgbClr val="1B1F1D"/>
                </a:solidFill>
                <a:latin typeface="Consolas" pitchFamily="34" charset="0"/>
                <a:ea typeface="Consolas" pitchFamily="34" charset="-122"/>
                <a:cs typeface="Consolas" pitchFamily="34" charset="-120"/>
              </a:rPr>
              <a:t>().__init__(name, price)    </a:t>
            </a:r>
            <a:r>
              <a:rPr lang="en-US" sz="1050" i="1" dirty="0">
                <a:solidFill>
                  <a:srgbClr val="4A534E"/>
                </a:solidFill>
                <a:latin typeface="Consolas" pitchFamily="34" charset="0"/>
                <a:ea typeface="Consolas" pitchFamily="34" charset="-122"/>
                <a:cs typeface="Consolas" pitchFamily="34" charset="-120"/>
              </a:rPr>
              <a:t># Product's constructor</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15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.slices = slices             </a:t>
            </a:r>
            <a:r>
              <a:rPr lang="en-US" sz="1050" i="1" dirty="0">
                <a:solidFill>
                  <a:srgbClr val="4A534E"/>
                </a:solidFill>
                <a:latin typeface="Consolas" pitchFamily="34" charset="0"/>
                <a:ea typeface="Consolas" pitchFamily="34" charset="-122"/>
                <a:cs typeface="Consolas" pitchFamily="34" charset="-120"/>
              </a:rPr>
              <a:t># an extra attribute</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16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17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def</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3456C0"/>
                </a:solidFill>
                <a:latin typeface="Consolas" pitchFamily="34" charset="0"/>
                <a:ea typeface="Consolas" pitchFamily="34" charset="-122"/>
                <a:cs typeface="Consolas" pitchFamily="34" charset="-120"/>
              </a:rPr>
              <a:t>describe</a:t>
            </a:r>
            <a:r>
              <a:rPr lang="en-US" sz="1050" dirty="0">
                <a:solidFill>
                  <a:srgbClr val="1B1F1D"/>
                </a:solidFill>
                <a:latin typeface="Consolas" pitchFamily="34" charset="0"/>
                <a:ea typeface="Consolas" pitchFamily="34" charset="-122"/>
                <a:cs typeface="Consolas" pitchFamily="34" charset="-120"/>
              </a:rPr>
              <a:t>(</a:t>
            </a:r>
            <a:r>
              <a:rPr lang="en-US" sz="1050" dirty="0">
                <a:solidFill>
                  <a:srgbClr val="4A534E"/>
                </a:solidFill>
                <a:latin typeface="Consolas" pitchFamily="34" charset="0"/>
                <a:ea typeface="Consolas" pitchFamily="34" charset="-122"/>
                <a:cs typeface="Consolas" pitchFamily="34" charset="-120"/>
              </a:rPr>
              <a:t>self</a:t>
            </a:r>
            <a:r>
              <a:rPr lang="en-US" sz="1050" dirty="0">
                <a:solidFill>
                  <a:srgbClr val="1B1F1D"/>
                </a:solidFill>
                <a:latin typeface="Consolas" pitchFamily="34" charset="0"/>
                <a:ea typeface="Consolas" pitchFamily="34" charset="-122"/>
                <a:cs typeface="Consolas" pitchFamily="34" charset="-120"/>
              </a:rPr>
              <a:t>):                  </a:t>
            </a:r>
            <a:r>
              <a:rPr lang="en-US" sz="1050" i="1" dirty="0">
                <a:solidFill>
                  <a:srgbClr val="4A534E"/>
                </a:solidFill>
                <a:latin typeface="Consolas" pitchFamily="34" charset="0"/>
                <a:ea typeface="Consolas" pitchFamily="34" charset="-122"/>
                <a:cs typeface="Consolas" pitchFamily="34" charset="-120"/>
              </a:rPr>
              <a:t># overrides describe()</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18  </a:t>
            </a:r>
            <a:r>
              <a:rPr lang="en-US" sz="1050" dirty="0">
                <a:solidFill>
                  <a:srgbClr val="1B1F1D"/>
                </a:solidFill>
                <a:latin typeface="Consolas" pitchFamily="34" charset="0"/>
                <a:ea typeface="Consolas" pitchFamily="34" charset="-122"/>
                <a:cs typeface="Consolas" pitchFamily="34" charset="-120"/>
              </a:rPr>
              <a:t>        </a:t>
            </a:r>
            <a:r>
              <a:rPr lang="en-US" sz="1050" b="1" dirty="0">
                <a:solidFill>
                  <a:srgbClr val="B8323A"/>
                </a:solidFill>
                <a:latin typeface="Consolas" pitchFamily="34" charset="0"/>
                <a:ea typeface="Consolas" pitchFamily="34" charset="-122"/>
                <a:cs typeface="Consolas" pitchFamily="34" charset="-120"/>
              </a:rPr>
              <a:t>return</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1D7A4E"/>
                </a:solidFill>
                <a:latin typeface="Consolas" pitchFamily="34" charset="0"/>
                <a:ea typeface="Consolas" pitchFamily="34" charset="-122"/>
                <a:cs typeface="Consolas" pitchFamily="34" charset="-120"/>
              </a:rPr>
              <a:t>f"{self.name} cake, {self.slices} slices"</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19  </a:t>
            </a:r>
            <a:r>
              <a:rPr lang="en-US" sz="1050" dirty="0">
                <a:solidFill>
                  <a:srgbClr val="1B1F1D"/>
                </a:solidFill>
                <a:latin typeface="Consolas" pitchFamily="34" charset="0"/>
                <a:ea typeface="Consolas" pitchFamily="34" charset="-122"/>
                <a:cs typeface="Consolas" pitchFamily="34" charset="-120"/>
              </a:rPr>
              <a:t> </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20  </a:t>
            </a:r>
            <a:r>
              <a:rPr lang="en-US" sz="1050" dirty="0">
                <a:solidFill>
                  <a:srgbClr val="1B1F1D"/>
                </a:solidFill>
                <a:latin typeface="Consolas" pitchFamily="34" charset="0"/>
                <a:ea typeface="Consolas" pitchFamily="34" charset="-122"/>
                <a:cs typeface="Consolas" pitchFamily="34" charset="-120"/>
              </a:rPr>
              <a:t>items = [Product(</a:t>
            </a:r>
            <a:r>
              <a:rPr lang="en-US" sz="1050" dirty="0">
                <a:solidFill>
                  <a:srgbClr val="1D7A4E"/>
                </a:solidFill>
                <a:latin typeface="Consolas" pitchFamily="34" charset="0"/>
                <a:ea typeface="Consolas" pitchFamily="34" charset="-122"/>
                <a:cs typeface="Consolas" pitchFamily="34" charset="-120"/>
              </a:rPr>
              <a:t>"Croissant"</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A35A00"/>
                </a:solidFill>
                <a:latin typeface="Consolas" pitchFamily="34" charset="0"/>
                <a:ea typeface="Consolas" pitchFamily="34" charset="-122"/>
                <a:cs typeface="Consolas" pitchFamily="34" charset="-120"/>
              </a:rPr>
              <a:t>1.25</a:t>
            </a:r>
            <a:r>
              <a:rPr lang="en-US" sz="1050" dirty="0">
                <a:solidFill>
                  <a:srgbClr val="1B1F1D"/>
                </a:solidFill>
                <a:latin typeface="Consolas" pitchFamily="34" charset="0"/>
                <a:ea typeface="Consolas" pitchFamily="34" charset="-122"/>
                <a:cs typeface="Consolas" pitchFamily="34" charset="-120"/>
              </a:rPr>
              <a:t>), Cake(</a:t>
            </a:r>
            <a:r>
              <a:rPr lang="en-US" sz="1050" dirty="0">
                <a:solidFill>
                  <a:srgbClr val="1D7A4E"/>
                </a:solidFill>
                <a:latin typeface="Consolas" pitchFamily="34" charset="0"/>
                <a:ea typeface="Consolas" pitchFamily="34" charset="-122"/>
                <a:cs typeface="Consolas" pitchFamily="34" charset="-120"/>
              </a:rPr>
              <a:t>"Lemon"</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A35A00"/>
                </a:solidFill>
                <a:latin typeface="Consolas" pitchFamily="34" charset="0"/>
                <a:ea typeface="Consolas" pitchFamily="34" charset="-122"/>
                <a:cs typeface="Consolas" pitchFamily="34" charset="-120"/>
              </a:rPr>
              <a:t>12</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A35A00"/>
                </a:solidFill>
                <a:latin typeface="Consolas" pitchFamily="34" charset="0"/>
                <a:ea typeface="Consolas" pitchFamily="34" charset="-122"/>
                <a:cs typeface="Consolas" pitchFamily="34" charset="-120"/>
              </a:rPr>
              <a:t>8</a:t>
            </a:r>
            <a:r>
              <a:rPr lang="en-US" sz="1050" dirty="0">
                <a:solidFill>
                  <a:srgbClr val="1B1F1D"/>
                </a:solidFill>
                <a:latin typeface="Consolas" pitchFamily="34" charset="0"/>
                <a:ea typeface="Consolas" pitchFamily="34" charset="-122"/>
                <a:cs typeface="Consolas" pitchFamily="34" charset="-120"/>
              </a:rPr>
              <a:t>)]</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21  </a:t>
            </a:r>
            <a:r>
              <a:rPr lang="en-US" sz="1050" b="1" dirty="0">
                <a:solidFill>
                  <a:srgbClr val="B8323A"/>
                </a:solidFill>
                <a:latin typeface="Consolas" pitchFamily="34" charset="0"/>
                <a:ea typeface="Consolas" pitchFamily="34" charset="-122"/>
                <a:cs typeface="Consolas" pitchFamily="34" charset="-120"/>
              </a:rPr>
              <a:t>for</a:t>
            </a:r>
            <a:r>
              <a:rPr lang="en-US" sz="1050" dirty="0">
                <a:solidFill>
                  <a:srgbClr val="1B1F1D"/>
                </a:solidFill>
                <a:latin typeface="Consolas" pitchFamily="34" charset="0"/>
                <a:ea typeface="Consolas" pitchFamily="34" charset="-122"/>
                <a:cs typeface="Consolas" pitchFamily="34" charset="-120"/>
              </a:rPr>
              <a:t> item </a:t>
            </a:r>
            <a:r>
              <a:rPr lang="en-US" sz="1050" b="1" dirty="0">
                <a:solidFill>
                  <a:srgbClr val="B8323A"/>
                </a:solidFill>
                <a:latin typeface="Consolas" pitchFamily="34" charset="0"/>
                <a:ea typeface="Consolas" pitchFamily="34" charset="-122"/>
                <a:cs typeface="Consolas" pitchFamily="34" charset="-120"/>
              </a:rPr>
              <a:t>in</a:t>
            </a:r>
            <a:r>
              <a:rPr lang="en-US" sz="1050" dirty="0">
                <a:solidFill>
                  <a:srgbClr val="1B1F1D"/>
                </a:solidFill>
                <a:latin typeface="Consolas" pitchFamily="34" charset="0"/>
                <a:ea typeface="Consolas" pitchFamily="34" charset="-122"/>
                <a:cs typeface="Consolas" pitchFamily="34" charset="-120"/>
              </a:rPr>
              <a:t> items:</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22  </a:t>
            </a:r>
            <a:r>
              <a:rPr lang="en-US" sz="1050" dirty="0">
                <a:solidFill>
                  <a:srgbClr val="1B1F1D"/>
                </a:solidFill>
                <a:latin typeface="Consolas" pitchFamily="34" charset="0"/>
                <a:ea typeface="Consolas" pitchFamily="34" charset="-122"/>
                <a:cs typeface="Consolas" pitchFamily="34" charset="-120"/>
              </a:rPr>
              <a:t>    </a:t>
            </a:r>
            <a:r>
              <a:rPr lang="en-US" sz="1050" dirty="0">
                <a:solidFill>
                  <a:srgbClr val="3456C0"/>
                </a:solidFill>
                <a:latin typeface="Consolas" pitchFamily="34" charset="0"/>
                <a:ea typeface="Consolas" pitchFamily="34" charset="-122"/>
                <a:cs typeface="Consolas" pitchFamily="34" charset="-120"/>
              </a:rPr>
              <a:t>print</a:t>
            </a:r>
            <a:r>
              <a:rPr lang="en-US" sz="1050" dirty="0">
                <a:solidFill>
                  <a:srgbClr val="1B1F1D"/>
                </a:solidFill>
                <a:latin typeface="Consolas" pitchFamily="34" charset="0"/>
                <a:ea typeface="Consolas" pitchFamily="34" charset="-122"/>
                <a:cs typeface="Consolas" pitchFamily="34" charset="-120"/>
              </a:rPr>
              <a:t>(item.describe())               </a:t>
            </a:r>
            <a:r>
              <a:rPr lang="en-US" sz="1050" i="1" dirty="0">
                <a:solidFill>
                  <a:srgbClr val="4A534E"/>
                </a:solidFill>
                <a:latin typeface="Consolas" pitchFamily="34" charset="0"/>
                <a:ea typeface="Consolas" pitchFamily="34" charset="-122"/>
                <a:cs typeface="Consolas" pitchFamily="34" charset="-120"/>
              </a:rPr>
              <a:t># polymorphism</a:t>
            </a:r>
            <a:endParaRPr lang="en-US" sz="1050" dirty="0"/>
          </a:p>
          <a:p>
            <a:pPr indent="0" marL="0">
              <a:lnSpc>
                <a:spcPts val="1350"/>
              </a:lnSpc>
              <a:buNone/>
            </a:pPr>
            <a:r>
              <a:rPr lang="en-US" sz="1050" dirty="0">
                <a:solidFill>
                  <a:srgbClr val="8A948F"/>
                </a:solidFill>
                <a:latin typeface="Consolas" pitchFamily="34" charset="0"/>
                <a:ea typeface="Consolas" pitchFamily="34" charset="-122"/>
                <a:cs typeface="Consolas" pitchFamily="34" charset="-120"/>
              </a:rPr>
              <a:t>23  </a:t>
            </a:r>
            <a:r>
              <a:rPr lang="en-US" sz="1050" dirty="0">
                <a:solidFill>
                  <a:srgbClr val="3456C0"/>
                </a:solidFill>
                <a:latin typeface="Consolas" pitchFamily="34" charset="0"/>
                <a:ea typeface="Consolas" pitchFamily="34" charset="-122"/>
                <a:cs typeface="Consolas" pitchFamily="34" charset="-120"/>
              </a:rPr>
              <a:t>print</a:t>
            </a:r>
            <a:r>
              <a:rPr lang="en-US" sz="1050" dirty="0">
                <a:solidFill>
                  <a:srgbClr val="1B1F1D"/>
                </a:solidFill>
                <a:latin typeface="Consolas" pitchFamily="34" charset="0"/>
                <a:ea typeface="Consolas" pitchFamily="34" charset="-122"/>
                <a:cs typeface="Consolas" pitchFamily="34" charset="-120"/>
              </a:rPr>
              <a:t>(items[</a:t>
            </a:r>
            <a:r>
              <a:rPr lang="en-US" sz="1050" dirty="0">
                <a:solidFill>
                  <a:srgbClr val="A35A00"/>
                </a:solidFill>
                <a:latin typeface="Consolas" pitchFamily="34" charset="0"/>
                <a:ea typeface="Consolas" pitchFamily="34" charset="-122"/>
                <a:cs typeface="Consolas" pitchFamily="34" charset="-120"/>
              </a:rPr>
              <a:t>1</a:t>
            </a:r>
            <a:r>
              <a:rPr lang="en-US" sz="1050" dirty="0">
                <a:solidFill>
                  <a:srgbClr val="1B1F1D"/>
                </a:solidFill>
                <a:latin typeface="Consolas" pitchFamily="34" charset="0"/>
                <a:ea typeface="Consolas" pitchFamily="34" charset="-122"/>
                <a:cs typeface="Consolas" pitchFamily="34" charset="-120"/>
              </a:rPr>
              <a:t>].get_price())              </a:t>
            </a:r>
            <a:r>
              <a:rPr lang="en-US" sz="1050" i="1" dirty="0">
                <a:solidFill>
                  <a:srgbClr val="4A534E"/>
                </a:solidFill>
                <a:latin typeface="Consolas" pitchFamily="34" charset="0"/>
                <a:ea typeface="Consolas" pitchFamily="34" charset="-122"/>
                <a:cs typeface="Consolas" pitchFamily="34" charset="-120"/>
              </a:rPr>
              <a:t># inherited from Product</a:t>
            </a:r>
            <a:endParaRPr lang="en-US" sz="1050" dirty="0"/>
          </a:p>
        </p:txBody>
      </p:sp>
      <p:sp>
        <p:nvSpPr>
          <p:cNvPr id="29" name="Shape 24"/>
          <p:cNvSpPr/>
          <p:nvPr/>
        </p:nvSpPr>
        <p:spPr>
          <a:xfrm>
            <a:off x="548640" y="1554480"/>
            <a:ext cx="6172200" cy="4482846"/>
          </a:xfrm>
          <a:prstGeom prst="roundRect">
            <a:avLst>
              <a:gd name="adj" fmla="val 1632"/>
            </a:avLst>
          </a:prstGeom>
          <a:ln w="12700">
            <a:solidFill>
              <a:srgbClr val="DFE3DE"/>
            </a:solidFill>
            <a:prstDash val="solid"/>
          </a:ln>
        </p:spPr>
      </p:sp>
      <p:sp>
        <p:nvSpPr>
          <p:cNvPr id="30" name="Shape 25"/>
          <p:cNvSpPr/>
          <p:nvPr/>
        </p:nvSpPr>
        <p:spPr>
          <a:xfrm>
            <a:off x="7040880" y="1554480"/>
            <a:ext cx="4599432" cy="1009650"/>
          </a:xfrm>
          <a:prstGeom prst="roundRect">
            <a:avLst>
              <a:gd name="adj" fmla="val 9057"/>
            </a:avLst>
          </a:prstGeom>
          <a:solidFill>
            <a:srgbClr val="1D2320"/>
          </a:solidFill>
          <a:ln/>
        </p:spPr>
      </p:sp>
      <p:sp>
        <p:nvSpPr>
          <p:cNvPr id="31" name="Text 26"/>
          <p:cNvSpPr txBox="1"/>
          <p:nvPr/>
        </p:nvSpPr>
        <p:spPr>
          <a:xfrm>
            <a:off x="7223760" y="1645920"/>
            <a:ext cx="4233672" cy="201168"/>
          </a:xfrm>
          <a:prstGeom prst="rect">
            <a:avLst/>
          </a:prstGeom>
          <a:noFill/>
          <a:ln/>
        </p:spPr>
        <p:txBody>
          <a:bodyPr wrap="square" lIns="0" tIns="0" rIns="0" bIns="0" rtlCol="0" anchor="ctr"/>
          <a:lstStyle/>
          <a:p>
            <a:pPr indent="0" marL="0">
              <a:buNone/>
            </a:pPr>
            <a:r>
              <a:rPr lang="en-US" sz="850" spc="150" kern="0" dirty="0">
                <a:solidFill>
                  <a:srgbClr val="9AA7A0"/>
                </a:solidFill>
                <a:latin typeface="Calibri" pitchFamily="34" charset="0"/>
                <a:ea typeface="Calibri" pitchFamily="34" charset="-122"/>
                <a:cs typeface="Calibri" pitchFamily="34" charset="-120"/>
              </a:rPr>
              <a:t>OUTPUT</a:t>
            </a:r>
            <a:endParaRPr lang="en-US" sz="850" dirty="0"/>
          </a:p>
        </p:txBody>
      </p:sp>
      <p:sp>
        <p:nvSpPr>
          <p:cNvPr id="32" name="Text 27"/>
          <p:cNvSpPr txBox="1"/>
          <p:nvPr/>
        </p:nvSpPr>
        <p:spPr>
          <a:xfrm>
            <a:off x="7223760" y="1883664"/>
            <a:ext cx="4233672" cy="552450"/>
          </a:xfrm>
          <a:prstGeom prst="rect">
            <a:avLst/>
          </a:prstGeom>
          <a:noFill/>
          <a:ln/>
        </p:spPr>
        <p:txBody>
          <a:bodyPr wrap="square" lIns="0" tIns="0" rIns="0" bIns="0" rtlCol="0" anchor="t"/>
          <a:lstStyle/>
          <a:p>
            <a:pPr indent="0" marL="0">
              <a:lnSpc>
                <a:spcPts val="1450"/>
              </a:lnSpc>
              <a:buNone/>
            </a:pPr>
            <a:r>
              <a:rPr lang="en-US" sz="1100" dirty="0">
                <a:solidFill>
                  <a:srgbClr val="A6E3BF"/>
                </a:solidFill>
                <a:latin typeface="Consolas" pitchFamily="34" charset="0"/>
                <a:ea typeface="Consolas" pitchFamily="34" charset="-122"/>
                <a:cs typeface="Consolas" pitchFamily="34" charset="-120"/>
              </a:rPr>
              <a:t>Croissant: £1.25</a:t>
            </a:r>
            <a:endParaRPr lang="en-US" sz="1100" dirty="0"/>
          </a:p>
          <a:p>
            <a:pPr indent="0" marL="0">
              <a:lnSpc>
                <a:spcPts val="1450"/>
              </a:lnSpc>
              <a:buNone/>
            </a:pPr>
            <a:r>
              <a:rPr lang="en-US" sz="1100" dirty="0">
                <a:solidFill>
                  <a:srgbClr val="A6E3BF"/>
                </a:solidFill>
                <a:latin typeface="Consolas" pitchFamily="34" charset="0"/>
                <a:ea typeface="Consolas" pitchFamily="34" charset="-122"/>
                <a:cs typeface="Consolas" pitchFamily="34" charset="-120"/>
              </a:rPr>
              <a:t>Lemon cake, 8 slices</a:t>
            </a:r>
            <a:endParaRPr lang="en-US" sz="1100" dirty="0"/>
          </a:p>
          <a:p>
            <a:pPr indent="0" marL="0">
              <a:lnSpc>
                <a:spcPts val="1450"/>
              </a:lnSpc>
              <a:buNone/>
            </a:pPr>
            <a:r>
              <a:rPr lang="en-US" sz="1100" dirty="0">
                <a:solidFill>
                  <a:srgbClr val="A6E3BF"/>
                </a:solidFill>
                <a:latin typeface="Consolas" pitchFamily="34" charset="0"/>
                <a:ea typeface="Consolas" pitchFamily="34" charset="-122"/>
                <a:cs typeface="Consolas" pitchFamily="34" charset="-120"/>
              </a:rPr>
              <a:t>12</a:t>
            </a:r>
            <a:endParaRPr lang="en-US" sz="1100" dirty="0"/>
          </a:p>
        </p:txBody>
      </p:sp>
      <p:sp>
        <p:nvSpPr>
          <p:cNvPr id="33" name="Shape 28"/>
          <p:cNvSpPr/>
          <p:nvPr/>
        </p:nvSpPr>
        <p:spPr>
          <a:xfrm>
            <a:off x="7040880" y="2655570"/>
            <a:ext cx="4599432" cy="1280160"/>
          </a:xfrm>
          <a:prstGeom prst="roundRect">
            <a:avLst>
              <a:gd name="adj" fmla="val 8571"/>
            </a:avLst>
          </a:prstGeom>
          <a:solidFill>
            <a:srgbClr val="E3F3E5"/>
          </a:solidFill>
          <a:ln/>
        </p:spPr>
      </p:sp>
      <p:sp>
        <p:nvSpPr>
          <p:cNvPr id="34" name="Shape 29"/>
          <p:cNvSpPr/>
          <p:nvPr/>
        </p:nvSpPr>
        <p:spPr>
          <a:xfrm>
            <a:off x="7223760" y="2801874"/>
            <a:ext cx="292608" cy="292608"/>
          </a:xfrm>
          <a:prstGeom prst="ellipse">
            <a:avLst/>
          </a:prstGeom>
          <a:solidFill>
            <a:srgbClr val="0CA30C"/>
          </a:solidFill>
          <a:ln/>
        </p:spPr>
      </p:sp>
      <p:sp>
        <p:nvSpPr>
          <p:cNvPr id="35" name="Text 30"/>
          <p:cNvSpPr txBox="1"/>
          <p:nvPr/>
        </p:nvSpPr>
        <p:spPr>
          <a:xfrm>
            <a:off x="7223760" y="2801874"/>
            <a:ext cx="292608"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6" name="Text 31"/>
          <p:cNvSpPr txBox="1"/>
          <p:nvPr/>
        </p:nvSpPr>
        <p:spPr>
          <a:xfrm>
            <a:off x="7626096" y="2765298"/>
            <a:ext cx="3867912" cy="365760"/>
          </a:xfrm>
          <a:prstGeom prst="rect">
            <a:avLst/>
          </a:prstGeom>
          <a:noFill/>
          <a:ln/>
        </p:spPr>
        <p:txBody>
          <a:bodyPr wrap="square" lIns="0" tIns="0" rIns="0" bIns="0" rtlCol="0" anchor="ctr"/>
          <a:lstStyle/>
          <a:p>
            <a:pPr indent="0" marL="0">
              <a:buNone/>
            </a:pPr>
            <a:r>
              <a:rPr lang="en-US" sz="1700" b="1" dirty="0">
                <a:solidFill>
                  <a:srgbClr val="1B1F1D"/>
                </a:solidFill>
                <a:latin typeface="Cambria" pitchFamily="34" charset="0"/>
                <a:ea typeface="Cambria" pitchFamily="34" charset="-122"/>
                <a:cs typeface="Cambria" pitchFamily="34" charset="-120"/>
              </a:rPr>
              <a:t>Advantages</a:t>
            </a:r>
            <a:endParaRPr lang="en-US" sz="1700" dirty="0"/>
          </a:p>
        </p:txBody>
      </p:sp>
      <p:sp>
        <p:nvSpPr>
          <p:cNvPr id="37" name="Text 32"/>
          <p:cNvSpPr txBox="1"/>
          <p:nvPr/>
        </p:nvSpPr>
        <p:spPr>
          <a:xfrm>
            <a:off x="7260336" y="3204210"/>
            <a:ext cx="4215384" cy="676656"/>
          </a:xfrm>
          <a:prstGeom prst="rect">
            <a:avLst/>
          </a:prstGeom>
          <a:noFill/>
          <a:ln/>
        </p:spPr>
        <p:txBody>
          <a:bodyPr wrap="square" lIns="0" tIns="0" rIns="0" bIns="0" rtlCol="0" anchor="t"/>
          <a:lstStyle/>
          <a:p>
            <a:pPr marL="177800" indent="-177800">
              <a:spcAft>
                <a:spcPts val="400"/>
              </a:spcAft>
              <a:buSzPct val="100000"/>
              <a:buChar char="•"/>
            </a:pPr>
            <a:r>
              <a:rPr lang="en-US" sz="1200" b="1" dirty="0">
                <a:solidFill>
                  <a:srgbClr val="1B1F1D"/>
                </a:solidFill>
                <a:latin typeface="Calibri" pitchFamily="34" charset="0"/>
                <a:ea typeface="Calibri" pitchFamily="34" charset="-122"/>
                <a:cs typeface="Calibri" pitchFamily="34" charset="-120"/>
              </a:rPr>
              <a:t>Organised:</a:t>
            </a:r>
            <a:r>
              <a:rPr lang="en-US" sz="1200" dirty="0">
                <a:solidFill>
                  <a:srgbClr val="1B1F1D"/>
                </a:solidFill>
                <a:latin typeface="Calibri" pitchFamily="34" charset="0"/>
                <a:ea typeface="Calibri" pitchFamily="34" charset="-122"/>
                <a:cs typeface="Calibri" pitchFamily="34" charset="-120"/>
              </a:rPr>
              <a:t> each class looks after its own data</a:t>
            </a:r>
            <a:endParaRPr lang="en-US" sz="1400" dirty="0"/>
          </a:p>
          <a:p>
            <a:pPr marL="177800" indent="-177800">
              <a:spcAft>
                <a:spcPts val="400"/>
              </a:spcAft>
              <a:buSzPct val="100000"/>
              <a:buChar char="•"/>
            </a:pPr>
            <a:r>
              <a:rPr lang="en-US" sz="1200" b="1" dirty="0">
                <a:solidFill>
                  <a:srgbClr val="1B1F1D"/>
                </a:solidFill>
                <a:latin typeface="Calibri" pitchFamily="34" charset="0"/>
                <a:ea typeface="Calibri" pitchFamily="34" charset="-122"/>
                <a:cs typeface="Calibri" pitchFamily="34" charset="-120"/>
              </a:rPr>
              <a:t>Reusable:</a:t>
            </a:r>
            <a:r>
              <a:rPr lang="en-US" sz="1200" dirty="0">
                <a:solidFill>
                  <a:srgbClr val="1B1F1D"/>
                </a:solidFill>
                <a:latin typeface="Calibri" pitchFamily="34" charset="0"/>
                <a:ea typeface="Calibri" pitchFamily="34" charset="-122"/>
                <a:cs typeface="Calibri" pitchFamily="34" charset="-120"/>
              </a:rPr>
              <a:t> inheritance builds on existing classes</a:t>
            </a:r>
            <a:endParaRPr lang="en-US" sz="1400" dirty="0"/>
          </a:p>
          <a:p>
            <a:pPr marL="177800" indent="-177800">
              <a:spcAft>
                <a:spcPts val="400"/>
              </a:spcAft>
              <a:buSzPct val="100000"/>
              <a:buChar char="•"/>
            </a:pPr>
            <a:r>
              <a:rPr lang="en-US" sz="1200" b="1" dirty="0">
                <a:solidFill>
                  <a:srgbClr val="1B1F1D"/>
                </a:solidFill>
                <a:latin typeface="Calibri" pitchFamily="34" charset="0"/>
                <a:ea typeface="Calibri" pitchFamily="34" charset="-122"/>
                <a:cs typeface="Calibri" pitchFamily="34" charset="-120"/>
              </a:rPr>
              <a:t>Safer data:</a:t>
            </a:r>
            <a:r>
              <a:rPr lang="en-US" sz="1200" dirty="0">
                <a:solidFill>
                  <a:srgbClr val="1B1F1D"/>
                </a:solidFill>
                <a:latin typeface="Calibri" pitchFamily="34" charset="0"/>
                <a:ea typeface="Calibri" pitchFamily="34" charset="-122"/>
                <a:cs typeface="Calibri" pitchFamily="34" charset="-120"/>
              </a:rPr>
              <a:t> encapsulation stops accidental changes</a:t>
            </a:r>
            <a:endParaRPr lang="en-US" sz="1400" dirty="0"/>
          </a:p>
        </p:txBody>
      </p:sp>
      <p:sp>
        <p:nvSpPr>
          <p:cNvPr id="38" name="Shape 33"/>
          <p:cNvSpPr/>
          <p:nvPr/>
        </p:nvSpPr>
        <p:spPr>
          <a:xfrm>
            <a:off x="7040880" y="4027170"/>
            <a:ext cx="4599432" cy="1280160"/>
          </a:xfrm>
          <a:prstGeom prst="roundRect">
            <a:avLst>
              <a:gd name="adj" fmla="val 8571"/>
            </a:avLst>
          </a:prstGeom>
          <a:solidFill>
            <a:srgbClr val="FBE8E7"/>
          </a:solidFill>
          <a:ln/>
        </p:spPr>
      </p:sp>
      <p:sp>
        <p:nvSpPr>
          <p:cNvPr id="39" name="Shape 34"/>
          <p:cNvSpPr/>
          <p:nvPr/>
        </p:nvSpPr>
        <p:spPr>
          <a:xfrm>
            <a:off x="7223760" y="4173474"/>
            <a:ext cx="292608" cy="292608"/>
          </a:xfrm>
          <a:prstGeom prst="ellipse">
            <a:avLst/>
          </a:prstGeom>
          <a:solidFill>
            <a:srgbClr val="D03B3B"/>
          </a:solidFill>
          <a:ln/>
        </p:spPr>
      </p:sp>
      <p:sp>
        <p:nvSpPr>
          <p:cNvPr id="40" name="Text 35"/>
          <p:cNvSpPr txBox="1"/>
          <p:nvPr/>
        </p:nvSpPr>
        <p:spPr>
          <a:xfrm>
            <a:off x="7223760" y="4173474"/>
            <a:ext cx="292608"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1" name="Text 36"/>
          <p:cNvSpPr txBox="1"/>
          <p:nvPr/>
        </p:nvSpPr>
        <p:spPr>
          <a:xfrm>
            <a:off x="7626096" y="4136898"/>
            <a:ext cx="3867912" cy="365760"/>
          </a:xfrm>
          <a:prstGeom prst="rect">
            <a:avLst/>
          </a:prstGeom>
          <a:noFill/>
          <a:ln/>
        </p:spPr>
        <p:txBody>
          <a:bodyPr wrap="square" lIns="0" tIns="0" rIns="0" bIns="0" rtlCol="0" anchor="ctr"/>
          <a:lstStyle/>
          <a:p>
            <a:pPr indent="0" marL="0">
              <a:buNone/>
            </a:pPr>
            <a:r>
              <a:rPr lang="en-US" sz="1700" b="1" dirty="0">
                <a:solidFill>
                  <a:srgbClr val="1B1F1D"/>
                </a:solidFill>
                <a:latin typeface="Cambria" pitchFamily="34" charset="0"/>
                <a:ea typeface="Cambria" pitchFamily="34" charset="-122"/>
                <a:cs typeface="Cambria" pitchFamily="34" charset="-120"/>
              </a:rPr>
              <a:t>Disadvantages</a:t>
            </a:r>
            <a:endParaRPr lang="en-US" sz="1700" dirty="0"/>
          </a:p>
        </p:txBody>
      </p:sp>
      <p:sp>
        <p:nvSpPr>
          <p:cNvPr id="42" name="Text 37"/>
          <p:cNvSpPr txBox="1"/>
          <p:nvPr/>
        </p:nvSpPr>
        <p:spPr>
          <a:xfrm>
            <a:off x="7260336" y="4575810"/>
            <a:ext cx="4215384" cy="676656"/>
          </a:xfrm>
          <a:prstGeom prst="rect">
            <a:avLst/>
          </a:prstGeom>
          <a:noFill/>
          <a:ln/>
        </p:spPr>
        <p:txBody>
          <a:bodyPr wrap="square" lIns="0" tIns="0" rIns="0" bIns="0" rtlCol="0" anchor="t"/>
          <a:lstStyle/>
          <a:p>
            <a:pPr marL="177800" indent="-177800">
              <a:spcAft>
                <a:spcPts val="400"/>
              </a:spcAft>
              <a:buSzPct val="100000"/>
              <a:buChar char="•"/>
            </a:pPr>
            <a:r>
              <a:rPr lang="en-US" sz="1200" b="1" dirty="0">
                <a:solidFill>
                  <a:srgbClr val="1B1F1D"/>
                </a:solidFill>
                <a:latin typeface="Calibri" pitchFamily="34" charset="0"/>
                <a:ea typeface="Calibri" pitchFamily="34" charset="-122"/>
                <a:cs typeface="Calibri" pitchFamily="34" charset="-120"/>
              </a:rPr>
              <a:t>More to learn:</a:t>
            </a:r>
            <a:r>
              <a:rPr lang="en-US" sz="1200" dirty="0">
                <a:solidFill>
                  <a:srgbClr val="1B1F1D"/>
                </a:solidFill>
                <a:latin typeface="Calibri" pitchFamily="34" charset="0"/>
                <a:ea typeface="Calibri" pitchFamily="34" charset="-122"/>
                <a:cs typeface="Calibri" pitchFamily="34" charset="-120"/>
              </a:rPr>
              <a:t> classes, inheritance, polymorphism</a:t>
            </a:r>
            <a:endParaRPr lang="en-US" sz="1400" dirty="0"/>
          </a:p>
          <a:p>
            <a:pPr marL="177800" indent="-177800">
              <a:spcAft>
                <a:spcPts val="400"/>
              </a:spcAft>
              <a:buSzPct val="100000"/>
              <a:buChar char="•"/>
            </a:pPr>
            <a:r>
              <a:rPr lang="en-US" sz="1200" b="1" dirty="0">
                <a:solidFill>
                  <a:srgbClr val="1B1F1D"/>
                </a:solidFill>
                <a:latin typeface="Calibri" pitchFamily="34" charset="0"/>
                <a:ea typeface="Calibri" pitchFamily="34" charset="-122"/>
                <a:cs typeface="Calibri" pitchFamily="34" charset="-120"/>
              </a:rPr>
              <a:t>Too big for small jobs:</a:t>
            </a:r>
            <a:r>
              <a:rPr lang="en-US" sz="1200" dirty="0">
                <a:solidFill>
                  <a:srgbClr val="1B1F1D"/>
                </a:solidFill>
                <a:latin typeface="Calibri" pitchFamily="34" charset="0"/>
                <a:ea typeface="Calibri" pitchFamily="34" charset="-122"/>
                <a:cs typeface="Calibri" pitchFamily="34" charset="-120"/>
              </a:rPr>
              <a:t> scripts don't need classes</a:t>
            </a:r>
            <a:endParaRPr lang="en-US" sz="1400" dirty="0"/>
          </a:p>
          <a:p>
            <a:pPr marL="177800" indent="-177800">
              <a:spcAft>
                <a:spcPts val="400"/>
              </a:spcAft>
              <a:buSzPct val="100000"/>
              <a:buChar char="•"/>
            </a:pPr>
            <a:r>
              <a:rPr lang="en-US" sz="1200" b="1" dirty="0">
                <a:solidFill>
                  <a:srgbClr val="1B1F1D"/>
                </a:solidFill>
                <a:latin typeface="Calibri" pitchFamily="34" charset="0"/>
                <a:ea typeface="Calibri" pitchFamily="34" charset="-122"/>
                <a:cs typeface="Calibri" pitchFamily="34" charset="-120"/>
              </a:rPr>
              <a:t>Can be slower:</a:t>
            </a:r>
            <a:r>
              <a:rPr lang="en-US" sz="1200" dirty="0">
                <a:solidFill>
                  <a:srgbClr val="1B1F1D"/>
                </a:solidFill>
                <a:latin typeface="Calibri" pitchFamily="34" charset="0"/>
                <a:ea typeface="Calibri" pitchFamily="34" charset="-122"/>
                <a:cs typeface="Calibri" pitchFamily="34" charset="-120"/>
              </a:rPr>
              <a:t> objects use more memory</a:t>
            </a:r>
            <a:endParaRPr lang="en-US" sz="1400" dirty="0"/>
          </a:p>
        </p:txBody>
      </p:sp>
      <p:sp>
        <p:nvSpPr>
          <p:cNvPr id="43" name="Text 38"/>
          <p:cNvSpPr txBox="1"/>
          <p:nvPr/>
        </p:nvSpPr>
        <p:spPr>
          <a:xfrm>
            <a:off x="7040880" y="5380482"/>
            <a:ext cx="4599432" cy="219456"/>
          </a:xfrm>
          <a:prstGeom prst="rect">
            <a:avLst/>
          </a:prstGeom>
          <a:noFill/>
          <a:ln/>
        </p:spPr>
        <p:txBody>
          <a:bodyPr wrap="square" lIns="0" tIns="0" rIns="0" bIns="0" rtlCol="0" anchor="ctr"/>
          <a:lstStyle/>
          <a:p>
            <a:pPr indent="0" marL="0">
              <a:buNone/>
            </a:pPr>
            <a:r>
              <a:rPr lang="en-US" sz="1000" spc="150" kern="0" dirty="0">
                <a:solidFill>
                  <a:srgbClr val="5F6964"/>
                </a:solidFill>
                <a:latin typeface="Calibri" pitchFamily="34" charset="0"/>
                <a:ea typeface="Calibri" pitchFamily="34" charset="-122"/>
                <a:cs typeface="Calibri" pitchFamily="34" charset="-120"/>
              </a:rPr>
              <a:t>WHERE IT'S USED</a:t>
            </a:r>
            <a:endParaRPr lang="en-US" sz="1000" dirty="0"/>
          </a:p>
        </p:txBody>
      </p:sp>
      <p:sp>
        <p:nvSpPr>
          <p:cNvPr id="44" name="Shape 39"/>
          <p:cNvSpPr/>
          <p:nvPr/>
        </p:nvSpPr>
        <p:spPr>
          <a:xfrm>
            <a:off x="7040880" y="5636514"/>
            <a:ext cx="1551305" cy="292608"/>
          </a:xfrm>
          <a:prstGeom prst="roundRect">
            <a:avLst>
              <a:gd name="adj" fmla="val 50000"/>
            </a:avLst>
          </a:prstGeom>
          <a:solidFill>
            <a:srgbClr val="FFFFFF"/>
          </a:solidFill>
          <a:ln w="12700">
            <a:solidFill>
              <a:srgbClr val="DFE3DE"/>
            </a:solidFill>
            <a:prstDash val="solid"/>
          </a:ln>
        </p:spPr>
      </p:sp>
      <p:sp>
        <p:nvSpPr>
          <p:cNvPr id="45" name="Text 40"/>
          <p:cNvSpPr txBox="1"/>
          <p:nvPr/>
        </p:nvSpPr>
        <p:spPr>
          <a:xfrm>
            <a:off x="7040880" y="5636514"/>
            <a:ext cx="1551305" cy="292608"/>
          </a:xfrm>
          <a:prstGeom prst="rect">
            <a:avLst/>
          </a:prstGeom>
          <a:noFill/>
          <a:ln/>
        </p:spPr>
        <p:txBody>
          <a:bodyPr wrap="square" lIns="0" tIns="0" rIns="0" bIns="0" rtlCol="0" anchor="ctr"/>
          <a:lstStyle/>
          <a:p>
            <a:pPr algn="ctr" indent="0" marL="0">
              <a:buNone/>
            </a:pPr>
            <a:r>
              <a:rPr lang="en-US" sz="1100" dirty="0">
                <a:solidFill>
                  <a:srgbClr val="1B1F1D"/>
                </a:solidFill>
                <a:latin typeface="Calibri" pitchFamily="34" charset="0"/>
                <a:ea typeface="Calibri" pitchFamily="34" charset="-122"/>
                <a:cs typeface="Calibri" pitchFamily="34" charset="-120"/>
              </a:rPr>
              <a:t>games (Unity, C#)</a:t>
            </a:r>
            <a:endParaRPr lang="en-US" sz="1400" dirty="0"/>
          </a:p>
        </p:txBody>
      </p:sp>
      <p:sp>
        <p:nvSpPr>
          <p:cNvPr id="46" name="Shape 41"/>
          <p:cNvSpPr/>
          <p:nvPr/>
        </p:nvSpPr>
        <p:spPr>
          <a:xfrm>
            <a:off x="8683625" y="5636514"/>
            <a:ext cx="1181100" cy="292608"/>
          </a:xfrm>
          <a:prstGeom prst="roundRect">
            <a:avLst>
              <a:gd name="adj" fmla="val 50000"/>
            </a:avLst>
          </a:prstGeom>
          <a:solidFill>
            <a:srgbClr val="FFFFFF"/>
          </a:solidFill>
          <a:ln w="12700">
            <a:solidFill>
              <a:srgbClr val="DFE3DE"/>
            </a:solidFill>
            <a:prstDash val="solid"/>
          </a:ln>
        </p:spPr>
      </p:sp>
      <p:sp>
        <p:nvSpPr>
          <p:cNvPr id="47" name="Text 42"/>
          <p:cNvSpPr txBox="1"/>
          <p:nvPr/>
        </p:nvSpPr>
        <p:spPr>
          <a:xfrm>
            <a:off x="8683625" y="5636514"/>
            <a:ext cx="1181100" cy="292608"/>
          </a:xfrm>
          <a:prstGeom prst="rect">
            <a:avLst/>
          </a:prstGeom>
          <a:noFill/>
          <a:ln/>
        </p:spPr>
        <p:txBody>
          <a:bodyPr wrap="square" lIns="0" tIns="0" rIns="0" bIns="0" rtlCol="0" anchor="ctr"/>
          <a:lstStyle/>
          <a:p>
            <a:pPr algn="ctr" indent="0" marL="0">
              <a:buNone/>
            </a:pPr>
            <a:r>
              <a:rPr lang="en-US" sz="1100" dirty="0">
                <a:solidFill>
                  <a:srgbClr val="1B1F1D"/>
                </a:solidFill>
                <a:latin typeface="Calibri" pitchFamily="34" charset="0"/>
                <a:ea typeface="Calibri" pitchFamily="34" charset="-122"/>
                <a:cs typeface="Calibri" pitchFamily="34" charset="-120"/>
              </a:rPr>
              <a:t>Android apps</a:t>
            </a:r>
            <a:endParaRPr lang="en-US" sz="1400" dirty="0"/>
          </a:p>
        </p:txBody>
      </p:sp>
      <p:sp>
        <p:nvSpPr>
          <p:cNvPr id="48" name="Shape 43"/>
          <p:cNvSpPr/>
          <p:nvPr/>
        </p:nvSpPr>
        <p:spPr>
          <a:xfrm>
            <a:off x="9956165" y="5636514"/>
            <a:ext cx="1477264" cy="292608"/>
          </a:xfrm>
          <a:prstGeom prst="roundRect">
            <a:avLst>
              <a:gd name="adj" fmla="val 50000"/>
            </a:avLst>
          </a:prstGeom>
          <a:solidFill>
            <a:srgbClr val="FFFFFF"/>
          </a:solidFill>
          <a:ln w="12700">
            <a:solidFill>
              <a:srgbClr val="DFE3DE"/>
            </a:solidFill>
            <a:prstDash val="solid"/>
          </a:ln>
        </p:spPr>
      </p:sp>
      <p:sp>
        <p:nvSpPr>
          <p:cNvPr id="49" name="Text 44"/>
          <p:cNvSpPr txBox="1"/>
          <p:nvPr/>
        </p:nvSpPr>
        <p:spPr>
          <a:xfrm>
            <a:off x="9956165" y="5636514"/>
            <a:ext cx="1477264" cy="292608"/>
          </a:xfrm>
          <a:prstGeom prst="rect">
            <a:avLst/>
          </a:prstGeom>
          <a:noFill/>
          <a:ln/>
        </p:spPr>
        <p:txBody>
          <a:bodyPr wrap="square" lIns="0" tIns="0" rIns="0" bIns="0" rtlCol="0" anchor="ctr"/>
          <a:lstStyle/>
          <a:p>
            <a:pPr algn="ctr" indent="0" marL="0">
              <a:buNone/>
            </a:pPr>
            <a:r>
              <a:rPr lang="en-US" sz="1100" dirty="0">
                <a:solidFill>
                  <a:srgbClr val="1B1F1D"/>
                </a:solidFill>
                <a:latin typeface="Calibri" pitchFamily="34" charset="0"/>
                <a:ea typeface="Calibri" pitchFamily="34" charset="-122"/>
                <a:cs typeface="Calibri" pitchFamily="34" charset="-120"/>
              </a:rPr>
              <a:t>business systems</a:t>
            </a:r>
            <a:endParaRPr lang="en-US" sz="1400" dirty="0"/>
          </a:p>
        </p:txBody>
      </p:sp>
      <p:sp>
        <p:nvSpPr>
          <p:cNvPr id="50" name="Shape 45"/>
          <p:cNvSpPr/>
          <p:nvPr/>
        </p:nvSpPr>
        <p:spPr>
          <a:xfrm>
            <a:off x="7040880" y="6020562"/>
            <a:ext cx="1181100" cy="292608"/>
          </a:xfrm>
          <a:prstGeom prst="roundRect">
            <a:avLst>
              <a:gd name="adj" fmla="val 50000"/>
            </a:avLst>
          </a:prstGeom>
          <a:solidFill>
            <a:srgbClr val="FFFFFF"/>
          </a:solidFill>
          <a:ln w="12700">
            <a:solidFill>
              <a:srgbClr val="DFE3DE"/>
            </a:solidFill>
            <a:prstDash val="solid"/>
          </a:ln>
        </p:spPr>
      </p:sp>
      <p:sp>
        <p:nvSpPr>
          <p:cNvPr id="51" name="Text 46"/>
          <p:cNvSpPr txBox="1"/>
          <p:nvPr/>
        </p:nvSpPr>
        <p:spPr>
          <a:xfrm>
            <a:off x="7040880" y="6020562"/>
            <a:ext cx="1181100" cy="292608"/>
          </a:xfrm>
          <a:prstGeom prst="rect">
            <a:avLst/>
          </a:prstGeom>
          <a:noFill/>
          <a:ln/>
        </p:spPr>
        <p:txBody>
          <a:bodyPr wrap="square" lIns="0" tIns="0" rIns="0" bIns="0" rtlCol="0" anchor="ctr"/>
          <a:lstStyle/>
          <a:p>
            <a:pPr algn="ctr" indent="0" marL="0">
              <a:buNone/>
            </a:pPr>
            <a:r>
              <a:rPr lang="en-US" sz="1100" dirty="0">
                <a:solidFill>
                  <a:srgbClr val="1B1F1D"/>
                </a:solidFill>
                <a:latin typeface="Calibri" pitchFamily="34" charset="0"/>
                <a:ea typeface="Calibri" pitchFamily="34" charset="-122"/>
                <a:cs typeface="Calibri" pitchFamily="34" charset="-120"/>
              </a:rPr>
              <a:t>GUI toolkits</a:t>
            </a:r>
            <a:endParaRPr lang="en-US" sz="1400" dirty="0"/>
          </a:p>
        </p:txBody>
      </p:sp>
      <p:sp>
        <p:nvSpPr>
          <p:cNvPr id="52" name="Text 47"/>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FFFFFF"/>
          </a:solidFill>
          <a:ln w="15875">
            <a:solidFill>
              <a:srgbClr val="1B1F1D"/>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5</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COMPARISON</a:t>
            </a:r>
            <a:endParaRPr lang="en-US" sz="1100" dirty="0"/>
          </a:p>
        </p:txBody>
      </p:sp>
      <p:sp>
        <p:nvSpPr>
          <p:cNvPr id="5" name="Text 3"/>
          <p:cNvSpPr txBox="1"/>
          <p:nvPr/>
        </p:nvSpPr>
        <p:spPr>
          <a:xfrm>
            <a:off x="548640" y="731520"/>
            <a:ext cx="11094415"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Comparing the three paradigms</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874520"/>
                <a:gridCol w="3072384"/>
                <a:gridCol w="3072384"/>
                <a:gridCol w="3072384"/>
              </a:tblGrid>
              <a:tr h="512064">
                <a:tc>
                  <a:txBody>
                    <a:bodyPr/>
                    <a:lstStyle/>
                    <a:p>
                      <a:pPr indent="0" marL="0">
                        <a:buNone/>
                      </a:pPr>
                      <a:endParaRPr lang="en-US" sz="1200" dirty="0"/>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5F6F3"/>
                    </a:solidFill>
                  </a:tcPr>
                </a:tc>
                <a:tc>
                  <a:txBody>
                    <a:bodyPr/>
                    <a:lstStyle/>
                    <a:p>
                      <a:pPr indent="0" marL="0">
                        <a:buNone/>
                      </a:pPr>
                      <a:r>
                        <a:rPr lang="en-US" sz="1500" b="1" dirty="0">
                          <a:solidFill>
                            <a:srgbClr val="1B1F1D"/>
                          </a:solidFill>
                          <a:latin typeface="Cambria" pitchFamily="34" charset="0"/>
                          <a:ea typeface="Cambria" pitchFamily="34" charset="-122"/>
                          <a:cs typeface="Cambria" pitchFamily="34" charset="-120"/>
                        </a:rPr>
                        <a:t>Procedural</a:t>
                      </a:r>
                      <a:endParaRPr lang="en-US" sz="1500" dirty="0">
                        <a:latin typeface="Cambria" charset="0"/>
                        <a:ea typeface="Cambria" charset="0"/>
                        <a:cs typeface="Cambria" charset="0"/>
                      </a:endParaRPr>
                    </a:p>
                  </a:txBody>
                  <a:tcPr marL="566928" marR="91440"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CADDF5"/>
                    </a:solidFill>
                  </a:tcPr>
                </a:tc>
                <a:tc>
                  <a:txBody>
                    <a:bodyPr/>
                    <a:lstStyle/>
                    <a:p>
                      <a:pPr indent="0" marL="0">
                        <a:buNone/>
                      </a:pPr>
                      <a:r>
                        <a:rPr lang="en-US" sz="1500" b="1" dirty="0">
                          <a:solidFill>
                            <a:srgbClr val="1B1F1D"/>
                          </a:solidFill>
                          <a:latin typeface="Cambria" pitchFamily="34" charset="0"/>
                          <a:ea typeface="Cambria" pitchFamily="34" charset="-122"/>
                          <a:cs typeface="Cambria" pitchFamily="34" charset="-120"/>
                        </a:rPr>
                        <a:t>Event-driven</a:t>
                      </a:r>
                      <a:endParaRPr lang="en-US" sz="1500" dirty="0">
                        <a:latin typeface="Cambria" charset="0"/>
                        <a:ea typeface="Cambria" charset="0"/>
                        <a:cs typeface="Cambria" charset="0"/>
                      </a:endParaRPr>
                    </a:p>
                  </a:txBody>
                  <a:tcPr marL="566928" marR="91440"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7E1BF"/>
                    </a:solidFill>
                  </a:tcPr>
                </a:tc>
                <a:tc>
                  <a:txBody>
                    <a:bodyPr/>
                    <a:lstStyle/>
                    <a:p>
                      <a:pPr indent="0" marL="0">
                        <a:buNone/>
                      </a:pPr>
                      <a:r>
                        <a:rPr lang="en-US" sz="1500" b="1" dirty="0">
                          <a:solidFill>
                            <a:srgbClr val="1B1F1D"/>
                          </a:solidFill>
                          <a:latin typeface="Cambria" pitchFamily="34" charset="0"/>
                          <a:ea typeface="Cambria" pitchFamily="34" charset="-122"/>
                          <a:cs typeface="Cambria" pitchFamily="34" charset="-120"/>
                        </a:rPr>
                        <a:t>Object-oriented</a:t>
                      </a:r>
                      <a:endParaRPr lang="en-US" sz="1500" dirty="0">
                        <a:latin typeface="Cambria" charset="0"/>
                        <a:ea typeface="Cambria" charset="0"/>
                        <a:cs typeface="Cambria" charset="0"/>
                      </a:endParaRPr>
                    </a:p>
                  </a:txBody>
                  <a:tcPr marL="566928" marR="91440"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0D0E6"/>
                    </a:solidFill>
                  </a:tcPr>
                </a:tc>
              </a:tr>
              <a:tr h="548640">
                <a:tc>
                  <a:txBody>
                    <a:bodyPr/>
                    <a:lstStyle/>
                    <a:p>
                      <a:pPr indent="0" marL="0">
                        <a:buNone/>
                      </a:pPr>
                      <a:r>
                        <a:rPr lang="en-US" sz="1000" dirty="0">
                          <a:solidFill>
                            <a:srgbClr val="5F6964"/>
                          </a:solidFill>
                        </a:rPr>
                        <a:t>MAIN IDEA</a:t>
                      </a:r>
                      <a:endParaRPr lang="en-US" sz="1000" dirty="0"/>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5F6F3"/>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A list of steps that run in order</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EEF4FC"/>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Wait for events, then react to them</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CF5EB"/>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Objects that hold their own data and methods</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AF0F7"/>
                    </a:solidFill>
                  </a:tcPr>
                </a:tc>
              </a:tr>
              <a:tr h="420624">
                <a:tc>
                  <a:txBody>
                    <a:bodyPr/>
                    <a:lstStyle/>
                    <a:p>
                      <a:pPr indent="0" marL="0">
                        <a:buNone/>
                      </a:pPr>
                      <a:r>
                        <a:rPr lang="en-US" sz="1000" dirty="0">
                          <a:solidFill>
                            <a:srgbClr val="5F6964"/>
                          </a:solidFill>
                        </a:rPr>
                        <a:t>BUILT FROM</a:t>
                      </a:r>
                      <a:endParaRPr lang="en-US" sz="1000" dirty="0"/>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5F6F3"/>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Procedures (functions)</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EEF4FC"/>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Events, listeners and handlers</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CF5EB"/>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Classes and objects</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AF0F7"/>
                    </a:solidFill>
                  </a:tcPr>
                </a:tc>
              </a:tr>
              <a:tr h="548640">
                <a:tc>
                  <a:txBody>
                    <a:bodyPr/>
                    <a:lstStyle/>
                    <a:p>
                      <a:pPr indent="0" marL="0">
                        <a:buNone/>
                      </a:pPr>
                      <a:r>
                        <a:rPr lang="en-US" sz="1000" dirty="0">
                          <a:solidFill>
                            <a:srgbClr val="5F6964"/>
                          </a:solidFill>
                        </a:rPr>
                        <a:t>WHO DECIDES THE ORDER</a:t>
                      </a:r>
                      <a:endParaRPr lang="en-US" sz="1000" dirty="0"/>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5F6F3"/>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The programmer: top to bottom</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EEF4FC"/>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The user or the system: whatever happens next</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CF5EB"/>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Objects calling each other's methods</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AF0F7"/>
                    </a:solidFill>
                  </a:tcPr>
                </a:tc>
              </a:tr>
              <a:tr h="548640">
                <a:tc>
                  <a:txBody>
                    <a:bodyPr/>
                    <a:lstStyle/>
                    <a:p>
                      <a:pPr indent="0" marL="0">
                        <a:buNone/>
                      </a:pPr>
                      <a:r>
                        <a:rPr lang="en-US" sz="1000" dirty="0">
                          <a:solidFill>
                            <a:srgbClr val="5F6964"/>
                          </a:solidFill>
                        </a:rPr>
                        <a:t>WHERE THE DATA LIVES</a:t>
                      </a:r>
                      <a:endParaRPr lang="en-US" sz="1000" dirty="0"/>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5F6F3"/>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Separate from the code, passed around or global</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EEF4FC"/>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In variables that the handlers share</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CF5EB"/>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Inside the objects, protected by encapsulation</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AF0F7"/>
                    </a:solidFill>
                  </a:tcPr>
                </a:tc>
              </a:tr>
              <a:tr h="548640">
                <a:tc>
                  <a:txBody>
                    <a:bodyPr/>
                    <a:lstStyle/>
                    <a:p>
                      <a:pPr indent="0" marL="0">
                        <a:buNone/>
                      </a:pPr>
                      <a:r>
                        <a:rPr lang="en-US" sz="1000" dirty="0">
                          <a:solidFill>
                            <a:srgbClr val="5F6964"/>
                          </a:solidFill>
                        </a:rPr>
                        <a:t>BEST FOR</a:t>
                      </a:r>
                      <a:endParaRPr lang="en-US" sz="1000" dirty="0"/>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5F6F3"/>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Small programs, scripts and calculations</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EEF4FC"/>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GUIs, websites, games and sensors</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CF5EB"/>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Big programs, team projects, modelling real things</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AF0F7"/>
                    </a:solidFill>
                  </a:tcPr>
                </a:tc>
              </a:tr>
              <a:tr h="420624">
                <a:tc>
                  <a:txBody>
                    <a:bodyPr/>
                    <a:lstStyle/>
                    <a:p>
                      <a:pPr indent="0" marL="0">
                        <a:buNone/>
                      </a:pPr>
                      <a:r>
                        <a:rPr lang="en-US" sz="1000" dirty="0">
                          <a:solidFill>
                            <a:srgbClr val="5F6964"/>
                          </a:solidFill>
                        </a:rPr>
                        <a:t>EXAMPLE LANGUAGES</a:t>
                      </a:r>
                      <a:endParaRPr lang="en-US" sz="1000" dirty="0"/>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5F6F3"/>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C, Pascal, BASIC</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EEF4FC"/>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JavaScript, Visual Basic, C#</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CF5EB"/>
                    </a:solidFill>
                  </a:tcPr>
                </a:tc>
                <a:tc>
                  <a:txBody>
                    <a:bodyPr/>
                    <a:lstStyle/>
                    <a:p>
                      <a:pPr indent="0" marL="0">
                        <a:buNone/>
                      </a:pPr>
                      <a:r>
                        <a:rPr lang="en-US" sz="1300" dirty="0">
                          <a:solidFill>
                            <a:srgbClr val="1B1F1D"/>
                          </a:solidFill>
                          <a:latin typeface="Calibri" pitchFamily="34" charset="0"/>
                          <a:ea typeface="Calibri" pitchFamily="34" charset="-122"/>
                          <a:cs typeface="Calibri" pitchFamily="34" charset="-120"/>
                        </a:rPr>
                        <a:t>Java, C#, C++, Python</a:t>
                      </a:r>
                      <a:endParaRPr lang="en-US" sz="1300" dirty="0">
                        <a:latin typeface="Calibri" charset="0"/>
                        <a:ea typeface="Calibri" charset="0"/>
                        <a:cs typeface="Calibri"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AF0F7"/>
                    </a:solidFill>
                  </a:tcPr>
                </a:tc>
              </a:tr>
              <a:tr h="420624">
                <a:tc>
                  <a:txBody>
                    <a:bodyPr/>
                    <a:lstStyle/>
                    <a:p>
                      <a:pPr indent="0" marL="0">
                        <a:buNone/>
                      </a:pPr>
                      <a:r>
                        <a:rPr lang="en-US" sz="1000" dirty="0">
                          <a:solidFill>
                            <a:srgbClr val="5F6964"/>
                          </a:solidFill>
                        </a:rPr>
                        <a:t>IN MY EXAMPLE</a:t>
                      </a:r>
                      <a:endParaRPr lang="en-US" sz="1000" dirty="0"/>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5F6F3"/>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subtotal = add_up(basket)</a:t>
                      </a:r>
                      <a:endParaRPr lang="en-US" sz="1150" dirty="0">
                        <a:latin typeface="Consolas" charset="0"/>
                        <a:ea typeface="Consolas" charset="0"/>
                        <a:cs typeface="Consolas"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EEF4FC"/>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click → add_croissant()</a:t>
                      </a:r>
                      <a:endParaRPr lang="en-US" sz="1150" dirty="0">
                        <a:latin typeface="Consolas" charset="0"/>
                        <a:ea typeface="Consolas" charset="0"/>
                        <a:cs typeface="Consolas"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CF5EB"/>
                    </a:solidFill>
                  </a:tcPr>
                </a:tc>
                <a:tc>
                  <a:txBody>
                    <a:bodyPr/>
                    <a:lstStyle/>
                    <a:p>
                      <a:pPr indent="0" marL="0">
                        <a:buNone/>
                      </a:pPr>
                      <a:r>
                        <a:rPr lang="en-US" sz="1150" dirty="0">
                          <a:solidFill>
                            <a:srgbClr val="1B1F1D"/>
                          </a:solidFill>
                          <a:latin typeface="Consolas" pitchFamily="34" charset="0"/>
                          <a:ea typeface="Consolas" pitchFamily="34" charset="-122"/>
                          <a:cs typeface="Consolas" pitchFamily="34" charset="-120"/>
                        </a:rPr>
                        <a:t>basket.add(croissant)</a:t>
                      </a:r>
                      <a:endParaRPr lang="en-US" sz="1150" dirty="0">
                        <a:latin typeface="Consolas" charset="0"/>
                        <a:ea typeface="Consolas" charset="0"/>
                        <a:cs typeface="Consolas" charset="0"/>
                      </a:endParaRPr>
                    </a:p>
                  </a:txBody>
                  <a:tcPr marL="109728" marR="109728" marT="45720" marB="45720" anchor="ctr">
                    <a:lnL w="31750" cap="flat" cmpd="sng" algn="ctr">
                      <a:solidFill>
                        <a:srgbClr val="F5F6F3"/>
                      </a:solidFill>
                      <a:prstDash val="solid"/>
                      <a:round/>
                      <a:headEnd type="none" w="med" len="med"/>
                      <a:tailEnd type="none" w="med" len="med"/>
                    </a:lnL>
                    <a:lnR w="31750" cap="flat" cmpd="sng" algn="ctr">
                      <a:solidFill>
                        <a:srgbClr val="F5F6F3"/>
                      </a:solidFill>
                      <a:prstDash val="solid"/>
                      <a:round/>
                      <a:headEnd type="none" w="med" len="med"/>
                      <a:tailEnd type="none" w="med" len="med"/>
                    </a:lnR>
                    <a:lnT w="31750" cap="flat" cmpd="sng" algn="ctr">
                      <a:solidFill>
                        <a:srgbClr val="F5F6F3"/>
                      </a:solidFill>
                      <a:prstDash val="solid"/>
                      <a:round/>
                      <a:headEnd type="none" w="med" len="med"/>
                      <a:tailEnd type="none" w="med" len="med"/>
                    </a:lnT>
                    <a:lnB w="31750" cap="flat" cmpd="sng" algn="ctr">
                      <a:solidFill>
                        <a:srgbClr val="F5F6F3"/>
                      </a:solidFill>
                      <a:prstDash val="solid"/>
                      <a:round/>
                      <a:headEnd type="none" w="med" len="med"/>
                      <a:tailEnd type="none" w="med" len="med"/>
                    </a:lnB>
                    <a:solidFill>
                      <a:srgbClr val="FAF0F7"/>
                    </a:solidFill>
                  </a:tcPr>
                </a:tc>
              </a:tr>
            </a:tbl>
          </a:graphicData>
        </a:graphic>
      </p:graphicFrame>
      <p:sp>
        <p:nvSpPr>
          <p:cNvPr id="7" name="Shape 4"/>
          <p:cNvSpPr/>
          <p:nvPr/>
        </p:nvSpPr>
        <p:spPr>
          <a:xfrm>
            <a:off x="2542032" y="1627632"/>
            <a:ext cx="365760" cy="365760"/>
          </a:xfrm>
          <a:prstGeom prst="ellipse">
            <a:avLst/>
          </a:prstGeom>
          <a:solidFill>
            <a:srgbClr val="FFFFFF"/>
          </a:solidFill>
          <a:ln w="22225">
            <a:solidFill>
              <a:srgbClr val="2A78D6"/>
            </a:solidFill>
            <a:prstDash val="solid"/>
          </a:ln>
        </p:spPr>
      </p:sp>
      <p:pic>
        <p:nvPicPr>
          <p:cNvPr id="8" name="Image 0" descr="Procedural icon">    </p:cNvPr>
          <p:cNvPicPr>
            <a:picLocks noChangeAspect="1"/>
          </p:cNvPicPr>
          <p:nvPr/>
        </p:nvPicPr>
        <p:blipFill>
          <a:blip r:embed="rId1"/>
          <a:stretch>
            <a:fillRect/>
          </a:stretch>
        </p:blipFill>
        <p:spPr>
          <a:xfrm>
            <a:off x="2629814" y="1715414"/>
            <a:ext cx="190195" cy="190195"/>
          </a:xfrm>
          <a:prstGeom prst="rect">
            <a:avLst/>
          </a:prstGeom>
        </p:spPr>
      </p:pic>
      <p:sp>
        <p:nvSpPr>
          <p:cNvPr id="9" name="Shape 5"/>
          <p:cNvSpPr/>
          <p:nvPr/>
        </p:nvSpPr>
        <p:spPr>
          <a:xfrm>
            <a:off x="5614416" y="1627632"/>
            <a:ext cx="365760" cy="365760"/>
          </a:xfrm>
          <a:prstGeom prst="ellipse">
            <a:avLst/>
          </a:prstGeom>
          <a:solidFill>
            <a:srgbClr val="FFFFFF"/>
          </a:solidFill>
          <a:ln w="22225">
            <a:solidFill>
              <a:srgbClr val="DF8700"/>
            </a:solidFill>
            <a:prstDash val="solid"/>
          </a:ln>
        </p:spPr>
      </p:sp>
      <p:pic>
        <p:nvPicPr>
          <p:cNvPr id="10" name="Image 1" descr="Event-driven icon">    </p:cNvPr>
          <p:cNvPicPr>
            <a:picLocks noChangeAspect="1"/>
          </p:cNvPicPr>
          <p:nvPr/>
        </p:nvPicPr>
        <p:blipFill>
          <a:blip r:embed="rId2"/>
          <a:stretch>
            <a:fillRect/>
          </a:stretch>
        </p:blipFill>
        <p:spPr>
          <a:xfrm>
            <a:off x="5702198" y="1715414"/>
            <a:ext cx="190195" cy="190195"/>
          </a:xfrm>
          <a:prstGeom prst="rect">
            <a:avLst/>
          </a:prstGeom>
        </p:spPr>
      </p:pic>
      <p:sp>
        <p:nvSpPr>
          <p:cNvPr id="11" name="Shape 6"/>
          <p:cNvSpPr/>
          <p:nvPr/>
        </p:nvSpPr>
        <p:spPr>
          <a:xfrm>
            <a:off x="8686800" y="1627632"/>
            <a:ext cx="365760" cy="365760"/>
          </a:xfrm>
          <a:prstGeom prst="ellipse">
            <a:avLst/>
          </a:prstGeom>
          <a:solidFill>
            <a:srgbClr val="FFFFFF"/>
          </a:solidFill>
          <a:ln w="22225">
            <a:solidFill>
              <a:srgbClr val="C2449A"/>
            </a:solidFill>
            <a:prstDash val="solid"/>
          </a:ln>
        </p:spPr>
      </p:sp>
      <p:pic>
        <p:nvPicPr>
          <p:cNvPr id="12" name="Image 2" descr="Object-oriented icon">    </p:cNvPr>
          <p:cNvPicPr>
            <a:picLocks noChangeAspect="1"/>
          </p:cNvPicPr>
          <p:nvPr/>
        </p:nvPicPr>
        <p:blipFill>
          <a:blip r:embed="rId3"/>
          <a:stretch>
            <a:fillRect/>
          </a:stretch>
        </p:blipFill>
        <p:spPr>
          <a:xfrm>
            <a:off x="8774582" y="1715414"/>
            <a:ext cx="190195" cy="190195"/>
          </a:xfrm>
          <a:prstGeom prst="rect">
            <a:avLst/>
          </a:prstGeom>
        </p:spPr>
      </p:pic>
      <p:sp>
        <p:nvSpPr>
          <p:cNvPr id="13" name="Text 7"/>
          <p:cNvSpPr txBox="1"/>
          <p:nvPr/>
        </p:nvSpPr>
        <p:spPr>
          <a:xfrm>
            <a:off x="548640" y="5897880"/>
            <a:ext cx="11094415" cy="274320"/>
          </a:xfrm>
          <a:prstGeom prst="rect">
            <a:avLst/>
          </a:prstGeom>
          <a:noFill/>
          <a:ln/>
        </p:spPr>
        <p:txBody>
          <a:bodyPr wrap="square" lIns="0" tIns="0" rIns="0" bIns="0" rtlCol="0" anchor="t"/>
          <a:lstStyle/>
          <a:p>
            <a:pPr indent="0" marL="0">
              <a:buNone/>
            </a:pPr>
            <a:r>
              <a:rPr lang="en-US" sz="1200" dirty="0">
                <a:solidFill>
                  <a:srgbClr val="4A534E"/>
                </a:solidFill>
                <a:latin typeface="Calibri" pitchFamily="34" charset="0"/>
                <a:ea typeface="Calibri" pitchFamily="34" charset="-122"/>
                <a:cs typeface="Calibri" pitchFamily="34" charset="-120"/>
              </a:rPr>
              <a:t>Python appears in all three examples because it's multi-paradigm: it supports all three styles.</a:t>
            </a:r>
            <a:endParaRPr lang="en-US" sz="1200" dirty="0"/>
          </a:p>
        </p:txBody>
      </p:sp>
      <p:sp>
        <p:nvSpPr>
          <p:cNvPr id="14" name="Text 8"/>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FFFFFF"/>
          </a:solidFill>
          <a:ln w="15875">
            <a:solidFill>
              <a:srgbClr val="1B1F1D"/>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5</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COMPARISON</a:t>
            </a:r>
            <a:endParaRPr lang="en-US" sz="1100" dirty="0"/>
          </a:p>
        </p:txBody>
      </p:sp>
      <p:sp>
        <p:nvSpPr>
          <p:cNvPr id="5" name="Text 3"/>
          <p:cNvSpPr txBox="1"/>
          <p:nvPr/>
        </p:nvSpPr>
        <p:spPr>
          <a:xfrm>
            <a:off x="548640" y="731520"/>
            <a:ext cx="11094415"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How they fit together</a:t>
            </a:r>
            <a:endParaRPr lang="en-US" sz="3200" dirty="0"/>
          </a:p>
        </p:txBody>
      </p:sp>
      <p:sp>
        <p:nvSpPr>
          <p:cNvPr id="6" name="Text 4"/>
          <p:cNvSpPr txBox="1"/>
          <p:nvPr/>
        </p:nvSpPr>
        <p:spPr>
          <a:xfrm>
            <a:off x="548640" y="1371600"/>
            <a:ext cx="11094415" cy="502920"/>
          </a:xfrm>
          <a:prstGeom prst="rect">
            <a:avLst/>
          </a:prstGeom>
          <a:noFill/>
          <a:ln/>
        </p:spPr>
        <p:txBody>
          <a:bodyPr wrap="square" lIns="0" tIns="0" rIns="0" bIns="0" rtlCol="0" anchor="t"/>
          <a:lstStyle/>
          <a:p>
            <a:pPr indent="0" marL="0">
              <a:buNone/>
            </a:pPr>
            <a:r>
              <a:rPr lang="en-US" sz="1400" dirty="0">
                <a:solidFill>
                  <a:srgbClr val="4A534E"/>
                </a:solidFill>
                <a:latin typeface="Calibri" pitchFamily="34" charset="0"/>
                <a:ea typeface="Calibri" pitchFamily="34" charset="-122"/>
                <a:cs typeface="Calibri" pitchFamily="34" charset="-120"/>
              </a:rPr>
              <a:t>The three paradigms aren't rivals. Most real programs use all three at the same time, like this version of my till. The coloured bars show which paradigm each line belongs to.</a:t>
            </a:r>
            <a:endParaRPr lang="en-US" sz="1400" dirty="0"/>
          </a:p>
        </p:txBody>
      </p:sp>
      <p:sp>
        <p:nvSpPr>
          <p:cNvPr id="7" name="Shape 5"/>
          <p:cNvSpPr/>
          <p:nvPr/>
        </p:nvSpPr>
        <p:spPr>
          <a:xfrm>
            <a:off x="548640" y="1965960"/>
            <a:ext cx="6400800" cy="3841496"/>
          </a:xfrm>
          <a:prstGeom prst="roundRect">
            <a:avLst>
              <a:gd name="adj" fmla="val 1904"/>
            </a:avLst>
          </a:prstGeom>
          <a:solidFill>
            <a:srgbClr val="FBFCFA"/>
          </a:solidFill>
          <a:ln/>
          <a:effectLst>
            <a:outerShdw sx="100000" sy="100000" kx="0" ky="0" algn="bl" rotWithShape="0" blurRad="101600" dist="25400" dir="5400000">
              <a:srgbClr val="000000">
                <a:alpha val="14000"/>
              </a:srgbClr>
            </a:outerShdw>
          </a:effectLst>
        </p:spPr>
      </p:sp>
      <p:sp>
        <p:nvSpPr>
          <p:cNvPr id="8" name="Shape 6"/>
          <p:cNvSpPr/>
          <p:nvPr/>
        </p:nvSpPr>
        <p:spPr>
          <a:xfrm>
            <a:off x="548640" y="1965960"/>
            <a:ext cx="6400800" cy="438912"/>
          </a:xfrm>
          <a:prstGeom prst="roundRect">
            <a:avLst>
              <a:gd name="adj" fmla="val 16667"/>
            </a:avLst>
          </a:prstGeom>
          <a:solidFill>
            <a:srgbClr val="EEF0EE"/>
          </a:solidFill>
          <a:ln/>
        </p:spPr>
      </p:sp>
      <p:sp>
        <p:nvSpPr>
          <p:cNvPr id="9" name="Shape 7"/>
          <p:cNvSpPr/>
          <p:nvPr/>
        </p:nvSpPr>
        <p:spPr>
          <a:xfrm>
            <a:off x="548640" y="2295144"/>
            <a:ext cx="6400800" cy="109728"/>
          </a:xfrm>
          <a:prstGeom prst="rect">
            <a:avLst/>
          </a:prstGeom>
          <a:solidFill>
            <a:srgbClr val="FBFCFA"/>
          </a:solidFill>
          <a:ln/>
        </p:spPr>
      </p:sp>
      <p:sp>
        <p:nvSpPr>
          <p:cNvPr id="10" name="Shape 8"/>
          <p:cNvSpPr/>
          <p:nvPr/>
        </p:nvSpPr>
        <p:spPr>
          <a:xfrm>
            <a:off x="548640" y="2295144"/>
            <a:ext cx="6400800" cy="0"/>
          </a:xfrm>
          <a:prstGeom prst="line">
            <a:avLst/>
          </a:prstGeom>
          <a:noFill/>
          <a:ln w="9525">
            <a:solidFill>
              <a:srgbClr val="DFE3DE"/>
            </a:solidFill>
            <a:prstDash val="solid"/>
          </a:ln>
        </p:spPr>
      </p:sp>
      <p:sp>
        <p:nvSpPr>
          <p:cNvPr id="11" name="Shape 9"/>
          <p:cNvSpPr/>
          <p:nvPr/>
        </p:nvSpPr>
        <p:spPr>
          <a:xfrm>
            <a:off x="704088" y="2075688"/>
            <a:ext cx="109728" cy="109728"/>
          </a:xfrm>
          <a:prstGeom prst="ellipse">
            <a:avLst/>
          </a:prstGeom>
          <a:solidFill>
            <a:srgbClr val="1B1F1D"/>
          </a:solidFill>
          <a:ln/>
        </p:spPr>
      </p:sp>
      <p:sp>
        <p:nvSpPr>
          <p:cNvPr id="12" name="Text 10"/>
          <p:cNvSpPr txBox="1"/>
          <p:nvPr/>
        </p:nvSpPr>
        <p:spPr>
          <a:xfrm>
            <a:off x="896112" y="1965960"/>
            <a:ext cx="3291840" cy="329184"/>
          </a:xfrm>
          <a:prstGeom prst="rect">
            <a:avLst/>
          </a:prstGeom>
          <a:noFill/>
          <a:ln/>
        </p:spPr>
        <p:txBody>
          <a:bodyPr wrap="square" lIns="0" tIns="0" rIns="0" bIns="0" rtlCol="0" anchor="ctr"/>
          <a:lstStyle/>
          <a:p>
            <a:pPr indent="0" marL="0">
              <a:buNone/>
            </a:pPr>
            <a:r>
              <a:rPr lang="en-US" sz="1050" dirty="0">
                <a:solidFill>
                  <a:srgbClr val="1B1F1D"/>
                </a:solidFill>
                <a:latin typeface="Consolas" pitchFamily="34" charset="0"/>
                <a:ea typeface="Consolas" pitchFamily="34" charset="-122"/>
                <a:cs typeface="Consolas" pitchFamily="34" charset="-120"/>
              </a:rPr>
              <a:t>till_app.py</a:t>
            </a:r>
            <a:endParaRPr lang="en-US" sz="1050" dirty="0"/>
          </a:p>
        </p:txBody>
      </p:sp>
      <p:sp>
        <p:nvSpPr>
          <p:cNvPr id="13" name="Text 11"/>
          <p:cNvSpPr txBox="1"/>
          <p:nvPr/>
        </p:nvSpPr>
        <p:spPr>
          <a:xfrm>
            <a:off x="3931920" y="1965960"/>
            <a:ext cx="2852928" cy="329184"/>
          </a:xfrm>
          <a:prstGeom prst="rect">
            <a:avLst/>
          </a:prstGeom>
          <a:noFill/>
          <a:ln/>
        </p:spPr>
        <p:txBody>
          <a:bodyPr wrap="square" lIns="0" tIns="0" rIns="0" bIns="0" rtlCol="0" anchor="ctr"/>
          <a:lstStyle/>
          <a:p>
            <a:pPr algn="r" indent="0" marL="0">
              <a:buNone/>
            </a:pPr>
            <a:r>
              <a:rPr lang="en-US" sz="1050" dirty="0">
                <a:solidFill>
                  <a:srgbClr val="5F6964"/>
                </a:solidFill>
                <a:latin typeface="Calibri" pitchFamily="34" charset="0"/>
                <a:ea typeface="Calibri" pitchFamily="34" charset="-122"/>
                <a:cs typeface="Calibri" pitchFamily="34" charset="-120"/>
              </a:rPr>
              <a:t>Python 3 · tkinter</a:t>
            </a:r>
            <a:endParaRPr lang="en-US" sz="1050" dirty="0"/>
          </a:p>
        </p:txBody>
      </p:sp>
      <p:sp>
        <p:nvSpPr>
          <p:cNvPr id="14" name="Shape 12"/>
          <p:cNvSpPr/>
          <p:nvPr/>
        </p:nvSpPr>
        <p:spPr>
          <a:xfrm>
            <a:off x="676656" y="2725928"/>
            <a:ext cx="54864" cy="2293112"/>
          </a:xfrm>
          <a:prstGeom prst="rect">
            <a:avLst/>
          </a:prstGeom>
          <a:solidFill>
            <a:srgbClr val="C2449A"/>
          </a:solidFill>
          <a:ln/>
        </p:spPr>
      </p:sp>
      <p:sp>
        <p:nvSpPr>
          <p:cNvPr id="15" name="Shape 13"/>
          <p:cNvSpPr/>
          <p:nvPr/>
        </p:nvSpPr>
        <p:spPr>
          <a:xfrm>
            <a:off x="676656" y="5367528"/>
            <a:ext cx="54864" cy="146812"/>
          </a:xfrm>
          <a:prstGeom prst="rect">
            <a:avLst/>
          </a:prstGeom>
          <a:solidFill>
            <a:srgbClr val="C2449A"/>
          </a:solidFill>
          <a:ln/>
        </p:spPr>
      </p:sp>
      <p:sp>
        <p:nvSpPr>
          <p:cNvPr id="16" name="Shape 14"/>
          <p:cNvSpPr/>
          <p:nvPr/>
        </p:nvSpPr>
        <p:spPr>
          <a:xfrm>
            <a:off x="777240" y="3551428"/>
            <a:ext cx="54864" cy="311912"/>
          </a:xfrm>
          <a:prstGeom prst="rect">
            <a:avLst/>
          </a:prstGeom>
          <a:solidFill>
            <a:srgbClr val="DF8700"/>
          </a:solidFill>
          <a:ln/>
        </p:spPr>
      </p:sp>
      <p:sp>
        <p:nvSpPr>
          <p:cNvPr id="17" name="Shape 15"/>
          <p:cNvSpPr/>
          <p:nvPr/>
        </p:nvSpPr>
        <p:spPr>
          <a:xfrm>
            <a:off x="777240" y="4211828"/>
            <a:ext cx="54864" cy="807212"/>
          </a:xfrm>
          <a:prstGeom prst="rect">
            <a:avLst/>
          </a:prstGeom>
          <a:solidFill>
            <a:srgbClr val="DF8700"/>
          </a:solidFill>
          <a:ln/>
        </p:spPr>
      </p:sp>
      <p:sp>
        <p:nvSpPr>
          <p:cNvPr id="18" name="Shape 16"/>
          <p:cNvSpPr/>
          <p:nvPr/>
        </p:nvSpPr>
        <p:spPr>
          <a:xfrm>
            <a:off x="777240" y="5532628"/>
            <a:ext cx="54864" cy="146812"/>
          </a:xfrm>
          <a:prstGeom prst="rect">
            <a:avLst/>
          </a:prstGeom>
          <a:solidFill>
            <a:srgbClr val="DF8700"/>
          </a:solidFill>
          <a:ln/>
        </p:spPr>
      </p:sp>
      <p:sp>
        <p:nvSpPr>
          <p:cNvPr id="19" name="Shape 17"/>
          <p:cNvSpPr/>
          <p:nvPr/>
        </p:nvSpPr>
        <p:spPr>
          <a:xfrm>
            <a:off x="877824" y="4376928"/>
            <a:ext cx="54864" cy="642112"/>
          </a:xfrm>
          <a:prstGeom prst="rect">
            <a:avLst/>
          </a:prstGeom>
          <a:solidFill>
            <a:srgbClr val="2A78D6"/>
          </a:solidFill>
          <a:ln/>
        </p:spPr>
      </p:sp>
      <p:sp>
        <p:nvSpPr>
          <p:cNvPr id="20" name="Text 18"/>
          <p:cNvSpPr txBox="1"/>
          <p:nvPr/>
        </p:nvSpPr>
        <p:spPr>
          <a:xfrm>
            <a:off x="1024128" y="2386584"/>
            <a:ext cx="5852160" cy="3302000"/>
          </a:xfrm>
          <a:prstGeom prst="rect">
            <a:avLst/>
          </a:prstGeom>
          <a:noFill/>
          <a:ln/>
        </p:spPr>
        <p:txBody>
          <a:bodyPr wrap="square" lIns="0" tIns="0" rIns="0" bIns="0" rtlCol="0" anchor="t"/>
          <a:lstStyle/>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 1  </a:t>
            </a:r>
            <a:r>
              <a:rPr lang="en-US" sz="1000" b="1" dirty="0">
                <a:solidFill>
                  <a:srgbClr val="B8323A"/>
                </a:solidFill>
                <a:latin typeface="Consolas" pitchFamily="34" charset="0"/>
                <a:ea typeface="Consolas" pitchFamily="34" charset="-122"/>
                <a:cs typeface="Consolas" pitchFamily="34" charset="-120"/>
              </a:rPr>
              <a:t>import</a:t>
            </a:r>
            <a:r>
              <a:rPr lang="en-US" sz="1000" dirty="0">
                <a:solidFill>
                  <a:srgbClr val="1B1F1D"/>
                </a:solidFill>
                <a:latin typeface="Consolas" pitchFamily="34" charset="0"/>
                <a:ea typeface="Consolas" pitchFamily="34" charset="-122"/>
                <a:cs typeface="Consolas" pitchFamily="34" charset="-120"/>
              </a:rPr>
              <a:t> tkinter </a:t>
            </a:r>
            <a:r>
              <a:rPr lang="en-US" sz="1000" b="1" dirty="0">
                <a:solidFill>
                  <a:srgbClr val="B8323A"/>
                </a:solidFill>
                <a:latin typeface="Consolas" pitchFamily="34" charset="0"/>
                <a:ea typeface="Consolas" pitchFamily="34" charset="-122"/>
                <a:cs typeface="Consolas" pitchFamily="34" charset="-120"/>
              </a:rPr>
              <a:t>as</a:t>
            </a:r>
            <a:r>
              <a:rPr lang="en-US" sz="1000" dirty="0">
                <a:solidFill>
                  <a:srgbClr val="1B1F1D"/>
                </a:solidFill>
                <a:latin typeface="Consolas" pitchFamily="34" charset="0"/>
                <a:ea typeface="Consolas" pitchFamily="34" charset="-122"/>
                <a:cs typeface="Consolas" pitchFamily="34" charset="-120"/>
              </a:rPr>
              <a:t> tk</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 2  </a:t>
            </a:r>
            <a:r>
              <a:rPr lang="en-US" sz="1000" dirty="0">
                <a:solidFill>
                  <a:srgbClr val="1B1F1D"/>
                </a:solidFill>
                <a:latin typeface="Consolas" pitchFamily="34" charset="0"/>
                <a:ea typeface="Consolas" pitchFamily="34" charset="-122"/>
                <a:cs typeface="Consolas" pitchFamily="34" charset="-120"/>
              </a:rPr>
              <a:t> </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 3  </a:t>
            </a:r>
            <a:r>
              <a:rPr lang="en-US" sz="1000" b="1" dirty="0">
                <a:solidFill>
                  <a:srgbClr val="B8323A"/>
                </a:solidFill>
                <a:latin typeface="Consolas" pitchFamily="34" charset="0"/>
                <a:ea typeface="Consolas" pitchFamily="34" charset="-122"/>
                <a:cs typeface="Consolas" pitchFamily="34" charset="-120"/>
              </a:rPr>
              <a:t>class</a:t>
            </a:r>
            <a:r>
              <a:rPr lang="en-US" sz="1000" dirty="0">
                <a:solidFill>
                  <a:srgbClr val="1B1F1D"/>
                </a:solidFill>
                <a:latin typeface="Consolas" pitchFamily="34" charset="0"/>
                <a:ea typeface="Consolas" pitchFamily="34" charset="-122"/>
                <a:cs typeface="Consolas" pitchFamily="34" charset="-120"/>
              </a:rPr>
              <a:t> </a:t>
            </a:r>
            <a:r>
              <a:rPr lang="en-US" sz="1000" b="1" dirty="0">
                <a:solidFill>
                  <a:srgbClr val="3456C0"/>
                </a:solidFill>
                <a:latin typeface="Consolas" pitchFamily="34" charset="0"/>
                <a:ea typeface="Consolas" pitchFamily="34" charset="-122"/>
                <a:cs typeface="Consolas" pitchFamily="34" charset="-120"/>
              </a:rPr>
              <a:t>TillApp</a:t>
            </a:r>
            <a:r>
              <a:rPr lang="en-US" sz="1000" dirty="0">
                <a:solidFill>
                  <a:srgbClr val="1B1F1D"/>
                </a:solidFill>
                <a:latin typeface="Consolas" pitchFamily="34" charset="0"/>
                <a:ea typeface="Consolas" pitchFamily="34" charset="-122"/>
                <a:cs typeface="Consolas" pitchFamily="34" charset="-120"/>
              </a:rPr>
              <a:t>:                                </a:t>
            </a:r>
            <a:r>
              <a:rPr lang="en-US" sz="1000" i="1" dirty="0">
                <a:solidFill>
                  <a:srgbClr val="4A534E"/>
                </a:solidFill>
                <a:latin typeface="Consolas" pitchFamily="34" charset="0"/>
                <a:ea typeface="Consolas" pitchFamily="34" charset="-122"/>
                <a:cs typeface="Consolas" pitchFamily="34" charset="-120"/>
              </a:rPr>
              <a:t># a class</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 4  </a:t>
            </a:r>
            <a:r>
              <a:rPr lang="en-US" sz="1000" dirty="0">
                <a:solidFill>
                  <a:srgbClr val="1B1F1D"/>
                </a:solidFill>
                <a:latin typeface="Consolas" pitchFamily="34" charset="0"/>
                <a:ea typeface="Consolas" pitchFamily="34" charset="-122"/>
                <a:cs typeface="Consolas" pitchFamily="34" charset="-120"/>
              </a:rPr>
              <a:t>    </a:t>
            </a:r>
            <a:r>
              <a:rPr lang="en-US" sz="1000" b="1" dirty="0">
                <a:solidFill>
                  <a:srgbClr val="B8323A"/>
                </a:solidFill>
                <a:latin typeface="Consolas" pitchFamily="34" charset="0"/>
                <a:ea typeface="Consolas" pitchFamily="34" charset="-122"/>
                <a:cs typeface="Consolas" pitchFamily="34" charset="-120"/>
              </a:rPr>
              <a:t>def</a:t>
            </a:r>
            <a:r>
              <a:rPr lang="en-US" sz="1000" dirty="0">
                <a:solidFill>
                  <a:srgbClr val="1B1F1D"/>
                </a:solidFill>
                <a:latin typeface="Consolas" pitchFamily="34" charset="0"/>
                <a:ea typeface="Consolas" pitchFamily="34" charset="-122"/>
                <a:cs typeface="Consolas" pitchFamily="34" charset="-120"/>
              </a:rPr>
              <a:t> </a:t>
            </a:r>
            <a:r>
              <a:rPr lang="en-US" sz="1000" b="1" dirty="0">
                <a:solidFill>
                  <a:srgbClr val="3456C0"/>
                </a:solidFill>
                <a:latin typeface="Consolas" pitchFamily="34" charset="0"/>
                <a:ea typeface="Consolas" pitchFamily="34" charset="-122"/>
                <a:cs typeface="Consolas" pitchFamily="34" charset="-120"/>
              </a:rPr>
              <a:t>__init__</a:t>
            </a:r>
            <a:r>
              <a:rPr lang="en-US" sz="1000" dirty="0">
                <a:solidFill>
                  <a:srgbClr val="1B1F1D"/>
                </a:solidFill>
                <a:latin typeface="Consolas" pitchFamily="34" charset="0"/>
                <a:ea typeface="Consolas" pitchFamily="34" charset="-122"/>
                <a:cs typeface="Consolas" pitchFamily="34" charset="-120"/>
              </a:rPr>
              <a:t>(</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 window):</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 5  </a:t>
            </a:r>
            <a:r>
              <a:rPr lang="en-US" sz="1000" dirty="0">
                <a:solidFill>
                  <a:srgbClr val="1B1F1D"/>
                </a:solidFill>
                <a:latin typeface="Consolas" pitchFamily="34" charset="0"/>
                <a:ea typeface="Consolas" pitchFamily="34" charset="-122"/>
                <a:cs typeface="Consolas" pitchFamily="34" charset="-120"/>
              </a:rPr>
              <a:t>        </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.total = </a:t>
            </a:r>
            <a:r>
              <a:rPr lang="en-US" sz="1000" dirty="0">
                <a:solidFill>
                  <a:srgbClr val="A35A00"/>
                </a:solidFill>
                <a:latin typeface="Consolas" pitchFamily="34" charset="0"/>
                <a:ea typeface="Consolas" pitchFamily="34" charset="-122"/>
                <a:cs typeface="Consolas" pitchFamily="34" charset="-120"/>
              </a:rPr>
              <a:t>0</a:t>
            </a:r>
            <a:r>
              <a:rPr lang="en-US" sz="1000" dirty="0">
                <a:solidFill>
                  <a:srgbClr val="1B1F1D"/>
                </a:solidFill>
                <a:latin typeface="Consolas" pitchFamily="34" charset="0"/>
                <a:ea typeface="Consolas" pitchFamily="34" charset="-122"/>
                <a:cs typeface="Consolas" pitchFamily="34" charset="-120"/>
              </a:rPr>
              <a:t>                        </a:t>
            </a:r>
            <a:r>
              <a:rPr lang="en-US" sz="1000" i="1" dirty="0">
                <a:solidFill>
                  <a:srgbClr val="4A534E"/>
                </a:solidFill>
                <a:latin typeface="Consolas" pitchFamily="34" charset="0"/>
                <a:ea typeface="Consolas" pitchFamily="34" charset="-122"/>
                <a:cs typeface="Consolas" pitchFamily="34" charset="-120"/>
              </a:rPr>
              <a:t># an attribute</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 6  </a:t>
            </a:r>
            <a:r>
              <a:rPr lang="en-US" sz="1000" dirty="0">
                <a:solidFill>
                  <a:srgbClr val="1B1F1D"/>
                </a:solidFill>
                <a:latin typeface="Consolas" pitchFamily="34" charset="0"/>
                <a:ea typeface="Consolas" pitchFamily="34" charset="-122"/>
                <a:cs typeface="Consolas" pitchFamily="34" charset="-120"/>
              </a:rPr>
              <a:t>        </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.label = tk.Label(window, text=</a:t>
            </a:r>
            <a:r>
              <a:rPr lang="en-US" sz="1000" dirty="0">
                <a:solidFill>
                  <a:srgbClr val="1D7A4E"/>
                </a:solidFill>
                <a:latin typeface="Consolas" pitchFamily="34" charset="0"/>
                <a:ea typeface="Consolas" pitchFamily="34" charset="-122"/>
                <a:cs typeface="Consolas" pitchFamily="34" charset="-120"/>
              </a:rPr>
              <a:t>"Total: £0.00"</a:t>
            </a:r>
            <a:r>
              <a:rPr lang="en-US" sz="1000" dirty="0">
                <a:solidFill>
                  <a:srgbClr val="1B1F1D"/>
                </a:solidFill>
                <a:latin typeface="Consolas" pitchFamily="34" charset="0"/>
                <a:ea typeface="Consolas" pitchFamily="34" charset="-122"/>
                <a:cs typeface="Consolas" pitchFamily="34" charset="-120"/>
              </a:rPr>
              <a:t>)</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 7  </a:t>
            </a:r>
            <a:r>
              <a:rPr lang="en-US" sz="1000" dirty="0">
                <a:solidFill>
                  <a:srgbClr val="1B1F1D"/>
                </a:solidFill>
                <a:latin typeface="Consolas" pitchFamily="34" charset="0"/>
                <a:ea typeface="Consolas" pitchFamily="34" charset="-122"/>
                <a:cs typeface="Consolas" pitchFamily="34" charset="-120"/>
              </a:rPr>
              <a:t>        </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.label.pack()</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 8  </a:t>
            </a:r>
            <a:r>
              <a:rPr lang="en-US" sz="1000" dirty="0">
                <a:solidFill>
                  <a:srgbClr val="1B1F1D"/>
                </a:solidFill>
                <a:latin typeface="Consolas" pitchFamily="34" charset="0"/>
                <a:ea typeface="Consolas" pitchFamily="34" charset="-122"/>
                <a:cs typeface="Consolas" pitchFamily="34" charset="-120"/>
              </a:rPr>
              <a:t>        button = tk.Button(window, text=</a:t>
            </a:r>
            <a:r>
              <a:rPr lang="en-US" sz="1000" dirty="0">
                <a:solidFill>
                  <a:srgbClr val="1D7A4E"/>
                </a:solidFill>
                <a:latin typeface="Consolas" pitchFamily="34" charset="0"/>
                <a:ea typeface="Consolas" pitchFamily="34" charset="-122"/>
                <a:cs typeface="Consolas" pitchFamily="34" charset="-120"/>
              </a:rPr>
              <a:t>"Add croissant"</a:t>
            </a:r>
            <a:r>
              <a:rPr lang="en-US" sz="1000" dirty="0">
                <a:solidFill>
                  <a:srgbClr val="1B1F1D"/>
                </a:solidFill>
                <a:latin typeface="Consolas" pitchFamily="34" charset="0"/>
                <a:ea typeface="Consolas" pitchFamily="34" charset="-122"/>
                <a:cs typeface="Consolas" pitchFamily="34" charset="-120"/>
              </a:rPr>
              <a:t>,</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 9  </a:t>
            </a:r>
            <a:r>
              <a:rPr lang="en-US" sz="1000" dirty="0">
                <a:solidFill>
                  <a:srgbClr val="1B1F1D"/>
                </a:solidFill>
                <a:latin typeface="Consolas" pitchFamily="34" charset="0"/>
                <a:ea typeface="Consolas" pitchFamily="34" charset="-122"/>
                <a:cs typeface="Consolas" pitchFamily="34" charset="-120"/>
              </a:rPr>
              <a:t>                           command=</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.add)  </a:t>
            </a:r>
            <a:r>
              <a:rPr lang="en-US" sz="1000" i="1" dirty="0">
                <a:solidFill>
                  <a:srgbClr val="4A534E"/>
                </a:solidFill>
                <a:latin typeface="Consolas" pitchFamily="34" charset="0"/>
                <a:ea typeface="Consolas" pitchFamily="34" charset="-122"/>
                <a:cs typeface="Consolas" pitchFamily="34" charset="-120"/>
              </a:rPr>
              <a:t># click → handler</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10  </a:t>
            </a:r>
            <a:r>
              <a:rPr lang="en-US" sz="1000" dirty="0">
                <a:solidFill>
                  <a:srgbClr val="1B1F1D"/>
                </a:solidFill>
                <a:latin typeface="Consolas" pitchFamily="34" charset="0"/>
                <a:ea typeface="Consolas" pitchFamily="34" charset="-122"/>
                <a:cs typeface="Consolas" pitchFamily="34" charset="-120"/>
              </a:rPr>
              <a:t>        button.pack()</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11  </a:t>
            </a:r>
            <a:r>
              <a:rPr lang="en-US" sz="1000" dirty="0">
                <a:solidFill>
                  <a:srgbClr val="1B1F1D"/>
                </a:solidFill>
                <a:latin typeface="Consolas" pitchFamily="34" charset="0"/>
                <a:ea typeface="Consolas" pitchFamily="34" charset="-122"/>
                <a:cs typeface="Consolas" pitchFamily="34" charset="-120"/>
              </a:rPr>
              <a:t> </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12  </a:t>
            </a:r>
            <a:r>
              <a:rPr lang="en-US" sz="1000" dirty="0">
                <a:solidFill>
                  <a:srgbClr val="1B1F1D"/>
                </a:solidFill>
                <a:latin typeface="Consolas" pitchFamily="34" charset="0"/>
                <a:ea typeface="Consolas" pitchFamily="34" charset="-122"/>
                <a:cs typeface="Consolas" pitchFamily="34" charset="-120"/>
              </a:rPr>
              <a:t>    </a:t>
            </a:r>
            <a:r>
              <a:rPr lang="en-US" sz="1000" b="1" dirty="0">
                <a:solidFill>
                  <a:srgbClr val="B8323A"/>
                </a:solidFill>
                <a:latin typeface="Consolas" pitchFamily="34" charset="0"/>
                <a:ea typeface="Consolas" pitchFamily="34" charset="-122"/>
                <a:cs typeface="Consolas" pitchFamily="34" charset="-120"/>
              </a:rPr>
              <a:t>def</a:t>
            </a:r>
            <a:r>
              <a:rPr lang="en-US" sz="1000" dirty="0">
                <a:solidFill>
                  <a:srgbClr val="1B1F1D"/>
                </a:solidFill>
                <a:latin typeface="Consolas" pitchFamily="34" charset="0"/>
                <a:ea typeface="Consolas" pitchFamily="34" charset="-122"/>
                <a:cs typeface="Consolas" pitchFamily="34" charset="-120"/>
              </a:rPr>
              <a:t> </a:t>
            </a:r>
            <a:r>
              <a:rPr lang="en-US" sz="1000" b="1" dirty="0">
                <a:solidFill>
                  <a:srgbClr val="3456C0"/>
                </a:solidFill>
                <a:latin typeface="Consolas" pitchFamily="34" charset="0"/>
                <a:ea typeface="Consolas" pitchFamily="34" charset="-122"/>
                <a:cs typeface="Consolas" pitchFamily="34" charset="-120"/>
              </a:rPr>
              <a:t>add</a:t>
            </a:r>
            <a:r>
              <a:rPr lang="en-US" sz="1000" dirty="0">
                <a:solidFill>
                  <a:srgbClr val="1B1F1D"/>
                </a:solidFill>
                <a:latin typeface="Consolas" pitchFamily="34" charset="0"/>
                <a:ea typeface="Consolas" pitchFamily="34" charset="-122"/>
                <a:cs typeface="Consolas" pitchFamily="34" charset="-120"/>
              </a:rPr>
              <a:t>(</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                            </a:t>
            </a:r>
            <a:r>
              <a:rPr lang="en-US" sz="1000" i="1" dirty="0">
                <a:solidFill>
                  <a:srgbClr val="4A534E"/>
                </a:solidFill>
                <a:latin typeface="Consolas" pitchFamily="34" charset="0"/>
                <a:ea typeface="Consolas" pitchFamily="34" charset="-122"/>
                <a:cs typeface="Consolas" pitchFamily="34" charset="-120"/>
              </a:rPr>
              <a:t># a method + event handler</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13  </a:t>
            </a:r>
            <a:r>
              <a:rPr lang="en-US" sz="1000" dirty="0">
                <a:solidFill>
                  <a:srgbClr val="1B1F1D"/>
                </a:solidFill>
                <a:latin typeface="Consolas" pitchFamily="34" charset="0"/>
                <a:ea typeface="Consolas" pitchFamily="34" charset="-122"/>
                <a:cs typeface="Consolas" pitchFamily="34" charset="-120"/>
              </a:rPr>
              <a:t>        </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.total = </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.total + </a:t>
            </a:r>
            <a:r>
              <a:rPr lang="en-US" sz="1000" dirty="0">
                <a:solidFill>
                  <a:srgbClr val="A35A00"/>
                </a:solidFill>
                <a:latin typeface="Consolas" pitchFamily="34" charset="0"/>
                <a:ea typeface="Consolas" pitchFamily="34" charset="-122"/>
                <a:cs typeface="Consolas" pitchFamily="34" charset="-120"/>
              </a:rPr>
              <a:t>1.25</a:t>
            </a:r>
            <a:r>
              <a:rPr lang="en-US" sz="1000" dirty="0">
                <a:solidFill>
                  <a:srgbClr val="1B1F1D"/>
                </a:solidFill>
                <a:latin typeface="Consolas" pitchFamily="34" charset="0"/>
                <a:ea typeface="Consolas" pitchFamily="34" charset="-122"/>
                <a:cs typeface="Consolas" pitchFamily="34" charset="-120"/>
              </a:rPr>
              <a:t>        </a:t>
            </a:r>
            <a:r>
              <a:rPr lang="en-US" sz="1000" i="1" dirty="0">
                <a:solidFill>
                  <a:srgbClr val="4A534E"/>
                </a:solidFill>
                <a:latin typeface="Consolas" pitchFamily="34" charset="0"/>
                <a:ea typeface="Consolas" pitchFamily="34" charset="-122"/>
                <a:cs typeface="Consolas" pitchFamily="34" charset="-120"/>
              </a:rPr>
              <a:t># step 1</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14  </a:t>
            </a:r>
            <a:r>
              <a:rPr lang="en-US" sz="1000" dirty="0">
                <a:solidFill>
                  <a:srgbClr val="1B1F1D"/>
                </a:solidFill>
                <a:latin typeface="Consolas" pitchFamily="34" charset="0"/>
                <a:ea typeface="Consolas" pitchFamily="34" charset="-122"/>
                <a:cs typeface="Consolas" pitchFamily="34" charset="-120"/>
              </a:rPr>
              <a:t>        </a:t>
            </a:r>
            <a:r>
              <a:rPr lang="en-US" sz="1000" b="1" dirty="0">
                <a:solidFill>
                  <a:srgbClr val="B8323A"/>
                </a:solidFill>
                <a:latin typeface="Consolas" pitchFamily="34" charset="0"/>
                <a:ea typeface="Consolas" pitchFamily="34" charset="-122"/>
                <a:cs typeface="Consolas" pitchFamily="34" charset="-120"/>
              </a:rPr>
              <a:t>if</a:t>
            </a:r>
            <a:r>
              <a:rPr lang="en-US" sz="1000" dirty="0">
                <a:solidFill>
                  <a:srgbClr val="1B1F1D"/>
                </a:solidFill>
                <a:latin typeface="Consolas" pitchFamily="34" charset="0"/>
                <a:ea typeface="Consolas" pitchFamily="34" charset="-122"/>
                <a:cs typeface="Consolas" pitchFamily="34" charset="-120"/>
              </a:rPr>
              <a:t> </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.total &gt;= </a:t>
            </a:r>
            <a:r>
              <a:rPr lang="en-US" sz="1000" dirty="0">
                <a:solidFill>
                  <a:srgbClr val="A35A00"/>
                </a:solidFill>
                <a:latin typeface="Consolas" pitchFamily="34" charset="0"/>
                <a:ea typeface="Consolas" pitchFamily="34" charset="-122"/>
                <a:cs typeface="Consolas" pitchFamily="34" charset="-120"/>
              </a:rPr>
              <a:t>5</a:t>
            </a:r>
            <a:r>
              <a:rPr lang="en-US" sz="1000" dirty="0">
                <a:solidFill>
                  <a:srgbClr val="1B1F1D"/>
                </a:solidFill>
                <a:latin typeface="Consolas" pitchFamily="34" charset="0"/>
                <a:ea typeface="Consolas" pitchFamily="34" charset="-122"/>
                <a:cs typeface="Consolas" pitchFamily="34" charset="-120"/>
              </a:rPr>
              <a:t>:                   </a:t>
            </a:r>
            <a:r>
              <a:rPr lang="en-US" sz="1000" i="1" dirty="0">
                <a:solidFill>
                  <a:srgbClr val="4A534E"/>
                </a:solidFill>
                <a:latin typeface="Consolas" pitchFamily="34" charset="0"/>
                <a:ea typeface="Consolas" pitchFamily="34" charset="-122"/>
                <a:cs typeface="Consolas" pitchFamily="34" charset="-120"/>
              </a:rPr>
              <a:t># step 2: a decision</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15  </a:t>
            </a:r>
            <a:r>
              <a:rPr lang="en-US" sz="1000" dirty="0">
                <a:solidFill>
                  <a:srgbClr val="1B1F1D"/>
                </a:solidFill>
                <a:latin typeface="Consolas" pitchFamily="34" charset="0"/>
                <a:ea typeface="Consolas" pitchFamily="34" charset="-122"/>
                <a:cs typeface="Consolas" pitchFamily="34" charset="-120"/>
              </a:rPr>
              <a:t>            </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.label.config(fg=</a:t>
            </a:r>
            <a:r>
              <a:rPr lang="en-US" sz="1000" dirty="0">
                <a:solidFill>
                  <a:srgbClr val="1D7A4E"/>
                </a:solidFill>
                <a:latin typeface="Consolas" pitchFamily="34" charset="0"/>
                <a:ea typeface="Consolas" pitchFamily="34" charset="-122"/>
                <a:cs typeface="Consolas" pitchFamily="34" charset="-120"/>
              </a:rPr>
              <a:t>"green"</a:t>
            </a:r>
            <a:r>
              <a:rPr lang="en-US" sz="1000" dirty="0">
                <a:solidFill>
                  <a:srgbClr val="1B1F1D"/>
                </a:solidFill>
                <a:latin typeface="Consolas" pitchFamily="34" charset="0"/>
                <a:ea typeface="Consolas" pitchFamily="34" charset="-122"/>
                <a:cs typeface="Consolas" pitchFamily="34" charset="-120"/>
              </a:rPr>
              <a:t>)</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16  </a:t>
            </a:r>
            <a:r>
              <a:rPr lang="en-US" sz="1000" dirty="0">
                <a:solidFill>
                  <a:srgbClr val="1B1F1D"/>
                </a:solidFill>
                <a:latin typeface="Consolas" pitchFamily="34" charset="0"/>
                <a:ea typeface="Consolas" pitchFamily="34" charset="-122"/>
                <a:cs typeface="Consolas" pitchFamily="34" charset="-120"/>
              </a:rPr>
              <a:t>        </a:t>
            </a:r>
            <a:r>
              <a:rPr lang="en-US" sz="1000" dirty="0">
                <a:solidFill>
                  <a:srgbClr val="4A534E"/>
                </a:solidFill>
                <a:latin typeface="Consolas" pitchFamily="34" charset="0"/>
                <a:ea typeface="Consolas" pitchFamily="34" charset="-122"/>
                <a:cs typeface="Consolas" pitchFamily="34" charset="-120"/>
              </a:rPr>
              <a:t>self</a:t>
            </a:r>
            <a:r>
              <a:rPr lang="en-US" sz="1000" dirty="0">
                <a:solidFill>
                  <a:srgbClr val="1B1F1D"/>
                </a:solidFill>
                <a:latin typeface="Consolas" pitchFamily="34" charset="0"/>
                <a:ea typeface="Consolas" pitchFamily="34" charset="-122"/>
                <a:cs typeface="Consolas" pitchFamily="34" charset="-120"/>
              </a:rPr>
              <a:t>.label.config(text=</a:t>
            </a:r>
            <a:r>
              <a:rPr lang="en-US" sz="1000" dirty="0">
                <a:solidFill>
                  <a:srgbClr val="1D7A4E"/>
                </a:solidFill>
                <a:latin typeface="Consolas" pitchFamily="34" charset="0"/>
                <a:ea typeface="Consolas" pitchFamily="34" charset="-122"/>
                <a:cs typeface="Consolas" pitchFamily="34" charset="-120"/>
              </a:rPr>
              <a:t>f"Total: £{self.total:.2f}"</a:t>
            </a:r>
            <a:r>
              <a:rPr lang="en-US" sz="1000" dirty="0">
                <a:solidFill>
                  <a:srgbClr val="1B1F1D"/>
                </a:solidFill>
                <a:latin typeface="Consolas" pitchFamily="34" charset="0"/>
                <a:ea typeface="Consolas" pitchFamily="34" charset="-122"/>
                <a:cs typeface="Consolas" pitchFamily="34" charset="-120"/>
              </a:rPr>
              <a:t>)</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17  </a:t>
            </a:r>
            <a:r>
              <a:rPr lang="en-US" sz="1000" dirty="0">
                <a:solidFill>
                  <a:srgbClr val="1B1F1D"/>
                </a:solidFill>
                <a:latin typeface="Consolas" pitchFamily="34" charset="0"/>
                <a:ea typeface="Consolas" pitchFamily="34" charset="-122"/>
                <a:cs typeface="Consolas" pitchFamily="34" charset="-120"/>
              </a:rPr>
              <a:t> </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18  </a:t>
            </a:r>
            <a:r>
              <a:rPr lang="en-US" sz="1000" dirty="0">
                <a:solidFill>
                  <a:srgbClr val="1B1F1D"/>
                </a:solidFill>
                <a:latin typeface="Consolas" pitchFamily="34" charset="0"/>
                <a:ea typeface="Consolas" pitchFamily="34" charset="-122"/>
                <a:cs typeface="Consolas" pitchFamily="34" charset="-120"/>
              </a:rPr>
              <a:t>window = tk.Tk()</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19  </a:t>
            </a:r>
            <a:r>
              <a:rPr lang="en-US" sz="1000" dirty="0">
                <a:solidFill>
                  <a:srgbClr val="1B1F1D"/>
                </a:solidFill>
                <a:latin typeface="Consolas" pitchFamily="34" charset="0"/>
                <a:ea typeface="Consolas" pitchFamily="34" charset="-122"/>
                <a:cs typeface="Consolas" pitchFamily="34" charset="-120"/>
              </a:rPr>
              <a:t>app = TillApp(window)                         </a:t>
            </a:r>
            <a:r>
              <a:rPr lang="en-US" sz="1000" i="1" dirty="0">
                <a:solidFill>
                  <a:srgbClr val="4A534E"/>
                </a:solidFill>
                <a:latin typeface="Consolas" pitchFamily="34" charset="0"/>
                <a:ea typeface="Consolas" pitchFamily="34" charset="-122"/>
                <a:cs typeface="Consolas" pitchFamily="34" charset="-120"/>
              </a:rPr>
              <a:t># an object</a:t>
            </a:r>
            <a:endParaRPr lang="en-US" sz="1000" dirty="0"/>
          </a:p>
          <a:p>
            <a:pPr indent="0" marL="0">
              <a:lnSpc>
                <a:spcPts val="1300"/>
              </a:lnSpc>
              <a:buNone/>
            </a:pPr>
            <a:r>
              <a:rPr lang="en-US" sz="1000" dirty="0">
                <a:solidFill>
                  <a:srgbClr val="8A948F"/>
                </a:solidFill>
                <a:latin typeface="Consolas" pitchFamily="34" charset="0"/>
                <a:ea typeface="Consolas" pitchFamily="34" charset="-122"/>
                <a:cs typeface="Consolas" pitchFamily="34" charset="-120"/>
              </a:rPr>
              <a:t>20  </a:t>
            </a:r>
            <a:r>
              <a:rPr lang="en-US" sz="1000" dirty="0">
                <a:solidFill>
                  <a:srgbClr val="1B1F1D"/>
                </a:solidFill>
                <a:latin typeface="Consolas" pitchFamily="34" charset="0"/>
                <a:ea typeface="Consolas" pitchFamily="34" charset="-122"/>
                <a:cs typeface="Consolas" pitchFamily="34" charset="-120"/>
              </a:rPr>
              <a:t>window.mainloop()                             </a:t>
            </a:r>
            <a:r>
              <a:rPr lang="en-US" sz="1000" i="1" dirty="0">
                <a:solidFill>
                  <a:srgbClr val="4A534E"/>
                </a:solidFill>
                <a:latin typeface="Consolas" pitchFamily="34" charset="0"/>
                <a:ea typeface="Consolas" pitchFamily="34" charset="-122"/>
                <a:cs typeface="Consolas" pitchFamily="34" charset="-120"/>
              </a:rPr>
              <a:t># the event loop</a:t>
            </a:r>
            <a:endParaRPr lang="en-US" sz="1000" dirty="0"/>
          </a:p>
        </p:txBody>
      </p:sp>
      <p:sp>
        <p:nvSpPr>
          <p:cNvPr id="21" name="Shape 19"/>
          <p:cNvSpPr/>
          <p:nvPr/>
        </p:nvSpPr>
        <p:spPr>
          <a:xfrm>
            <a:off x="548640" y="1965960"/>
            <a:ext cx="6400800" cy="3841496"/>
          </a:xfrm>
          <a:prstGeom prst="roundRect">
            <a:avLst>
              <a:gd name="adj" fmla="val 1904"/>
            </a:avLst>
          </a:prstGeom>
          <a:ln w="12700">
            <a:solidFill>
              <a:srgbClr val="DFE3DE"/>
            </a:solidFill>
            <a:prstDash val="solid"/>
          </a:ln>
        </p:spPr>
      </p:sp>
      <p:sp>
        <p:nvSpPr>
          <p:cNvPr id="22" name="Shape 20"/>
          <p:cNvSpPr/>
          <p:nvPr/>
        </p:nvSpPr>
        <p:spPr>
          <a:xfrm>
            <a:off x="7269480" y="1965960"/>
            <a:ext cx="4370832" cy="1051560"/>
          </a:xfrm>
          <a:prstGeom prst="roundRect">
            <a:avLst>
              <a:gd name="adj" fmla="val 10435"/>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23" name="Shape 21"/>
          <p:cNvSpPr/>
          <p:nvPr/>
        </p:nvSpPr>
        <p:spPr>
          <a:xfrm>
            <a:off x="7434072" y="2148840"/>
            <a:ext cx="457200" cy="457200"/>
          </a:xfrm>
          <a:prstGeom prst="ellipse">
            <a:avLst/>
          </a:prstGeom>
          <a:solidFill>
            <a:srgbClr val="F0D0E6"/>
          </a:solidFill>
          <a:ln w="31750">
            <a:solidFill>
              <a:srgbClr val="C2449A"/>
            </a:solidFill>
            <a:prstDash val="solid"/>
          </a:ln>
        </p:spPr>
      </p:sp>
      <p:pic>
        <p:nvPicPr>
          <p:cNvPr id="24" name="Image 0" descr="Object-oriented icon">    </p:cNvPr>
          <p:cNvPicPr>
            <a:picLocks noChangeAspect="1"/>
          </p:cNvPicPr>
          <p:nvPr/>
        </p:nvPicPr>
        <p:blipFill>
          <a:blip r:embed="rId1"/>
          <a:stretch>
            <a:fillRect/>
          </a:stretch>
        </p:blipFill>
        <p:spPr>
          <a:xfrm>
            <a:off x="7543800" y="2258568"/>
            <a:ext cx="237744" cy="237744"/>
          </a:xfrm>
          <a:prstGeom prst="rect">
            <a:avLst/>
          </a:prstGeom>
        </p:spPr>
      </p:pic>
      <p:sp>
        <p:nvSpPr>
          <p:cNvPr id="25" name="Text 22"/>
          <p:cNvSpPr txBox="1"/>
          <p:nvPr/>
        </p:nvSpPr>
        <p:spPr>
          <a:xfrm>
            <a:off x="8065008" y="2075688"/>
            <a:ext cx="3474720" cy="274320"/>
          </a:xfrm>
          <a:prstGeom prst="rect">
            <a:avLst/>
          </a:prstGeom>
          <a:noFill/>
          <a:ln/>
        </p:spPr>
        <p:txBody>
          <a:bodyPr wrap="square" lIns="0" tIns="0" rIns="0" bIns="0" rtlCol="0" anchor="ctr"/>
          <a:lstStyle/>
          <a:p>
            <a:pPr indent="0" marL="0">
              <a:buNone/>
            </a:pPr>
            <a:r>
              <a:rPr lang="en-US" sz="1400" b="1" dirty="0">
                <a:solidFill>
                  <a:srgbClr val="1B1F1D"/>
                </a:solidFill>
                <a:latin typeface="Cambria" pitchFamily="34" charset="0"/>
                <a:ea typeface="Cambria" pitchFamily="34" charset="-122"/>
                <a:cs typeface="Cambria" pitchFamily="34" charset="-120"/>
              </a:rPr>
              <a:t>Object-oriented: the outside</a:t>
            </a:r>
            <a:endParaRPr lang="en-US" sz="1400" dirty="0"/>
          </a:p>
        </p:txBody>
      </p:sp>
      <p:sp>
        <p:nvSpPr>
          <p:cNvPr id="26" name="Text 23"/>
          <p:cNvSpPr txBox="1"/>
          <p:nvPr/>
        </p:nvSpPr>
        <p:spPr>
          <a:xfrm>
            <a:off x="8065008" y="2359152"/>
            <a:ext cx="3474720" cy="411480"/>
          </a:xfrm>
          <a:prstGeom prst="rect">
            <a:avLst/>
          </a:prstGeom>
          <a:noFill/>
          <a:ln/>
        </p:spPr>
        <p:txBody>
          <a:bodyPr wrap="square" lIns="0" tIns="0" rIns="0" bIns="0" rtlCol="0" anchor="t"/>
          <a:lstStyle/>
          <a:p>
            <a:pPr indent="0" marL="0">
              <a:buNone/>
            </a:pPr>
            <a:r>
              <a:rPr lang="en-US" sz="1150" dirty="0">
                <a:solidFill>
                  <a:srgbClr val="4A534E"/>
                </a:solidFill>
                <a:latin typeface="Calibri" pitchFamily="34" charset="0"/>
                <a:ea typeface="Calibri" pitchFamily="34" charset="-122"/>
                <a:cs typeface="Calibri" pitchFamily="34" charset="-120"/>
              </a:rPr>
              <a:t>The program is a class, </a:t>
            </a:r>
            <a:r>
              <a:rPr lang="en-US" sz="1058" dirty="0">
                <a:solidFill>
                  <a:srgbClr val="4A534E"/>
                </a:solidFill>
                <a:latin typeface="Consolas" pitchFamily="34" charset="0"/>
                <a:ea typeface="Consolas" pitchFamily="34" charset="-122"/>
                <a:cs typeface="Consolas" pitchFamily="34" charset="-120"/>
              </a:rPr>
              <a:t>TillApp</a:t>
            </a:r>
            <a:r>
              <a:rPr lang="en-US" sz="1150" dirty="0">
                <a:solidFill>
                  <a:srgbClr val="4A534E"/>
                </a:solidFill>
                <a:latin typeface="Calibri" pitchFamily="34" charset="0"/>
                <a:ea typeface="Calibri" pitchFamily="34" charset="-122"/>
                <a:cs typeface="Calibri" pitchFamily="34" charset="-120"/>
              </a:rPr>
              <a:t>, and </a:t>
            </a:r>
            <a:r>
              <a:rPr lang="en-US" sz="1058" dirty="0">
                <a:solidFill>
                  <a:srgbClr val="4A534E"/>
                </a:solidFill>
                <a:latin typeface="Consolas" pitchFamily="34" charset="0"/>
                <a:ea typeface="Consolas" pitchFamily="34" charset="-122"/>
                <a:cs typeface="Consolas" pitchFamily="34" charset="-120"/>
              </a:rPr>
              <a:t>app</a:t>
            </a:r>
            <a:r>
              <a:rPr lang="en-US" sz="1150" dirty="0">
                <a:solidFill>
                  <a:srgbClr val="4A534E"/>
                </a:solidFill>
                <a:latin typeface="Calibri" pitchFamily="34" charset="0"/>
                <a:ea typeface="Calibri" pitchFamily="34" charset="-122"/>
                <a:cs typeface="Calibri" pitchFamily="34" charset="-120"/>
              </a:rPr>
              <a:t> is an object made from it.</a:t>
            </a:r>
            <a:endParaRPr lang="en-US" sz="1400" dirty="0"/>
          </a:p>
        </p:txBody>
      </p:sp>
      <p:sp>
        <p:nvSpPr>
          <p:cNvPr id="27" name="Text 24"/>
          <p:cNvSpPr txBox="1"/>
          <p:nvPr/>
        </p:nvSpPr>
        <p:spPr>
          <a:xfrm>
            <a:off x="8065008" y="2752344"/>
            <a:ext cx="3474720" cy="182880"/>
          </a:xfrm>
          <a:prstGeom prst="rect">
            <a:avLst/>
          </a:prstGeom>
          <a:noFill/>
          <a:ln/>
        </p:spPr>
        <p:txBody>
          <a:bodyPr wrap="square" lIns="0" tIns="0" rIns="0" bIns="0" rtlCol="0" anchor="ctr"/>
          <a:lstStyle/>
          <a:p>
            <a:pPr indent="0" marL="0">
              <a:buNone/>
            </a:pPr>
            <a:r>
              <a:rPr lang="en-US" sz="950" dirty="0">
                <a:solidFill>
                  <a:srgbClr val="5F6964"/>
                </a:solidFill>
                <a:latin typeface="Consolas" pitchFamily="34" charset="0"/>
                <a:ea typeface="Consolas" pitchFamily="34" charset="-122"/>
                <a:cs typeface="Consolas" pitchFamily="34" charset="-120"/>
              </a:rPr>
              <a:t>lines 3–16 and 19</a:t>
            </a:r>
            <a:endParaRPr lang="en-US" sz="950" dirty="0"/>
          </a:p>
        </p:txBody>
      </p:sp>
      <p:sp>
        <p:nvSpPr>
          <p:cNvPr id="28" name="Shape 25"/>
          <p:cNvSpPr/>
          <p:nvPr/>
        </p:nvSpPr>
        <p:spPr>
          <a:xfrm>
            <a:off x="7269480" y="3127248"/>
            <a:ext cx="4370832" cy="1051560"/>
          </a:xfrm>
          <a:prstGeom prst="roundRect">
            <a:avLst>
              <a:gd name="adj" fmla="val 10435"/>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29" name="Shape 26"/>
          <p:cNvSpPr/>
          <p:nvPr/>
        </p:nvSpPr>
        <p:spPr>
          <a:xfrm>
            <a:off x="7434072" y="3310128"/>
            <a:ext cx="457200" cy="457200"/>
          </a:xfrm>
          <a:prstGeom prst="ellipse">
            <a:avLst/>
          </a:prstGeom>
          <a:solidFill>
            <a:srgbClr val="F7E1BF"/>
          </a:solidFill>
          <a:ln w="31750">
            <a:solidFill>
              <a:srgbClr val="DF8700"/>
            </a:solidFill>
            <a:prstDash val="solid"/>
          </a:ln>
        </p:spPr>
      </p:sp>
      <p:pic>
        <p:nvPicPr>
          <p:cNvPr id="30" name="Image 1" descr="Event-driven icon">    </p:cNvPr>
          <p:cNvPicPr>
            <a:picLocks noChangeAspect="1"/>
          </p:cNvPicPr>
          <p:nvPr/>
        </p:nvPicPr>
        <p:blipFill>
          <a:blip r:embed="rId2"/>
          <a:stretch>
            <a:fillRect/>
          </a:stretch>
        </p:blipFill>
        <p:spPr>
          <a:xfrm>
            <a:off x="7543800" y="3419856"/>
            <a:ext cx="237744" cy="237744"/>
          </a:xfrm>
          <a:prstGeom prst="rect">
            <a:avLst/>
          </a:prstGeom>
        </p:spPr>
      </p:pic>
      <p:sp>
        <p:nvSpPr>
          <p:cNvPr id="31" name="Text 27"/>
          <p:cNvSpPr txBox="1"/>
          <p:nvPr/>
        </p:nvSpPr>
        <p:spPr>
          <a:xfrm>
            <a:off x="8065008" y="3236976"/>
            <a:ext cx="3474720" cy="274320"/>
          </a:xfrm>
          <a:prstGeom prst="rect">
            <a:avLst/>
          </a:prstGeom>
          <a:noFill/>
          <a:ln/>
        </p:spPr>
        <p:txBody>
          <a:bodyPr wrap="square" lIns="0" tIns="0" rIns="0" bIns="0" rtlCol="0" anchor="ctr"/>
          <a:lstStyle/>
          <a:p>
            <a:pPr indent="0" marL="0">
              <a:buNone/>
            </a:pPr>
            <a:r>
              <a:rPr lang="en-US" sz="1400" b="1" dirty="0">
                <a:solidFill>
                  <a:srgbClr val="1B1F1D"/>
                </a:solidFill>
                <a:latin typeface="Cambria" pitchFamily="34" charset="0"/>
                <a:ea typeface="Cambria" pitchFamily="34" charset="-122"/>
                <a:cs typeface="Cambria" pitchFamily="34" charset="-120"/>
              </a:rPr>
              <a:t>Event-driven: when code runs</a:t>
            </a:r>
            <a:endParaRPr lang="en-US" sz="1400" dirty="0"/>
          </a:p>
        </p:txBody>
      </p:sp>
      <p:sp>
        <p:nvSpPr>
          <p:cNvPr id="32" name="Text 28"/>
          <p:cNvSpPr txBox="1"/>
          <p:nvPr/>
        </p:nvSpPr>
        <p:spPr>
          <a:xfrm>
            <a:off x="8065008" y="3520440"/>
            <a:ext cx="3474720" cy="411480"/>
          </a:xfrm>
          <a:prstGeom prst="rect">
            <a:avLst/>
          </a:prstGeom>
          <a:noFill/>
          <a:ln/>
        </p:spPr>
        <p:txBody>
          <a:bodyPr wrap="square" lIns="0" tIns="0" rIns="0" bIns="0" rtlCol="0" anchor="t"/>
          <a:lstStyle/>
          <a:p>
            <a:pPr indent="0" marL="0">
              <a:buNone/>
            </a:pPr>
            <a:r>
              <a:rPr lang="en-US" sz="1058" dirty="0">
                <a:solidFill>
                  <a:srgbClr val="4A534E"/>
                </a:solidFill>
                <a:latin typeface="Consolas" pitchFamily="34" charset="0"/>
                <a:ea typeface="Consolas" pitchFamily="34" charset="-122"/>
                <a:cs typeface="Consolas" pitchFamily="34" charset="-120"/>
              </a:rPr>
              <a:t>add()</a:t>
            </a:r>
            <a:r>
              <a:rPr lang="en-US" sz="1150" dirty="0">
                <a:solidFill>
                  <a:srgbClr val="4A534E"/>
                </a:solidFill>
                <a:latin typeface="Calibri" pitchFamily="34" charset="0"/>
                <a:ea typeface="Calibri" pitchFamily="34" charset="-122"/>
                <a:cs typeface="Calibri" pitchFamily="34" charset="-120"/>
              </a:rPr>
              <a:t> is linked to the button, so it runs on every click. </a:t>
            </a:r>
            <a:r>
              <a:rPr lang="en-US" sz="1058" dirty="0">
                <a:solidFill>
                  <a:srgbClr val="4A534E"/>
                </a:solidFill>
                <a:latin typeface="Consolas" pitchFamily="34" charset="0"/>
                <a:ea typeface="Consolas" pitchFamily="34" charset="-122"/>
                <a:cs typeface="Consolas" pitchFamily="34" charset="-120"/>
              </a:rPr>
              <a:t>mainloop()</a:t>
            </a:r>
            <a:r>
              <a:rPr lang="en-US" sz="1150" dirty="0">
                <a:solidFill>
                  <a:srgbClr val="4A534E"/>
                </a:solidFill>
                <a:latin typeface="Calibri" pitchFamily="34" charset="0"/>
                <a:ea typeface="Calibri" pitchFamily="34" charset="-122"/>
                <a:cs typeface="Calibri" pitchFamily="34" charset="-120"/>
              </a:rPr>
              <a:t> waits for clicks.</a:t>
            </a:r>
            <a:endParaRPr lang="en-US" sz="1400" dirty="0"/>
          </a:p>
        </p:txBody>
      </p:sp>
      <p:sp>
        <p:nvSpPr>
          <p:cNvPr id="33" name="Text 29"/>
          <p:cNvSpPr txBox="1"/>
          <p:nvPr/>
        </p:nvSpPr>
        <p:spPr>
          <a:xfrm>
            <a:off x="8065008" y="3913632"/>
            <a:ext cx="3474720" cy="182880"/>
          </a:xfrm>
          <a:prstGeom prst="rect">
            <a:avLst/>
          </a:prstGeom>
          <a:noFill/>
          <a:ln/>
        </p:spPr>
        <p:txBody>
          <a:bodyPr wrap="square" lIns="0" tIns="0" rIns="0" bIns="0" rtlCol="0" anchor="ctr"/>
          <a:lstStyle/>
          <a:p>
            <a:pPr indent="0" marL="0">
              <a:buNone/>
            </a:pPr>
            <a:r>
              <a:rPr lang="en-US" sz="950" dirty="0">
                <a:solidFill>
                  <a:srgbClr val="5F6964"/>
                </a:solidFill>
                <a:latin typeface="Consolas" pitchFamily="34" charset="0"/>
                <a:ea typeface="Consolas" pitchFamily="34" charset="-122"/>
                <a:cs typeface="Consolas" pitchFamily="34" charset="-120"/>
              </a:rPr>
              <a:t>lines 8–9, 12–16 and 20</a:t>
            </a:r>
            <a:endParaRPr lang="en-US" sz="950" dirty="0"/>
          </a:p>
        </p:txBody>
      </p:sp>
      <p:sp>
        <p:nvSpPr>
          <p:cNvPr id="34" name="Shape 30"/>
          <p:cNvSpPr/>
          <p:nvPr/>
        </p:nvSpPr>
        <p:spPr>
          <a:xfrm>
            <a:off x="7269480" y="4288536"/>
            <a:ext cx="4370832" cy="1051560"/>
          </a:xfrm>
          <a:prstGeom prst="roundRect">
            <a:avLst>
              <a:gd name="adj" fmla="val 10435"/>
            </a:avLst>
          </a:prstGeom>
          <a:solidFill>
            <a:srgbClr val="FFFFFF"/>
          </a:solidFill>
          <a:ln w="12700">
            <a:solidFill>
              <a:srgbClr val="DFE3DE"/>
            </a:solidFill>
            <a:prstDash val="solid"/>
          </a:ln>
          <a:effectLst>
            <a:outerShdw sx="100000" sy="100000" kx="0" ky="0" algn="bl" rotWithShape="0" blurRad="101600" dist="25400" dir="5400000">
              <a:srgbClr val="000000">
                <a:alpha val="14000"/>
              </a:srgbClr>
            </a:outerShdw>
          </a:effectLst>
        </p:spPr>
      </p:sp>
      <p:sp>
        <p:nvSpPr>
          <p:cNvPr id="35" name="Shape 31"/>
          <p:cNvSpPr/>
          <p:nvPr/>
        </p:nvSpPr>
        <p:spPr>
          <a:xfrm>
            <a:off x="7434072" y="4471416"/>
            <a:ext cx="457200" cy="457200"/>
          </a:xfrm>
          <a:prstGeom prst="ellipse">
            <a:avLst/>
          </a:prstGeom>
          <a:solidFill>
            <a:srgbClr val="CADDF5"/>
          </a:solidFill>
          <a:ln w="31750">
            <a:solidFill>
              <a:srgbClr val="2A78D6"/>
            </a:solidFill>
            <a:prstDash val="solid"/>
          </a:ln>
        </p:spPr>
      </p:sp>
      <p:pic>
        <p:nvPicPr>
          <p:cNvPr id="36" name="Image 2" descr="Procedural icon">    </p:cNvPr>
          <p:cNvPicPr>
            <a:picLocks noChangeAspect="1"/>
          </p:cNvPicPr>
          <p:nvPr/>
        </p:nvPicPr>
        <p:blipFill>
          <a:blip r:embed="rId3"/>
          <a:stretch>
            <a:fillRect/>
          </a:stretch>
        </p:blipFill>
        <p:spPr>
          <a:xfrm>
            <a:off x="7543800" y="4581144"/>
            <a:ext cx="237744" cy="237744"/>
          </a:xfrm>
          <a:prstGeom prst="rect">
            <a:avLst/>
          </a:prstGeom>
        </p:spPr>
      </p:pic>
      <p:sp>
        <p:nvSpPr>
          <p:cNvPr id="37" name="Text 32"/>
          <p:cNvSpPr txBox="1"/>
          <p:nvPr/>
        </p:nvSpPr>
        <p:spPr>
          <a:xfrm>
            <a:off x="8065008" y="4398264"/>
            <a:ext cx="3474720" cy="274320"/>
          </a:xfrm>
          <a:prstGeom prst="rect">
            <a:avLst/>
          </a:prstGeom>
          <a:noFill/>
          <a:ln/>
        </p:spPr>
        <p:txBody>
          <a:bodyPr wrap="square" lIns="0" tIns="0" rIns="0" bIns="0" rtlCol="0" anchor="ctr"/>
          <a:lstStyle/>
          <a:p>
            <a:pPr indent="0" marL="0">
              <a:buNone/>
            </a:pPr>
            <a:r>
              <a:rPr lang="en-US" sz="1400" b="1" dirty="0">
                <a:solidFill>
                  <a:srgbClr val="1B1F1D"/>
                </a:solidFill>
                <a:latin typeface="Cambria" pitchFamily="34" charset="0"/>
                <a:ea typeface="Cambria" pitchFamily="34" charset="-122"/>
                <a:cs typeface="Cambria" pitchFamily="34" charset="-120"/>
              </a:rPr>
              <a:t>Procedural: the inside</a:t>
            </a:r>
            <a:endParaRPr lang="en-US" sz="1400" dirty="0"/>
          </a:p>
        </p:txBody>
      </p:sp>
      <p:sp>
        <p:nvSpPr>
          <p:cNvPr id="38" name="Text 33"/>
          <p:cNvSpPr txBox="1"/>
          <p:nvPr/>
        </p:nvSpPr>
        <p:spPr>
          <a:xfrm>
            <a:off x="8065008" y="4681728"/>
            <a:ext cx="3474720" cy="411480"/>
          </a:xfrm>
          <a:prstGeom prst="rect">
            <a:avLst/>
          </a:prstGeom>
          <a:noFill/>
          <a:ln/>
        </p:spPr>
        <p:txBody>
          <a:bodyPr wrap="square" lIns="0" tIns="0" rIns="0" bIns="0" rtlCol="0" anchor="t"/>
          <a:lstStyle/>
          <a:p>
            <a:pPr indent="0" marL="0">
              <a:buNone/>
            </a:pPr>
            <a:r>
              <a:rPr lang="en-US" sz="1150" dirty="0">
                <a:solidFill>
                  <a:srgbClr val="4A534E"/>
                </a:solidFill>
                <a:latin typeface="Calibri" pitchFamily="34" charset="0"/>
                <a:ea typeface="Calibri" pitchFamily="34" charset="-122"/>
                <a:cs typeface="Calibri" pitchFamily="34" charset="-120"/>
              </a:rPr>
              <a:t>Inside </a:t>
            </a:r>
            <a:r>
              <a:rPr lang="en-US" sz="1058" dirty="0">
                <a:solidFill>
                  <a:srgbClr val="4A534E"/>
                </a:solidFill>
                <a:latin typeface="Consolas" pitchFamily="34" charset="0"/>
                <a:ea typeface="Consolas" pitchFamily="34" charset="-122"/>
                <a:cs typeface="Consolas" pitchFamily="34" charset="-120"/>
              </a:rPr>
              <a:t>add()</a:t>
            </a:r>
            <a:r>
              <a:rPr lang="en-US" sz="1150" dirty="0">
                <a:solidFill>
                  <a:srgbClr val="4A534E"/>
                </a:solidFill>
                <a:latin typeface="Calibri" pitchFamily="34" charset="0"/>
                <a:ea typeface="Calibri" pitchFamily="34" charset="-122"/>
                <a:cs typeface="Calibri" pitchFamily="34" charset="-120"/>
              </a:rPr>
              <a:t>, the code is plain steps in order, with an </a:t>
            </a:r>
            <a:r>
              <a:rPr lang="en-US" sz="1058" dirty="0">
                <a:solidFill>
                  <a:srgbClr val="4A534E"/>
                </a:solidFill>
                <a:latin typeface="Consolas" pitchFamily="34" charset="0"/>
                <a:ea typeface="Consolas" pitchFamily="34" charset="-122"/>
                <a:cs typeface="Consolas" pitchFamily="34" charset="-120"/>
              </a:rPr>
              <a:t>if</a:t>
            </a:r>
            <a:r>
              <a:rPr lang="en-US" sz="1150" dirty="0">
                <a:solidFill>
                  <a:srgbClr val="4A534E"/>
                </a:solidFill>
                <a:latin typeface="Calibri" pitchFamily="34" charset="0"/>
                <a:ea typeface="Calibri" pitchFamily="34" charset="-122"/>
                <a:cs typeface="Calibri" pitchFamily="34" charset="-120"/>
              </a:rPr>
              <a:t> to make a decision.</a:t>
            </a:r>
            <a:endParaRPr lang="en-US" sz="1400" dirty="0"/>
          </a:p>
        </p:txBody>
      </p:sp>
      <p:sp>
        <p:nvSpPr>
          <p:cNvPr id="39" name="Text 34"/>
          <p:cNvSpPr txBox="1"/>
          <p:nvPr/>
        </p:nvSpPr>
        <p:spPr>
          <a:xfrm>
            <a:off x="8065008" y="5074920"/>
            <a:ext cx="3474720" cy="182880"/>
          </a:xfrm>
          <a:prstGeom prst="rect">
            <a:avLst/>
          </a:prstGeom>
          <a:noFill/>
          <a:ln/>
        </p:spPr>
        <p:txBody>
          <a:bodyPr wrap="square" lIns="0" tIns="0" rIns="0" bIns="0" rtlCol="0" anchor="ctr"/>
          <a:lstStyle/>
          <a:p>
            <a:pPr indent="0" marL="0">
              <a:buNone/>
            </a:pPr>
            <a:r>
              <a:rPr lang="en-US" sz="950" dirty="0">
                <a:solidFill>
                  <a:srgbClr val="5F6964"/>
                </a:solidFill>
                <a:latin typeface="Consolas" pitchFamily="34" charset="0"/>
                <a:ea typeface="Consolas" pitchFamily="34" charset="-122"/>
                <a:cs typeface="Consolas" pitchFamily="34" charset="-120"/>
              </a:rPr>
              <a:t>lines 13–16</a:t>
            </a:r>
            <a:endParaRPr lang="en-US" sz="950" dirty="0"/>
          </a:p>
        </p:txBody>
      </p:sp>
      <p:sp>
        <p:nvSpPr>
          <p:cNvPr id="40" name="Text 35"/>
          <p:cNvSpPr txBox="1"/>
          <p:nvPr/>
        </p:nvSpPr>
        <p:spPr>
          <a:xfrm>
            <a:off x="7269480" y="5486400"/>
            <a:ext cx="4370832" cy="594360"/>
          </a:xfrm>
          <a:prstGeom prst="rect">
            <a:avLst/>
          </a:prstGeom>
          <a:noFill/>
          <a:ln/>
        </p:spPr>
        <p:txBody>
          <a:bodyPr wrap="square" lIns="0" tIns="0" rIns="0" bIns="0" rtlCol="0" anchor="t"/>
          <a:lstStyle/>
          <a:p>
            <a:pPr indent="0" marL="0">
              <a:buNone/>
            </a:pPr>
            <a:r>
              <a:rPr lang="en-US" sz="1150" dirty="0">
                <a:solidFill>
                  <a:srgbClr val="4A534E"/>
                </a:solidFill>
                <a:latin typeface="Calibri" pitchFamily="34" charset="0"/>
                <a:ea typeface="Calibri" pitchFamily="34" charset="-122"/>
                <a:cs typeface="Calibri" pitchFamily="34" charset="-120"/>
              </a:rPr>
              <a:t>Python, C#, Java and JavaScript are multi-paradigm, so the question isn't which paradigm is best, but which one fits each part of a program.</a:t>
            </a:r>
            <a:endParaRPr lang="en-US" sz="1150" dirty="0"/>
          </a:p>
        </p:txBody>
      </p:sp>
      <p:sp>
        <p:nvSpPr>
          <p:cNvPr id="41" name="Text 36"/>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F1D"/>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262D29"/>
          </a:solidFill>
          <a:ln w="15875">
            <a:solidFill>
              <a:srgbClr val="FFFFFF"/>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6</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A9B5AE"/>
                </a:solidFill>
                <a:latin typeface="Calibri" pitchFamily="34" charset="0"/>
                <a:ea typeface="Calibri" pitchFamily="34" charset="-122"/>
                <a:cs typeface="Calibri" pitchFamily="34" charset="-120"/>
              </a:rPr>
              <a:t>CONCLUSION</a:t>
            </a:r>
            <a:endParaRPr lang="en-US" sz="1100" dirty="0"/>
          </a:p>
        </p:txBody>
      </p:sp>
      <p:sp>
        <p:nvSpPr>
          <p:cNvPr id="5" name="Text 3"/>
          <p:cNvSpPr txBox="1"/>
          <p:nvPr/>
        </p:nvSpPr>
        <p:spPr>
          <a:xfrm>
            <a:off x="548640" y="731520"/>
            <a:ext cx="11094415" cy="603504"/>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6" name="Text 4"/>
          <p:cNvSpPr txBox="1"/>
          <p:nvPr/>
        </p:nvSpPr>
        <p:spPr>
          <a:xfrm>
            <a:off x="548640" y="1417320"/>
            <a:ext cx="10607040" cy="731520"/>
          </a:xfrm>
          <a:prstGeom prst="rect">
            <a:avLst/>
          </a:prstGeom>
          <a:noFill/>
          <a:ln/>
        </p:spPr>
        <p:txBody>
          <a:bodyPr wrap="square" lIns="0" tIns="0" rIns="0" bIns="0" rtlCol="0" anchor="t"/>
          <a:lstStyle/>
          <a:p>
            <a:pPr indent="0" marL="0">
              <a:buNone/>
            </a:pPr>
            <a:r>
              <a:rPr lang="en-US" sz="1500" dirty="0">
                <a:solidFill>
                  <a:srgbClr val="C9D3CD"/>
                </a:solidFill>
                <a:latin typeface="Calibri" pitchFamily="34" charset="0"/>
                <a:ea typeface="Calibri" pitchFamily="34" charset="-122"/>
                <a:cs typeface="Calibri" pitchFamily="34" charset="-120"/>
              </a:rPr>
              <a:t>A paradigm is a way of organising a program. Procedural programming is about the steps, event-driven programming is about when the code runs, and object-oriented programming is about how the code and data are grouped together.</a:t>
            </a:r>
            <a:endParaRPr lang="en-US" sz="1500" dirty="0"/>
          </a:p>
        </p:txBody>
      </p:sp>
      <p:sp>
        <p:nvSpPr>
          <p:cNvPr id="7" name="Shape 5"/>
          <p:cNvSpPr/>
          <p:nvPr/>
        </p:nvSpPr>
        <p:spPr>
          <a:xfrm>
            <a:off x="548640" y="2286000"/>
            <a:ext cx="3545738" cy="2633472"/>
          </a:xfrm>
          <a:prstGeom prst="roundRect">
            <a:avLst>
              <a:gd name="adj" fmla="val 4167"/>
            </a:avLst>
          </a:prstGeom>
          <a:solidFill>
            <a:srgbClr val="262D29"/>
          </a:solidFill>
          <a:ln w="12700">
            <a:solidFill>
              <a:srgbClr val="3A4440"/>
            </a:solidFill>
            <a:prstDash val="solid"/>
          </a:ln>
        </p:spPr>
      </p:sp>
      <p:sp>
        <p:nvSpPr>
          <p:cNvPr id="8" name="Shape 6"/>
          <p:cNvSpPr/>
          <p:nvPr/>
        </p:nvSpPr>
        <p:spPr>
          <a:xfrm>
            <a:off x="749808" y="2468880"/>
            <a:ext cx="457200" cy="457200"/>
          </a:xfrm>
          <a:prstGeom prst="ellipse">
            <a:avLst/>
          </a:prstGeom>
          <a:solidFill>
            <a:srgbClr val="CADDF5"/>
          </a:solidFill>
          <a:ln w="31750">
            <a:solidFill>
              <a:srgbClr val="2A78D6"/>
            </a:solidFill>
            <a:prstDash val="solid"/>
          </a:ln>
        </p:spPr>
      </p:sp>
      <p:pic>
        <p:nvPicPr>
          <p:cNvPr id="9" name="Image 0" descr="Procedural icon">    </p:cNvPr>
          <p:cNvPicPr>
            <a:picLocks noChangeAspect="1"/>
          </p:cNvPicPr>
          <p:nvPr/>
        </p:nvPicPr>
        <p:blipFill>
          <a:blip r:embed="rId1"/>
          <a:stretch>
            <a:fillRect/>
          </a:stretch>
        </p:blipFill>
        <p:spPr>
          <a:xfrm>
            <a:off x="859536" y="2578608"/>
            <a:ext cx="237744" cy="237744"/>
          </a:xfrm>
          <a:prstGeom prst="rect">
            <a:avLst/>
          </a:prstGeom>
        </p:spPr>
      </p:pic>
      <p:sp>
        <p:nvSpPr>
          <p:cNvPr id="10" name="Text 7"/>
          <p:cNvSpPr txBox="1"/>
          <p:nvPr/>
        </p:nvSpPr>
        <p:spPr>
          <a:xfrm>
            <a:off x="1335024" y="2468880"/>
            <a:ext cx="2631338"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Procedural</a:t>
            </a:r>
            <a:endParaRPr lang="en-US" sz="1700" dirty="0"/>
          </a:p>
        </p:txBody>
      </p:sp>
      <p:sp>
        <p:nvSpPr>
          <p:cNvPr id="11" name="Text 8"/>
          <p:cNvSpPr txBox="1"/>
          <p:nvPr/>
        </p:nvSpPr>
        <p:spPr>
          <a:xfrm>
            <a:off x="749808" y="3072384"/>
            <a:ext cx="3179978" cy="566928"/>
          </a:xfrm>
          <a:prstGeom prst="rect">
            <a:avLst/>
          </a:prstGeom>
          <a:noFill/>
          <a:ln/>
        </p:spPr>
        <p:txBody>
          <a:bodyPr wrap="square" lIns="0" tIns="0" rIns="0" bIns="0" rtlCol="0" anchor="t"/>
          <a:lstStyle/>
          <a:p>
            <a:pPr indent="0" marL="0">
              <a:buNone/>
            </a:pPr>
            <a:r>
              <a:rPr lang="en-US" sz="900" spc="120" kern="0" dirty="0">
                <a:solidFill>
                  <a:srgbClr val="A9B5AE"/>
                </a:solidFill>
                <a:latin typeface="Calibri" pitchFamily="34" charset="0"/>
                <a:ea typeface="Calibri" pitchFamily="34" charset="-122"/>
                <a:cs typeface="Calibri" pitchFamily="34" charset="-120"/>
              </a:rPr>
              <a:t>IN ONE LINE</a:t>
            </a:r>
            <a:endParaRPr lang="en-US" sz="1400" dirty="0"/>
          </a:p>
          <a:p>
            <a:pPr indent="0" marL="0">
              <a:buNone/>
            </a:pPr>
            <a:r>
              <a:rPr lang="en-US" sz="1250" dirty="0">
                <a:solidFill>
                  <a:srgbClr val="FFFFFF"/>
                </a:solidFill>
                <a:latin typeface="Calibri" pitchFamily="34" charset="0"/>
                <a:ea typeface="Calibri" pitchFamily="34" charset="-122"/>
                <a:cs typeface="Calibri" pitchFamily="34" charset="-120"/>
              </a:rPr>
              <a:t>Steps in order, grouped into functions.</a:t>
            </a:r>
            <a:endParaRPr lang="en-US" sz="1400" dirty="0"/>
          </a:p>
        </p:txBody>
      </p:sp>
      <p:sp>
        <p:nvSpPr>
          <p:cNvPr id="12" name="Text 9"/>
          <p:cNvSpPr txBox="1"/>
          <p:nvPr/>
        </p:nvSpPr>
        <p:spPr>
          <a:xfrm>
            <a:off x="749808" y="3675888"/>
            <a:ext cx="3179978" cy="566928"/>
          </a:xfrm>
          <a:prstGeom prst="rect">
            <a:avLst/>
          </a:prstGeom>
          <a:noFill/>
          <a:ln/>
        </p:spPr>
        <p:txBody>
          <a:bodyPr wrap="square" lIns="0" tIns="0" rIns="0" bIns="0" rtlCol="0" anchor="t"/>
          <a:lstStyle/>
          <a:p>
            <a:pPr indent="0" marL="0">
              <a:buNone/>
            </a:pPr>
            <a:r>
              <a:rPr lang="en-US" sz="900" spc="120" kern="0" dirty="0">
                <a:solidFill>
                  <a:srgbClr val="A9B5AE"/>
                </a:solidFill>
                <a:latin typeface="Calibri" pitchFamily="34" charset="0"/>
                <a:ea typeface="Calibri" pitchFamily="34" charset="-122"/>
                <a:cs typeface="Calibri" pitchFamily="34" charset="-120"/>
              </a:rPr>
              <a:t>THINK OF IT AS</a:t>
            </a:r>
            <a:endParaRPr lang="en-US" sz="1400" dirty="0"/>
          </a:p>
          <a:p>
            <a:pPr indent="0" marL="0">
              <a:buNone/>
            </a:pPr>
            <a:r>
              <a:rPr lang="en-US" sz="1250" dirty="0">
                <a:solidFill>
                  <a:srgbClr val="FFFFFF"/>
                </a:solidFill>
                <a:latin typeface="Calibri" pitchFamily="34" charset="0"/>
                <a:ea typeface="Calibri" pitchFamily="34" charset="-122"/>
                <a:cs typeface="Calibri" pitchFamily="34" charset="-120"/>
              </a:rPr>
              <a:t>A recipe.</a:t>
            </a:r>
            <a:endParaRPr lang="en-US" sz="1400" dirty="0"/>
          </a:p>
        </p:txBody>
      </p:sp>
      <p:sp>
        <p:nvSpPr>
          <p:cNvPr id="13" name="Text 10"/>
          <p:cNvSpPr txBox="1"/>
          <p:nvPr/>
        </p:nvSpPr>
        <p:spPr>
          <a:xfrm>
            <a:off x="749808" y="4279392"/>
            <a:ext cx="3179978" cy="566928"/>
          </a:xfrm>
          <a:prstGeom prst="rect">
            <a:avLst/>
          </a:prstGeom>
          <a:noFill/>
          <a:ln/>
        </p:spPr>
        <p:txBody>
          <a:bodyPr wrap="square" lIns="0" tIns="0" rIns="0" bIns="0" rtlCol="0" anchor="t"/>
          <a:lstStyle/>
          <a:p>
            <a:pPr indent="0" marL="0">
              <a:buNone/>
            </a:pPr>
            <a:r>
              <a:rPr lang="en-US" sz="900" spc="120" kern="0" dirty="0">
                <a:solidFill>
                  <a:srgbClr val="A9B5AE"/>
                </a:solidFill>
                <a:latin typeface="Calibri" pitchFamily="34" charset="0"/>
                <a:ea typeface="Calibri" pitchFamily="34" charset="-122"/>
                <a:cs typeface="Calibri" pitchFamily="34" charset="-120"/>
              </a:rPr>
              <a:t>BEST FOR</a:t>
            </a:r>
            <a:endParaRPr lang="en-US" sz="1400" dirty="0"/>
          </a:p>
          <a:p>
            <a:pPr indent="0" marL="0">
              <a:buNone/>
            </a:pPr>
            <a:r>
              <a:rPr lang="en-US" sz="1250" dirty="0">
                <a:solidFill>
                  <a:srgbClr val="FFFFFF"/>
                </a:solidFill>
                <a:latin typeface="Calibri" pitchFamily="34" charset="0"/>
                <a:ea typeface="Calibri" pitchFamily="34" charset="-122"/>
                <a:cs typeface="Calibri" pitchFamily="34" charset="-120"/>
              </a:rPr>
              <a:t>Small programs, scripts and calculations.</a:t>
            </a:r>
            <a:endParaRPr lang="en-US" sz="1400" dirty="0"/>
          </a:p>
        </p:txBody>
      </p:sp>
      <p:sp>
        <p:nvSpPr>
          <p:cNvPr id="14" name="Shape 11"/>
          <p:cNvSpPr/>
          <p:nvPr/>
        </p:nvSpPr>
        <p:spPr>
          <a:xfrm>
            <a:off x="4322978" y="2286000"/>
            <a:ext cx="3545738" cy="2633472"/>
          </a:xfrm>
          <a:prstGeom prst="roundRect">
            <a:avLst>
              <a:gd name="adj" fmla="val 4167"/>
            </a:avLst>
          </a:prstGeom>
          <a:solidFill>
            <a:srgbClr val="262D29"/>
          </a:solidFill>
          <a:ln w="12700">
            <a:solidFill>
              <a:srgbClr val="3A4440"/>
            </a:solidFill>
            <a:prstDash val="solid"/>
          </a:ln>
        </p:spPr>
      </p:sp>
      <p:sp>
        <p:nvSpPr>
          <p:cNvPr id="15" name="Shape 12"/>
          <p:cNvSpPr/>
          <p:nvPr/>
        </p:nvSpPr>
        <p:spPr>
          <a:xfrm>
            <a:off x="4524146" y="2468880"/>
            <a:ext cx="457200" cy="457200"/>
          </a:xfrm>
          <a:prstGeom prst="ellipse">
            <a:avLst/>
          </a:prstGeom>
          <a:solidFill>
            <a:srgbClr val="F7E1BF"/>
          </a:solidFill>
          <a:ln w="31750">
            <a:solidFill>
              <a:srgbClr val="DF8700"/>
            </a:solidFill>
            <a:prstDash val="solid"/>
          </a:ln>
        </p:spPr>
      </p:sp>
      <p:pic>
        <p:nvPicPr>
          <p:cNvPr id="16" name="Image 1" descr="Event-driven icon">    </p:cNvPr>
          <p:cNvPicPr>
            <a:picLocks noChangeAspect="1"/>
          </p:cNvPicPr>
          <p:nvPr/>
        </p:nvPicPr>
        <p:blipFill>
          <a:blip r:embed="rId2"/>
          <a:stretch>
            <a:fillRect/>
          </a:stretch>
        </p:blipFill>
        <p:spPr>
          <a:xfrm>
            <a:off x="4633874" y="2578608"/>
            <a:ext cx="237744" cy="237744"/>
          </a:xfrm>
          <a:prstGeom prst="rect">
            <a:avLst/>
          </a:prstGeom>
        </p:spPr>
      </p:pic>
      <p:sp>
        <p:nvSpPr>
          <p:cNvPr id="17" name="Text 13"/>
          <p:cNvSpPr txBox="1"/>
          <p:nvPr/>
        </p:nvSpPr>
        <p:spPr>
          <a:xfrm>
            <a:off x="5109362" y="2468880"/>
            <a:ext cx="2631338"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Event-driven</a:t>
            </a:r>
            <a:endParaRPr lang="en-US" sz="1700" dirty="0"/>
          </a:p>
        </p:txBody>
      </p:sp>
      <p:sp>
        <p:nvSpPr>
          <p:cNvPr id="18" name="Text 14"/>
          <p:cNvSpPr txBox="1"/>
          <p:nvPr/>
        </p:nvSpPr>
        <p:spPr>
          <a:xfrm>
            <a:off x="4524146" y="3072384"/>
            <a:ext cx="3179978" cy="566928"/>
          </a:xfrm>
          <a:prstGeom prst="rect">
            <a:avLst/>
          </a:prstGeom>
          <a:noFill/>
          <a:ln/>
        </p:spPr>
        <p:txBody>
          <a:bodyPr wrap="square" lIns="0" tIns="0" rIns="0" bIns="0" rtlCol="0" anchor="t"/>
          <a:lstStyle/>
          <a:p>
            <a:pPr indent="0" marL="0">
              <a:buNone/>
            </a:pPr>
            <a:r>
              <a:rPr lang="en-US" sz="900" spc="120" kern="0" dirty="0">
                <a:solidFill>
                  <a:srgbClr val="A9B5AE"/>
                </a:solidFill>
                <a:latin typeface="Calibri" pitchFamily="34" charset="0"/>
                <a:ea typeface="Calibri" pitchFamily="34" charset="-122"/>
                <a:cs typeface="Calibri" pitchFamily="34" charset="-120"/>
              </a:rPr>
              <a:t>IN ONE LINE</a:t>
            </a:r>
            <a:endParaRPr lang="en-US" sz="1400" dirty="0"/>
          </a:p>
          <a:p>
            <a:pPr indent="0" marL="0">
              <a:buNone/>
            </a:pPr>
            <a:r>
              <a:rPr lang="en-US" sz="1250" dirty="0">
                <a:solidFill>
                  <a:srgbClr val="FFFFFF"/>
                </a:solidFill>
                <a:latin typeface="Calibri" pitchFamily="34" charset="0"/>
                <a:ea typeface="Calibri" pitchFamily="34" charset="-122"/>
                <a:cs typeface="Calibri" pitchFamily="34" charset="-120"/>
              </a:rPr>
              <a:t>Waits for events and runs a handler for each one.</a:t>
            </a:r>
            <a:endParaRPr lang="en-US" sz="1400" dirty="0"/>
          </a:p>
        </p:txBody>
      </p:sp>
      <p:sp>
        <p:nvSpPr>
          <p:cNvPr id="19" name="Text 15"/>
          <p:cNvSpPr txBox="1"/>
          <p:nvPr/>
        </p:nvSpPr>
        <p:spPr>
          <a:xfrm>
            <a:off x="4524146" y="3675888"/>
            <a:ext cx="3179978" cy="566928"/>
          </a:xfrm>
          <a:prstGeom prst="rect">
            <a:avLst/>
          </a:prstGeom>
          <a:noFill/>
          <a:ln/>
        </p:spPr>
        <p:txBody>
          <a:bodyPr wrap="square" lIns="0" tIns="0" rIns="0" bIns="0" rtlCol="0" anchor="t"/>
          <a:lstStyle/>
          <a:p>
            <a:pPr indent="0" marL="0">
              <a:buNone/>
            </a:pPr>
            <a:r>
              <a:rPr lang="en-US" sz="900" spc="120" kern="0" dirty="0">
                <a:solidFill>
                  <a:srgbClr val="A9B5AE"/>
                </a:solidFill>
                <a:latin typeface="Calibri" pitchFamily="34" charset="0"/>
                <a:ea typeface="Calibri" pitchFamily="34" charset="-122"/>
                <a:cs typeface="Calibri" pitchFamily="34" charset="-120"/>
              </a:rPr>
              <a:t>THINK OF IT AS</a:t>
            </a:r>
            <a:endParaRPr lang="en-US" sz="1400" dirty="0"/>
          </a:p>
          <a:p>
            <a:pPr indent="0" marL="0">
              <a:buNone/>
            </a:pPr>
            <a:r>
              <a:rPr lang="en-US" sz="1250" dirty="0">
                <a:solidFill>
                  <a:srgbClr val="FFFFFF"/>
                </a:solidFill>
                <a:latin typeface="Calibri" pitchFamily="34" charset="0"/>
                <a:ea typeface="Calibri" pitchFamily="34" charset="-122"/>
                <a:cs typeface="Calibri" pitchFamily="34" charset="-120"/>
              </a:rPr>
              <a:t>A shop assistant waiting for customers.</a:t>
            </a:r>
            <a:endParaRPr lang="en-US" sz="1400" dirty="0"/>
          </a:p>
        </p:txBody>
      </p:sp>
      <p:sp>
        <p:nvSpPr>
          <p:cNvPr id="20" name="Text 16"/>
          <p:cNvSpPr txBox="1"/>
          <p:nvPr/>
        </p:nvSpPr>
        <p:spPr>
          <a:xfrm>
            <a:off x="4524146" y="4279392"/>
            <a:ext cx="3179978" cy="566928"/>
          </a:xfrm>
          <a:prstGeom prst="rect">
            <a:avLst/>
          </a:prstGeom>
          <a:noFill/>
          <a:ln/>
        </p:spPr>
        <p:txBody>
          <a:bodyPr wrap="square" lIns="0" tIns="0" rIns="0" bIns="0" rtlCol="0" anchor="t"/>
          <a:lstStyle/>
          <a:p>
            <a:pPr indent="0" marL="0">
              <a:buNone/>
            </a:pPr>
            <a:r>
              <a:rPr lang="en-US" sz="900" spc="120" kern="0" dirty="0">
                <a:solidFill>
                  <a:srgbClr val="A9B5AE"/>
                </a:solidFill>
                <a:latin typeface="Calibri" pitchFamily="34" charset="0"/>
                <a:ea typeface="Calibri" pitchFamily="34" charset="-122"/>
                <a:cs typeface="Calibri" pitchFamily="34" charset="-120"/>
              </a:rPr>
              <a:t>BEST FOR</a:t>
            </a:r>
            <a:endParaRPr lang="en-US" sz="1400" dirty="0"/>
          </a:p>
          <a:p>
            <a:pPr indent="0" marL="0">
              <a:buNone/>
            </a:pPr>
            <a:r>
              <a:rPr lang="en-US" sz="1250" dirty="0">
                <a:solidFill>
                  <a:srgbClr val="FFFFFF"/>
                </a:solidFill>
                <a:latin typeface="Calibri" pitchFamily="34" charset="0"/>
                <a:ea typeface="Calibri" pitchFamily="34" charset="-122"/>
                <a:cs typeface="Calibri" pitchFamily="34" charset="-120"/>
              </a:rPr>
              <a:t>Anything with buttons, keys or sensors.</a:t>
            </a:r>
            <a:endParaRPr lang="en-US" sz="1400" dirty="0"/>
          </a:p>
        </p:txBody>
      </p:sp>
      <p:sp>
        <p:nvSpPr>
          <p:cNvPr id="21" name="Shape 17"/>
          <p:cNvSpPr/>
          <p:nvPr/>
        </p:nvSpPr>
        <p:spPr>
          <a:xfrm>
            <a:off x="8097317" y="2286000"/>
            <a:ext cx="3545738" cy="2633472"/>
          </a:xfrm>
          <a:prstGeom prst="roundRect">
            <a:avLst>
              <a:gd name="adj" fmla="val 4167"/>
            </a:avLst>
          </a:prstGeom>
          <a:solidFill>
            <a:srgbClr val="262D29"/>
          </a:solidFill>
          <a:ln w="12700">
            <a:solidFill>
              <a:srgbClr val="3A4440"/>
            </a:solidFill>
            <a:prstDash val="solid"/>
          </a:ln>
        </p:spPr>
      </p:sp>
      <p:sp>
        <p:nvSpPr>
          <p:cNvPr id="22" name="Shape 18"/>
          <p:cNvSpPr/>
          <p:nvPr/>
        </p:nvSpPr>
        <p:spPr>
          <a:xfrm>
            <a:off x="8298485" y="2468880"/>
            <a:ext cx="457200" cy="457200"/>
          </a:xfrm>
          <a:prstGeom prst="ellipse">
            <a:avLst/>
          </a:prstGeom>
          <a:solidFill>
            <a:srgbClr val="F0D0E6"/>
          </a:solidFill>
          <a:ln w="31750">
            <a:solidFill>
              <a:srgbClr val="C2449A"/>
            </a:solidFill>
            <a:prstDash val="solid"/>
          </a:ln>
        </p:spPr>
      </p:sp>
      <p:pic>
        <p:nvPicPr>
          <p:cNvPr id="23" name="Image 2" descr="Object-oriented icon">    </p:cNvPr>
          <p:cNvPicPr>
            <a:picLocks noChangeAspect="1"/>
          </p:cNvPicPr>
          <p:nvPr/>
        </p:nvPicPr>
        <p:blipFill>
          <a:blip r:embed="rId3"/>
          <a:stretch>
            <a:fillRect/>
          </a:stretch>
        </p:blipFill>
        <p:spPr>
          <a:xfrm>
            <a:off x="8408213" y="2578608"/>
            <a:ext cx="237744" cy="237744"/>
          </a:xfrm>
          <a:prstGeom prst="rect">
            <a:avLst/>
          </a:prstGeom>
        </p:spPr>
      </p:pic>
      <p:sp>
        <p:nvSpPr>
          <p:cNvPr id="24" name="Text 19"/>
          <p:cNvSpPr txBox="1"/>
          <p:nvPr/>
        </p:nvSpPr>
        <p:spPr>
          <a:xfrm>
            <a:off x="8883701" y="2468880"/>
            <a:ext cx="2631338"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Object-oriented</a:t>
            </a:r>
            <a:endParaRPr lang="en-US" sz="1700" dirty="0"/>
          </a:p>
        </p:txBody>
      </p:sp>
      <p:sp>
        <p:nvSpPr>
          <p:cNvPr id="25" name="Text 20"/>
          <p:cNvSpPr txBox="1"/>
          <p:nvPr/>
        </p:nvSpPr>
        <p:spPr>
          <a:xfrm>
            <a:off x="8298485" y="3072384"/>
            <a:ext cx="3179978" cy="566928"/>
          </a:xfrm>
          <a:prstGeom prst="rect">
            <a:avLst/>
          </a:prstGeom>
          <a:noFill/>
          <a:ln/>
        </p:spPr>
        <p:txBody>
          <a:bodyPr wrap="square" lIns="0" tIns="0" rIns="0" bIns="0" rtlCol="0" anchor="t"/>
          <a:lstStyle/>
          <a:p>
            <a:pPr indent="0" marL="0">
              <a:buNone/>
            </a:pPr>
            <a:r>
              <a:rPr lang="en-US" sz="900" spc="120" kern="0" dirty="0">
                <a:solidFill>
                  <a:srgbClr val="A9B5AE"/>
                </a:solidFill>
                <a:latin typeface="Calibri" pitchFamily="34" charset="0"/>
                <a:ea typeface="Calibri" pitchFamily="34" charset="-122"/>
                <a:cs typeface="Calibri" pitchFamily="34" charset="-120"/>
              </a:rPr>
              <a:t>IN ONE LINE</a:t>
            </a:r>
            <a:endParaRPr lang="en-US" sz="1400" dirty="0"/>
          </a:p>
          <a:p>
            <a:pPr indent="0" marL="0">
              <a:buNone/>
            </a:pPr>
            <a:r>
              <a:rPr lang="en-US" sz="1250" dirty="0">
                <a:solidFill>
                  <a:srgbClr val="FFFFFF"/>
                </a:solidFill>
                <a:latin typeface="Calibri" pitchFamily="34" charset="0"/>
                <a:ea typeface="Calibri" pitchFamily="34" charset="-122"/>
                <a:cs typeface="Calibri" pitchFamily="34" charset="-120"/>
              </a:rPr>
              <a:t>Objects made from classes, each with its own data and methods.</a:t>
            </a:r>
            <a:endParaRPr lang="en-US" sz="1400" dirty="0"/>
          </a:p>
        </p:txBody>
      </p:sp>
      <p:sp>
        <p:nvSpPr>
          <p:cNvPr id="26" name="Text 21"/>
          <p:cNvSpPr txBox="1"/>
          <p:nvPr/>
        </p:nvSpPr>
        <p:spPr>
          <a:xfrm>
            <a:off x="8298485" y="3675888"/>
            <a:ext cx="3179978" cy="566928"/>
          </a:xfrm>
          <a:prstGeom prst="rect">
            <a:avLst/>
          </a:prstGeom>
          <a:noFill/>
          <a:ln/>
        </p:spPr>
        <p:txBody>
          <a:bodyPr wrap="square" lIns="0" tIns="0" rIns="0" bIns="0" rtlCol="0" anchor="t"/>
          <a:lstStyle/>
          <a:p>
            <a:pPr indent="0" marL="0">
              <a:buNone/>
            </a:pPr>
            <a:r>
              <a:rPr lang="en-US" sz="900" spc="120" kern="0" dirty="0">
                <a:solidFill>
                  <a:srgbClr val="A9B5AE"/>
                </a:solidFill>
                <a:latin typeface="Calibri" pitchFamily="34" charset="0"/>
                <a:ea typeface="Calibri" pitchFamily="34" charset="-122"/>
                <a:cs typeface="Calibri" pitchFamily="34" charset="-120"/>
              </a:rPr>
              <a:t>THINK OF IT AS</a:t>
            </a:r>
            <a:endParaRPr lang="en-US" sz="1400" dirty="0"/>
          </a:p>
          <a:p>
            <a:pPr indent="0" marL="0">
              <a:buNone/>
            </a:pPr>
            <a:r>
              <a:rPr lang="en-US" sz="1250" dirty="0">
                <a:solidFill>
                  <a:srgbClr val="FFFFFF"/>
                </a:solidFill>
                <a:latin typeface="Calibri" pitchFamily="34" charset="0"/>
                <a:ea typeface="Calibri" pitchFamily="34" charset="-122"/>
                <a:cs typeface="Calibri" pitchFamily="34" charset="-120"/>
              </a:rPr>
              <a:t>The things in a bakery, each with its own job.</a:t>
            </a:r>
            <a:endParaRPr lang="en-US" sz="1400" dirty="0"/>
          </a:p>
        </p:txBody>
      </p:sp>
      <p:sp>
        <p:nvSpPr>
          <p:cNvPr id="27" name="Text 22"/>
          <p:cNvSpPr txBox="1"/>
          <p:nvPr/>
        </p:nvSpPr>
        <p:spPr>
          <a:xfrm>
            <a:off x="8298485" y="4279392"/>
            <a:ext cx="3179978" cy="566928"/>
          </a:xfrm>
          <a:prstGeom prst="rect">
            <a:avLst/>
          </a:prstGeom>
          <a:noFill/>
          <a:ln/>
        </p:spPr>
        <p:txBody>
          <a:bodyPr wrap="square" lIns="0" tIns="0" rIns="0" bIns="0" rtlCol="0" anchor="t"/>
          <a:lstStyle/>
          <a:p>
            <a:pPr indent="0" marL="0">
              <a:buNone/>
            </a:pPr>
            <a:r>
              <a:rPr lang="en-US" sz="900" spc="120" kern="0" dirty="0">
                <a:solidFill>
                  <a:srgbClr val="A9B5AE"/>
                </a:solidFill>
                <a:latin typeface="Calibri" pitchFamily="34" charset="0"/>
                <a:ea typeface="Calibri" pitchFamily="34" charset="-122"/>
                <a:cs typeface="Calibri" pitchFamily="34" charset="-120"/>
              </a:rPr>
              <a:t>BEST FOR</a:t>
            </a:r>
            <a:endParaRPr lang="en-US" sz="1400" dirty="0"/>
          </a:p>
          <a:p>
            <a:pPr indent="0" marL="0">
              <a:buNone/>
            </a:pPr>
            <a:r>
              <a:rPr lang="en-US" sz="1250" dirty="0">
                <a:solidFill>
                  <a:srgbClr val="FFFFFF"/>
                </a:solidFill>
                <a:latin typeface="Calibri" pitchFamily="34" charset="0"/>
                <a:ea typeface="Calibri" pitchFamily="34" charset="-122"/>
                <a:cs typeface="Calibri" pitchFamily="34" charset="-120"/>
              </a:rPr>
              <a:t>Big programs that need to stay organised.</a:t>
            </a:r>
            <a:endParaRPr lang="en-US" sz="1400" dirty="0"/>
          </a:p>
        </p:txBody>
      </p:sp>
      <p:sp>
        <p:nvSpPr>
          <p:cNvPr id="28" name="Text 23"/>
          <p:cNvSpPr txBox="1"/>
          <p:nvPr/>
        </p:nvSpPr>
        <p:spPr>
          <a:xfrm>
            <a:off x="548640" y="5074920"/>
            <a:ext cx="548640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Which one I would use</a:t>
            </a:r>
            <a:endParaRPr lang="en-US" sz="1500" dirty="0"/>
          </a:p>
        </p:txBody>
      </p:sp>
      <p:sp>
        <p:nvSpPr>
          <p:cNvPr id="29" name="Text 24"/>
          <p:cNvSpPr txBox="1"/>
          <p:nvPr/>
        </p:nvSpPr>
        <p:spPr>
          <a:xfrm>
            <a:off x="548640" y="5394960"/>
            <a:ext cx="11094415" cy="475488"/>
          </a:xfrm>
          <a:prstGeom prst="rect">
            <a:avLst/>
          </a:prstGeom>
          <a:noFill/>
          <a:ln/>
        </p:spPr>
        <p:txBody>
          <a:bodyPr wrap="square" lIns="0" tIns="0" rIns="0" bIns="0" rtlCol="0" anchor="t"/>
          <a:lstStyle/>
          <a:p>
            <a:pPr indent="0" marL="0">
              <a:buNone/>
            </a:pPr>
            <a:r>
              <a:rPr lang="en-US" sz="1300" dirty="0">
                <a:solidFill>
                  <a:srgbClr val="C9D3CD"/>
                </a:solidFill>
                <a:latin typeface="Calibri" pitchFamily="34" charset="0"/>
                <a:ea typeface="Calibri" pitchFamily="34" charset="-122"/>
                <a:cs typeface="Calibri" pitchFamily="34" charset="-120"/>
              </a:rPr>
              <a:t>For a quick calculation I'd write procedural code. As soon as there's a window with buttons, I need event-driven code. Once a program grows, I'd organise it into classes. In Python I can do all three in the same program, like the till on the last slide.</a:t>
            </a:r>
            <a:endParaRPr lang="en-US" sz="1300" dirty="0"/>
          </a:p>
        </p:txBody>
      </p:sp>
      <p:sp>
        <p:nvSpPr>
          <p:cNvPr id="30" name="Text 25"/>
          <p:cNvSpPr txBox="1"/>
          <p:nvPr/>
        </p:nvSpPr>
        <p:spPr>
          <a:xfrm>
            <a:off x="548640" y="5943600"/>
            <a:ext cx="11094415" cy="292608"/>
          </a:xfrm>
          <a:prstGeom prst="rect">
            <a:avLst/>
          </a:prstGeom>
          <a:noFill/>
          <a:ln/>
        </p:spPr>
        <p:txBody>
          <a:bodyPr wrap="square" lIns="0" tIns="0" rIns="0" bIns="0" rtlCol="0" anchor="ctr"/>
          <a:lstStyle/>
          <a:p>
            <a:pPr indent="0" marL="0">
              <a:buNone/>
            </a:pPr>
            <a:r>
              <a:rPr lang="en-US" sz="1350" i="1" dirty="0">
                <a:solidFill>
                  <a:srgbClr val="E19B2C"/>
                </a:solidFill>
                <a:latin typeface="Cambria" pitchFamily="34" charset="0"/>
                <a:ea typeface="Cambria" pitchFamily="34" charset="-122"/>
                <a:cs typeface="Cambria" pitchFamily="34" charset="-120"/>
              </a:rPr>
              <a:t>My opinion: learn procedural first, because the other two are built on top of it.</a:t>
            </a:r>
            <a:endParaRPr lang="en-US" sz="1350" dirty="0"/>
          </a:p>
        </p:txBody>
      </p:sp>
      <p:sp>
        <p:nvSpPr>
          <p:cNvPr id="31" name="Text 26"/>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A9B5AE"/>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A9B5A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3"/>
        </a:solidFill>
      </p:bgPr>
    </p:bg>
    <p:spTree>
      <p:nvGrpSpPr>
        <p:cNvPr id="1" name=""/>
        <p:cNvGrpSpPr/>
        <p:nvPr/>
      </p:nvGrpSpPr>
      <p:grpSpPr>
        <a:xfrm>
          <a:off x="0" y="0"/>
          <a:ext cx="0" cy="0"/>
          <a:chOff x="0" y="0"/>
          <a:chExt cx="0" cy="0"/>
        </a:xfrm>
      </p:grpSpPr>
      <p:sp>
        <p:nvSpPr>
          <p:cNvPr id="2" name="Shape 0"/>
          <p:cNvSpPr/>
          <p:nvPr/>
        </p:nvSpPr>
        <p:spPr>
          <a:xfrm>
            <a:off x="548640" y="384048"/>
            <a:ext cx="274320" cy="274320"/>
          </a:xfrm>
          <a:prstGeom prst="ellipse">
            <a:avLst/>
          </a:prstGeom>
          <a:solidFill>
            <a:srgbClr val="FFFFFF"/>
          </a:solidFill>
          <a:ln w="15875">
            <a:solidFill>
              <a:srgbClr val="1B1F1D"/>
            </a:solidFill>
            <a:prstDash val="solid"/>
          </a:ln>
        </p:spPr>
      </p:sp>
      <p:sp>
        <p:nvSpPr>
          <p:cNvPr id="3" name="Text 1"/>
          <p:cNvSpPr txBox="1"/>
          <p:nvPr/>
        </p:nvSpPr>
        <p:spPr>
          <a:xfrm>
            <a:off x="548640" y="384048"/>
            <a:ext cx="274320" cy="274320"/>
          </a:xfrm>
          <a:prstGeom prst="rect">
            <a:avLst/>
          </a:prstGeom>
          <a:noFill/>
          <a:ln/>
        </p:spPr>
        <p:txBody>
          <a:bodyPr wrap="square" lIns="0" tIns="0" rIns="0" bIns="0" rtlCol="0" anchor="ctr"/>
          <a:lstStyle/>
          <a:p>
            <a:pPr algn="ctr" indent="0" marL="0">
              <a:buNone/>
            </a:pPr>
            <a:r>
              <a:rPr lang="en-US" sz="1050" dirty="0">
                <a:solidFill>
                  <a:srgbClr val="1B1F1D"/>
                </a:solidFill>
                <a:latin typeface="Consolas" pitchFamily="34" charset="0"/>
                <a:ea typeface="Consolas" pitchFamily="34" charset="-122"/>
                <a:cs typeface="Consolas" pitchFamily="34" charset="-120"/>
              </a:rPr>
              <a:t>7</a:t>
            </a:r>
            <a:endParaRPr lang="en-US" sz="1050" dirty="0"/>
          </a:p>
        </p:txBody>
      </p:sp>
      <p:sp>
        <p:nvSpPr>
          <p:cNvPr id="4" name="Text 2"/>
          <p:cNvSpPr txBox="1"/>
          <p:nvPr/>
        </p:nvSpPr>
        <p:spPr>
          <a:xfrm>
            <a:off x="932688" y="384048"/>
            <a:ext cx="7315200" cy="274320"/>
          </a:xfrm>
          <a:prstGeom prst="rect">
            <a:avLst/>
          </a:prstGeom>
          <a:noFill/>
          <a:ln/>
        </p:spPr>
        <p:txBody>
          <a:bodyPr wrap="square" lIns="0" tIns="0" rIns="0" bIns="0" rtlCol="0" anchor="ctr"/>
          <a:lstStyle/>
          <a:p>
            <a:pPr indent="0" marL="0">
              <a:buNone/>
            </a:pPr>
            <a:r>
              <a:rPr lang="en-US" sz="1100" spc="150" kern="0" dirty="0">
                <a:solidFill>
                  <a:srgbClr val="4A534E"/>
                </a:solidFill>
                <a:latin typeface="Calibri" pitchFamily="34" charset="0"/>
                <a:ea typeface="Calibri" pitchFamily="34" charset="-122"/>
                <a:cs typeface="Calibri" pitchFamily="34" charset="-120"/>
              </a:rPr>
              <a:t>REFERENCES</a:t>
            </a:r>
            <a:endParaRPr lang="en-US" sz="1100" dirty="0"/>
          </a:p>
        </p:txBody>
      </p:sp>
      <p:sp>
        <p:nvSpPr>
          <p:cNvPr id="5" name="Text 3"/>
          <p:cNvSpPr txBox="1"/>
          <p:nvPr/>
        </p:nvSpPr>
        <p:spPr>
          <a:xfrm>
            <a:off x="548640" y="731520"/>
            <a:ext cx="11094415" cy="603504"/>
          </a:xfrm>
          <a:prstGeom prst="rect">
            <a:avLst/>
          </a:prstGeom>
          <a:noFill/>
          <a:ln/>
        </p:spPr>
        <p:txBody>
          <a:bodyPr wrap="square" lIns="0" tIns="0" rIns="0" bIns="0" rtlCol="0" anchor="ctr"/>
          <a:lstStyle/>
          <a:p>
            <a:pPr indent="0" marL="0">
              <a:buNone/>
            </a:pPr>
            <a:r>
              <a:rPr lang="en-US" sz="3200" b="1" dirty="0">
                <a:solidFill>
                  <a:srgbClr val="1B1F1D"/>
                </a:solidFill>
                <a:latin typeface="Cambria" pitchFamily="34" charset="0"/>
                <a:ea typeface="Cambria" pitchFamily="34" charset="-122"/>
                <a:cs typeface="Cambria" pitchFamily="34" charset="-120"/>
              </a:rPr>
              <a:t>References</a:t>
            </a:r>
            <a:endParaRPr lang="en-US" sz="3200" dirty="0"/>
          </a:p>
        </p:txBody>
      </p:sp>
      <p:sp>
        <p:nvSpPr>
          <p:cNvPr id="6" name="Text 4"/>
          <p:cNvSpPr txBox="1"/>
          <p:nvPr/>
        </p:nvSpPr>
        <p:spPr>
          <a:xfrm>
            <a:off x="548640" y="1481328"/>
            <a:ext cx="6629400" cy="4206240"/>
          </a:xfrm>
          <a:prstGeom prst="rect">
            <a:avLst/>
          </a:prstGeom>
          <a:noFill/>
          <a:ln/>
        </p:spPr>
        <p:txBody>
          <a:bodyPr wrap="square" lIns="0" tIns="0" rIns="0" bIns="0" rtlCol="0" anchor="t"/>
          <a:lstStyle/>
          <a:p>
            <a:pPr indent="0" marL="0">
              <a:spcAft>
                <a:spcPts val="500"/>
              </a:spcAft>
              <a:buNone/>
            </a:pPr>
            <a:r>
              <a:rPr lang="en-US" sz="1050" dirty="0">
                <a:solidFill>
                  <a:srgbClr val="1B1F1D"/>
                </a:solidFill>
                <a:latin typeface="Calibri" pitchFamily="34" charset="0"/>
                <a:ea typeface="Calibri" pitchFamily="34" charset="-122"/>
                <a:cs typeface="Calibri" pitchFamily="34" charset="-120"/>
              </a:rPr>
              <a:t>Booch, G., Maksimchuk, R.A., Engle, M.W., Young, B.J., Conallen, J. and Houston, K.A. (2007) </a:t>
            </a:r>
            <a:r>
              <a:rPr lang="en-US" sz="1050" i="1" dirty="0">
                <a:solidFill>
                  <a:srgbClr val="1B1F1D"/>
                </a:solidFill>
                <a:latin typeface="Calibri" pitchFamily="34" charset="0"/>
                <a:ea typeface="Calibri" pitchFamily="34" charset="-122"/>
                <a:cs typeface="Calibri" pitchFamily="34" charset="-120"/>
              </a:rPr>
              <a:t>Object-oriented analysis and design with applications</a:t>
            </a:r>
            <a:r>
              <a:rPr lang="en-US" sz="1050" dirty="0">
                <a:solidFill>
                  <a:srgbClr val="1B1F1D"/>
                </a:solidFill>
                <a:latin typeface="Calibri" pitchFamily="34" charset="0"/>
                <a:ea typeface="Calibri" pitchFamily="34" charset="-122"/>
                <a:cs typeface="Calibri" pitchFamily="34" charset="-120"/>
              </a:rPr>
              <a:t>. 3rd edn. Upper Saddle River, NJ: Addison-Wesley.</a:t>
            </a:r>
            <a:endParaRPr lang="en-US" sz="1400" dirty="0"/>
          </a:p>
          <a:p>
            <a:pPr indent="0" marL="0">
              <a:spcAft>
                <a:spcPts val="500"/>
              </a:spcAft>
              <a:buNone/>
            </a:pPr>
            <a:r>
              <a:rPr lang="en-US" sz="1050" dirty="0">
                <a:solidFill>
                  <a:srgbClr val="1B1F1D"/>
                </a:solidFill>
                <a:latin typeface="Calibri" pitchFamily="34" charset="0"/>
                <a:ea typeface="Calibri" pitchFamily="34" charset="-122"/>
                <a:cs typeface="Calibri" pitchFamily="34" charset="-120"/>
              </a:rPr>
              <a:t>Kernighan, B.W. and Ritchie, D.M. (1988) </a:t>
            </a:r>
            <a:r>
              <a:rPr lang="en-US" sz="1050" i="1" dirty="0">
                <a:solidFill>
                  <a:srgbClr val="1B1F1D"/>
                </a:solidFill>
                <a:latin typeface="Calibri" pitchFamily="34" charset="0"/>
                <a:ea typeface="Calibri" pitchFamily="34" charset="-122"/>
                <a:cs typeface="Calibri" pitchFamily="34" charset="-120"/>
              </a:rPr>
              <a:t>The C programming language</a:t>
            </a:r>
            <a:r>
              <a:rPr lang="en-US" sz="1050" dirty="0">
                <a:solidFill>
                  <a:srgbClr val="1B1F1D"/>
                </a:solidFill>
                <a:latin typeface="Calibri" pitchFamily="34" charset="0"/>
                <a:ea typeface="Calibri" pitchFamily="34" charset="-122"/>
                <a:cs typeface="Calibri" pitchFamily="34" charset="-120"/>
              </a:rPr>
              <a:t>. 2nd edn. Englewood Cliffs, NJ: Prentice Hall.</a:t>
            </a:r>
            <a:endParaRPr lang="en-US" sz="1400" dirty="0"/>
          </a:p>
          <a:p>
            <a:pPr indent="0" marL="0">
              <a:spcAft>
                <a:spcPts val="500"/>
              </a:spcAft>
              <a:buNone/>
            </a:pPr>
            <a:r>
              <a:rPr lang="en-US" sz="1050" dirty="0">
                <a:solidFill>
                  <a:srgbClr val="1B1F1D"/>
                </a:solidFill>
                <a:latin typeface="Calibri" pitchFamily="34" charset="0"/>
                <a:ea typeface="Calibri" pitchFamily="34" charset="-122"/>
                <a:cs typeface="Calibri" pitchFamily="34" charset="-120"/>
              </a:rPr>
              <a:t>MDN Web Docs (no date a) </a:t>
            </a:r>
            <a:r>
              <a:rPr lang="en-US" sz="1050" i="1" dirty="0">
                <a:solidFill>
                  <a:srgbClr val="1B1F1D"/>
                </a:solidFill>
                <a:latin typeface="Calibri" pitchFamily="34" charset="0"/>
                <a:ea typeface="Calibri" pitchFamily="34" charset="-122"/>
                <a:cs typeface="Calibri" pitchFamily="34" charset="-120"/>
              </a:rPr>
              <a:t>Introduction to events</a:t>
            </a:r>
            <a:r>
              <a:rPr lang="en-US" sz="1050" dirty="0">
                <a:solidFill>
                  <a:srgbClr val="1B1F1D"/>
                </a:solidFill>
                <a:latin typeface="Calibri" pitchFamily="34" charset="0"/>
                <a:ea typeface="Calibri" pitchFamily="34" charset="-122"/>
                <a:cs typeface="Calibri" pitchFamily="34" charset="-120"/>
              </a:rPr>
              <a:t>. Available at: </a:t>
            </a:r>
            <a:r>
              <a:rPr lang="en-US" sz="1050" u="sng" dirty="0">
                <a:solidFill>
                  <a:srgbClr val="1F5FB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https://developer.mozilla.org/en-US/docs/Learn_web_development/Core/Scripting/Events</a:t>
            </a:r>
            <a:r>
              <a:rPr lang="en-US" sz="1050" dirty="0">
                <a:solidFill>
                  <a:srgbClr val="1B1F1D"/>
                </a:solidFill>
                <a:latin typeface="Calibri" pitchFamily="34" charset="0"/>
                <a:ea typeface="Calibri" pitchFamily="34" charset="-122"/>
                <a:cs typeface="Calibri" pitchFamily="34" charset="-120"/>
              </a:rPr>
              <a:t> (Accessed: 1 October 2026).</a:t>
            </a:r>
            <a:endParaRPr lang="en-US" sz="1400" dirty="0"/>
          </a:p>
          <a:p>
            <a:pPr indent="0" marL="0">
              <a:spcAft>
                <a:spcPts val="500"/>
              </a:spcAft>
              <a:buNone/>
            </a:pPr>
            <a:r>
              <a:rPr lang="en-US" sz="1050" dirty="0">
                <a:solidFill>
                  <a:srgbClr val="1B1F1D"/>
                </a:solidFill>
                <a:latin typeface="Calibri" pitchFamily="34" charset="0"/>
                <a:ea typeface="Calibri" pitchFamily="34" charset="-122"/>
                <a:cs typeface="Calibri" pitchFamily="34" charset="-120"/>
              </a:rPr>
              <a:t>MDN Web Docs (no date b) </a:t>
            </a:r>
            <a:r>
              <a:rPr lang="en-US" sz="1050" i="1" dirty="0">
                <a:solidFill>
                  <a:srgbClr val="1B1F1D"/>
                </a:solidFill>
                <a:latin typeface="Calibri" pitchFamily="34" charset="0"/>
                <a:ea typeface="Calibri" pitchFamily="34" charset="-122"/>
                <a:cs typeface="Calibri" pitchFamily="34" charset="-120"/>
              </a:rPr>
              <a:t>EventTarget: addEventListener() method</a:t>
            </a:r>
            <a:r>
              <a:rPr lang="en-US" sz="1050" dirty="0">
                <a:solidFill>
                  <a:srgbClr val="1B1F1D"/>
                </a:solidFill>
                <a:latin typeface="Calibri" pitchFamily="34" charset="0"/>
                <a:ea typeface="Calibri" pitchFamily="34" charset="-122"/>
                <a:cs typeface="Calibri" pitchFamily="34" charset="-120"/>
              </a:rPr>
              <a:t>. Available at: </a:t>
            </a:r>
            <a:r>
              <a:rPr lang="en-US" sz="1050" u="sng" dirty="0">
                <a:solidFill>
                  <a:srgbClr val="1F5FB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https://developer.mozilla.org/en-US/docs/Web/API/EventTarget/addEventListener</a:t>
            </a:r>
            <a:r>
              <a:rPr lang="en-US" sz="1050" dirty="0">
                <a:solidFill>
                  <a:srgbClr val="1B1F1D"/>
                </a:solidFill>
                <a:latin typeface="Calibri" pitchFamily="34" charset="0"/>
                <a:ea typeface="Calibri" pitchFamily="34" charset="-122"/>
                <a:cs typeface="Calibri" pitchFamily="34" charset="-120"/>
              </a:rPr>
              <a:t> (Accessed: 1 October 2026).</a:t>
            </a:r>
            <a:endParaRPr lang="en-US" sz="1400" dirty="0"/>
          </a:p>
          <a:p>
            <a:pPr indent="0" marL="0">
              <a:spcAft>
                <a:spcPts val="500"/>
              </a:spcAft>
              <a:buNone/>
            </a:pPr>
            <a:r>
              <a:rPr lang="en-US" sz="1050" dirty="0">
                <a:solidFill>
                  <a:srgbClr val="1B1F1D"/>
                </a:solidFill>
                <a:latin typeface="Calibri" pitchFamily="34" charset="0"/>
                <a:ea typeface="Calibri" pitchFamily="34" charset="-122"/>
                <a:cs typeface="Calibri" pitchFamily="34" charset="-120"/>
              </a:rPr>
              <a:t>Oracle (no date) </a:t>
            </a:r>
            <a:r>
              <a:rPr lang="en-US" sz="1050" i="1" dirty="0">
                <a:solidFill>
                  <a:srgbClr val="1B1F1D"/>
                </a:solidFill>
                <a:latin typeface="Calibri" pitchFamily="34" charset="0"/>
                <a:ea typeface="Calibri" pitchFamily="34" charset="-122"/>
                <a:cs typeface="Calibri" pitchFamily="34" charset="-120"/>
              </a:rPr>
              <a:t>The Java tutorials: object-oriented programming concepts</a:t>
            </a:r>
            <a:r>
              <a:rPr lang="en-US" sz="1050" dirty="0">
                <a:solidFill>
                  <a:srgbClr val="1B1F1D"/>
                </a:solidFill>
                <a:latin typeface="Calibri" pitchFamily="34" charset="0"/>
                <a:ea typeface="Calibri" pitchFamily="34" charset="-122"/>
                <a:cs typeface="Calibri" pitchFamily="34" charset="-120"/>
              </a:rPr>
              <a:t>. Available at: </a:t>
            </a:r>
            <a:r>
              <a:rPr lang="en-US" sz="1050" u="sng" dirty="0">
                <a:solidFill>
                  <a:srgbClr val="1F5FB4"/>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https://docs.oracle.com/javase/tutorial/java/concepts/</a:t>
            </a:r>
            <a:r>
              <a:rPr lang="en-US" sz="1050" dirty="0">
                <a:solidFill>
                  <a:srgbClr val="1B1F1D"/>
                </a:solidFill>
                <a:latin typeface="Calibri" pitchFamily="34" charset="0"/>
                <a:ea typeface="Calibri" pitchFamily="34" charset="-122"/>
                <a:cs typeface="Calibri" pitchFamily="34" charset="-120"/>
              </a:rPr>
              <a:t> (Accessed: 1 October 2026).</a:t>
            </a:r>
            <a:endParaRPr lang="en-US" sz="1400" dirty="0"/>
          </a:p>
          <a:p>
            <a:pPr indent="0" marL="0">
              <a:spcAft>
                <a:spcPts val="500"/>
              </a:spcAft>
              <a:buNone/>
            </a:pPr>
            <a:r>
              <a:rPr lang="en-US" sz="1050" dirty="0">
                <a:solidFill>
                  <a:srgbClr val="1B1F1D"/>
                </a:solidFill>
                <a:latin typeface="Calibri" pitchFamily="34" charset="0"/>
                <a:ea typeface="Calibri" pitchFamily="34" charset="-122"/>
                <a:cs typeface="Calibri" pitchFamily="34" charset="-120"/>
              </a:rPr>
              <a:t>Python Software Foundation (no date a) </a:t>
            </a:r>
            <a:r>
              <a:rPr lang="en-US" sz="1050" i="1" dirty="0">
                <a:solidFill>
                  <a:srgbClr val="1B1F1D"/>
                </a:solidFill>
                <a:latin typeface="Calibri" pitchFamily="34" charset="0"/>
                <a:ea typeface="Calibri" pitchFamily="34" charset="-122"/>
                <a:cs typeface="Calibri" pitchFamily="34" charset="-120"/>
              </a:rPr>
              <a:t>The Python tutorial: 9. Classes</a:t>
            </a:r>
            <a:r>
              <a:rPr lang="en-US" sz="1050" dirty="0">
                <a:solidFill>
                  <a:srgbClr val="1B1F1D"/>
                </a:solidFill>
                <a:latin typeface="Calibri" pitchFamily="34" charset="0"/>
                <a:ea typeface="Calibri" pitchFamily="34" charset="-122"/>
                <a:cs typeface="Calibri" pitchFamily="34" charset="-120"/>
              </a:rPr>
              <a:t>. Available at: </a:t>
            </a:r>
            <a:r>
              <a:rPr lang="en-US" sz="1050" u="sng" dirty="0">
                <a:solidFill>
                  <a:srgbClr val="1F5FB4"/>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https://docs.python.org/3/tutorial/classes.html</a:t>
            </a:r>
            <a:r>
              <a:rPr lang="en-US" sz="1050" dirty="0">
                <a:solidFill>
                  <a:srgbClr val="1B1F1D"/>
                </a:solidFill>
                <a:latin typeface="Calibri" pitchFamily="34" charset="0"/>
                <a:ea typeface="Calibri" pitchFamily="34" charset="-122"/>
                <a:cs typeface="Calibri" pitchFamily="34" charset="-120"/>
              </a:rPr>
              <a:t> (Accessed: 1 October 2026).</a:t>
            </a:r>
            <a:endParaRPr lang="en-US" sz="1400" dirty="0"/>
          </a:p>
          <a:p>
            <a:pPr indent="0" marL="0">
              <a:spcAft>
                <a:spcPts val="500"/>
              </a:spcAft>
              <a:buNone/>
            </a:pPr>
            <a:r>
              <a:rPr lang="en-US" sz="1050" dirty="0">
                <a:solidFill>
                  <a:srgbClr val="1B1F1D"/>
                </a:solidFill>
                <a:latin typeface="Calibri" pitchFamily="34" charset="0"/>
                <a:ea typeface="Calibri" pitchFamily="34" charset="-122"/>
                <a:cs typeface="Calibri" pitchFamily="34" charset="-120"/>
              </a:rPr>
              <a:t>Python Software Foundation (no date b) </a:t>
            </a:r>
            <a:r>
              <a:rPr lang="en-US" sz="1050" i="1" dirty="0">
                <a:solidFill>
                  <a:srgbClr val="1B1F1D"/>
                </a:solidFill>
                <a:latin typeface="Calibri" pitchFamily="34" charset="0"/>
                <a:ea typeface="Calibri" pitchFamily="34" charset="-122"/>
                <a:cs typeface="Calibri" pitchFamily="34" charset="-120"/>
              </a:rPr>
              <a:t>tkinter: Python interface to Tcl/Tk</a:t>
            </a:r>
            <a:r>
              <a:rPr lang="en-US" sz="1050" dirty="0">
                <a:solidFill>
                  <a:srgbClr val="1B1F1D"/>
                </a:solidFill>
                <a:latin typeface="Calibri" pitchFamily="34" charset="0"/>
                <a:ea typeface="Calibri" pitchFamily="34" charset="-122"/>
                <a:cs typeface="Calibri" pitchFamily="34" charset="-120"/>
              </a:rPr>
              <a:t>. Available at: </a:t>
            </a:r>
            <a:r>
              <a:rPr lang="en-US" sz="1050" u="sng" dirty="0">
                <a:solidFill>
                  <a:srgbClr val="1F5FB4"/>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https://docs.python.org/3/library/tkinter.html</a:t>
            </a:r>
            <a:r>
              <a:rPr lang="en-US" sz="1050" dirty="0">
                <a:solidFill>
                  <a:srgbClr val="1B1F1D"/>
                </a:solidFill>
                <a:latin typeface="Calibri" pitchFamily="34" charset="0"/>
                <a:ea typeface="Calibri" pitchFamily="34" charset="-122"/>
                <a:cs typeface="Calibri" pitchFamily="34" charset="-120"/>
              </a:rPr>
              <a:t> (Accessed: 1 October 2026).</a:t>
            </a:r>
            <a:endParaRPr lang="en-US" sz="1400" dirty="0"/>
          </a:p>
          <a:p>
            <a:pPr indent="0" marL="0">
              <a:spcAft>
                <a:spcPts val="500"/>
              </a:spcAft>
              <a:buNone/>
            </a:pPr>
            <a:r>
              <a:rPr lang="en-US" sz="1050" dirty="0">
                <a:solidFill>
                  <a:srgbClr val="1B1F1D"/>
                </a:solidFill>
                <a:latin typeface="Calibri" pitchFamily="34" charset="0"/>
                <a:ea typeface="Calibri" pitchFamily="34" charset="-122"/>
                <a:cs typeface="Calibri" pitchFamily="34" charset="-120"/>
              </a:rPr>
              <a:t>Sebesta, R.W. (2016) </a:t>
            </a:r>
            <a:r>
              <a:rPr lang="en-US" sz="1050" i="1" dirty="0">
                <a:solidFill>
                  <a:srgbClr val="1B1F1D"/>
                </a:solidFill>
                <a:latin typeface="Calibri" pitchFamily="34" charset="0"/>
                <a:ea typeface="Calibri" pitchFamily="34" charset="-122"/>
                <a:cs typeface="Calibri" pitchFamily="34" charset="-120"/>
              </a:rPr>
              <a:t>Concepts of programming languages</a:t>
            </a:r>
            <a:r>
              <a:rPr lang="en-US" sz="1050" dirty="0">
                <a:solidFill>
                  <a:srgbClr val="1B1F1D"/>
                </a:solidFill>
                <a:latin typeface="Calibri" pitchFamily="34" charset="0"/>
                <a:ea typeface="Calibri" pitchFamily="34" charset="-122"/>
                <a:cs typeface="Calibri" pitchFamily="34" charset="-120"/>
              </a:rPr>
              <a:t>. 11th edn. Boston, MA: Pearson.</a:t>
            </a:r>
            <a:endParaRPr lang="en-US" sz="1400" dirty="0"/>
          </a:p>
          <a:p>
            <a:pPr indent="0" marL="0">
              <a:spcAft>
                <a:spcPts val="500"/>
              </a:spcAft>
              <a:buNone/>
            </a:pPr>
            <a:r>
              <a:rPr lang="en-US" sz="1050" dirty="0">
                <a:solidFill>
                  <a:srgbClr val="1B1F1D"/>
                </a:solidFill>
                <a:latin typeface="Calibri" pitchFamily="34" charset="0"/>
                <a:ea typeface="Calibri" pitchFamily="34" charset="-122"/>
                <a:cs typeface="Calibri" pitchFamily="34" charset="-120"/>
              </a:rPr>
              <a:t>Van Roy, P. (2009) 'Programming paradigms for dummies: what every programmer should know', in Assayag, G. and Gerzso, A. (eds) </a:t>
            </a:r>
            <a:r>
              <a:rPr lang="en-US" sz="1050" i="1" dirty="0">
                <a:solidFill>
                  <a:srgbClr val="1B1F1D"/>
                </a:solidFill>
                <a:latin typeface="Calibri" pitchFamily="34" charset="0"/>
                <a:ea typeface="Calibri" pitchFamily="34" charset="-122"/>
                <a:cs typeface="Calibri" pitchFamily="34" charset="-120"/>
              </a:rPr>
              <a:t>New computational paradigms for computer music</a:t>
            </a:r>
            <a:r>
              <a:rPr lang="en-US" sz="1050" dirty="0">
                <a:solidFill>
                  <a:srgbClr val="1B1F1D"/>
                </a:solidFill>
                <a:latin typeface="Calibri" pitchFamily="34" charset="0"/>
                <a:ea typeface="Calibri" pitchFamily="34" charset="-122"/>
                <a:cs typeface="Calibri" pitchFamily="34" charset="-120"/>
              </a:rPr>
              <a:t>. Paris: IRCAM/Delatour France. Available at: </a:t>
            </a:r>
            <a:r>
              <a:rPr lang="en-US" sz="1050" u="sng" dirty="0">
                <a:solidFill>
                  <a:srgbClr val="1F5FB4"/>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https://www.info.ucl.ac.be/~pvr/VanRoyChapter.pdf</a:t>
            </a:r>
            <a:r>
              <a:rPr lang="en-US" sz="1050" dirty="0">
                <a:solidFill>
                  <a:srgbClr val="1B1F1D"/>
                </a:solidFill>
                <a:latin typeface="Calibri" pitchFamily="34" charset="0"/>
                <a:ea typeface="Calibri" pitchFamily="34" charset="-122"/>
                <a:cs typeface="Calibri" pitchFamily="34" charset="-120"/>
              </a:rPr>
              <a:t> (Accessed: 1 October 2026).</a:t>
            </a:r>
            <a:endParaRPr lang="en-US" sz="1400" dirty="0"/>
          </a:p>
        </p:txBody>
      </p:sp>
      <p:sp>
        <p:nvSpPr>
          <p:cNvPr id="7" name="Text 5"/>
          <p:cNvSpPr txBox="1"/>
          <p:nvPr/>
        </p:nvSpPr>
        <p:spPr>
          <a:xfrm>
            <a:off x="548640" y="5074920"/>
            <a:ext cx="6629400" cy="274320"/>
          </a:xfrm>
          <a:prstGeom prst="rect">
            <a:avLst/>
          </a:prstGeom>
          <a:noFill/>
          <a:ln/>
        </p:spPr>
        <p:txBody>
          <a:bodyPr wrap="square" lIns="0" tIns="0" rIns="0" bIns="0" rtlCol="0" anchor="t"/>
          <a:lstStyle/>
          <a:p>
            <a:pPr indent="0" marL="0">
              <a:buNone/>
            </a:pPr>
            <a:r>
              <a:rPr lang="en-US" sz="1050" dirty="0">
                <a:solidFill>
                  <a:srgbClr val="5F6964"/>
                </a:solidFill>
                <a:latin typeface="Calibri" pitchFamily="34" charset="0"/>
                <a:ea typeface="Calibri" pitchFamily="34" charset="-122"/>
                <a:cs typeface="Calibri" pitchFamily="34" charset="-120"/>
              </a:rPr>
              <a:t>Harvard style. The citations on the slides, like (Oracle, no date), point to this list.</a:t>
            </a:r>
            <a:endParaRPr lang="en-US" sz="1050" dirty="0"/>
          </a:p>
        </p:txBody>
      </p:sp>
      <p:sp>
        <p:nvSpPr>
          <p:cNvPr id="8" name="Shape 6"/>
          <p:cNvSpPr/>
          <p:nvPr/>
        </p:nvSpPr>
        <p:spPr>
          <a:xfrm>
            <a:off x="7589520" y="502920"/>
            <a:ext cx="4050792" cy="5742432"/>
          </a:xfrm>
          <a:prstGeom prst="roundRect">
            <a:avLst>
              <a:gd name="adj" fmla="val 3612"/>
            </a:avLst>
          </a:prstGeom>
          <a:solidFill>
            <a:srgbClr val="1B1F1D"/>
          </a:solidFill>
          <a:ln/>
        </p:spPr>
      </p:sp>
      <p:sp>
        <p:nvSpPr>
          <p:cNvPr id="9" name="Text 7"/>
          <p:cNvSpPr txBox="1"/>
          <p:nvPr/>
        </p:nvSpPr>
        <p:spPr>
          <a:xfrm>
            <a:off x="7882128" y="914400"/>
            <a:ext cx="3474720" cy="219456"/>
          </a:xfrm>
          <a:prstGeom prst="rect">
            <a:avLst/>
          </a:prstGeom>
          <a:noFill/>
          <a:ln/>
        </p:spPr>
        <p:txBody>
          <a:bodyPr wrap="square" lIns="0" tIns="0" rIns="0" bIns="0" rtlCol="0" anchor="ctr"/>
          <a:lstStyle/>
          <a:p>
            <a:pPr indent="0" marL="0">
              <a:buNone/>
            </a:pPr>
            <a:r>
              <a:rPr lang="en-US" sz="1000" spc="150" kern="0" dirty="0">
                <a:solidFill>
                  <a:srgbClr val="A9B5AE"/>
                </a:solidFill>
                <a:latin typeface="Calibri" pitchFamily="34" charset="0"/>
                <a:ea typeface="Calibri" pitchFamily="34" charset="-122"/>
                <a:cs typeface="Calibri" pitchFamily="34" charset="-120"/>
              </a:rPr>
              <a:t>THAT'S THE END</a:t>
            </a:r>
            <a:endParaRPr lang="en-US" sz="1000" dirty="0"/>
          </a:p>
        </p:txBody>
      </p:sp>
      <p:sp>
        <p:nvSpPr>
          <p:cNvPr id="10" name="Text 8"/>
          <p:cNvSpPr txBox="1"/>
          <p:nvPr/>
        </p:nvSpPr>
        <p:spPr>
          <a:xfrm>
            <a:off x="7882128" y="1207008"/>
            <a:ext cx="3520440" cy="10058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Thank you for listening!</a:t>
            </a:r>
            <a:endParaRPr lang="en-US" sz="2800" dirty="0"/>
          </a:p>
        </p:txBody>
      </p:sp>
      <p:sp>
        <p:nvSpPr>
          <p:cNvPr id="11" name="Text 9"/>
          <p:cNvSpPr txBox="1"/>
          <p:nvPr/>
        </p:nvSpPr>
        <p:spPr>
          <a:xfrm>
            <a:off x="7882128" y="2304288"/>
            <a:ext cx="3520440" cy="384048"/>
          </a:xfrm>
          <a:prstGeom prst="rect">
            <a:avLst/>
          </a:prstGeom>
          <a:noFill/>
          <a:ln/>
        </p:spPr>
        <p:txBody>
          <a:bodyPr wrap="square" lIns="0" tIns="0" rIns="0" bIns="0" rtlCol="0" anchor="ctr"/>
          <a:lstStyle/>
          <a:p>
            <a:pPr indent="0" marL="0">
              <a:buNone/>
            </a:pPr>
            <a:r>
              <a:rPr lang="en-US" sz="1900" dirty="0">
                <a:solidFill>
                  <a:srgbClr val="C9D3CD"/>
                </a:solidFill>
                <a:latin typeface="Cambria" pitchFamily="34" charset="0"/>
                <a:ea typeface="Cambria" pitchFamily="34" charset="-122"/>
                <a:cs typeface="Cambria" pitchFamily="34" charset="-120"/>
              </a:rPr>
              <a:t>Any questions?</a:t>
            </a:r>
            <a:endParaRPr lang="en-US" sz="1900" dirty="0"/>
          </a:p>
        </p:txBody>
      </p:sp>
      <p:sp>
        <p:nvSpPr>
          <p:cNvPr id="12" name="Shape 10"/>
          <p:cNvSpPr/>
          <p:nvPr/>
        </p:nvSpPr>
        <p:spPr>
          <a:xfrm>
            <a:off x="7882128" y="3108960"/>
            <a:ext cx="1508760" cy="1508760"/>
          </a:xfrm>
          <a:prstGeom prst="roundRect">
            <a:avLst>
              <a:gd name="adj" fmla="val 6061"/>
            </a:avLst>
          </a:prstGeom>
          <a:solidFill>
            <a:srgbClr val="FFFFFF"/>
          </a:solidFill>
          <a:ln w="15875">
            <a:solidFill>
              <a:srgbClr val="B7C0BA"/>
            </a:solidFill>
            <a:prstDash val="dash"/>
          </a:ln>
        </p:spPr>
      </p:sp>
      <p:sp>
        <p:nvSpPr>
          <p:cNvPr id="13" name="Text 11"/>
          <p:cNvSpPr txBox="1"/>
          <p:nvPr/>
        </p:nvSpPr>
        <p:spPr>
          <a:xfrm>
            <a:off x="7973568" y="3108960"/>
            <a:ext cx="1325880" cy="1508760"/>
          </a:xfrm>
          <a:prstGeom prst="rect">
            <a:avLst/>
          </a:prstGeom>
          <a:noFill/>
          <a:ln/>
        </p:spPr>
        <p:txBody>
          <a:bodyPr wrap="square" lIns="0" tIns="0" rIns="0" bIns="0" rtlCol="0" anchor="ctr"/>
          <a:lstStyle/>
          <a:p>
            <a:pPr algn="ctr" indent="0" marL="0">
              <a:buNone/>
            </a:pPr>
            <a:r>
              <a:rPr lang="en-US" sz="1000" dirty="0">
                <a:solidFill>
                  <a:srgbClr val="5F6964"/>
                </a:solidFill>
                <a:latin typeface="Calibri" pitchFamily="34" charset="0"/>
                <a:ea typeface="Calibri" pitchFamily="34" charset="-122"/>
                <a:cs typeface="Calibri" pitchFamily="34" charset="-120"/>
              </a:rPr>
              <a:t>Paste the QR code for your feedback form here</a:t>
            </a:r>
            <a:endParaRPr lang="en-US" sz="1000" dirty="0"/>
          </a:p>
        </p:txBody>
      </p:sp>
      <p:sp>
        <p:nvSpPr>
          <p:cNvPr id="14" name="Text 12"/>
          <p:cNvSpPr txBox="1"/>
          <p:nvPr/>
        </p:nvSpPr>
        <p:spPr>
          <a:xfrm>
            <a:off x="9555480" y="3108960"/>
            <a:ext cx="1874520" cy="54864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How was my presentation?</a:t>
            </a:r>
            <a:endParaRPr lang="en-US" sz="1400" dirty="0"/>
          </a:p>
        </p:txBody>
      </p:sp>
      <p:sp>
        <p:nvSpPr>
          <p:cNvPr id="15" name="Text 13"/>
          <p:cNvSpPr txBox="1"/>
          <p:nvPr/>
        </p:nvSpPr>
        <p:spPr>
          <a:xfrm>
            <a:off x="9555480" y="3685032"/>
            <a:ext cx="1874520" cy="960120"/>
          </a:xfrm>
          <a:prstGeom prst="rect">
            <a:avLst/>
          </a:prstGeom>
          <a:noFill/>
          <a:ln/>
        </p:spPr>
        <p:txBody>
          <a:bodyPr wrap="square" lIns="0" tIns="0" rIns="0" bIns="0" rtlCol="0" anchor="t"/>
          <a:lstStyle/>
          <a:p>
            <a:pPr indent="0" marL="0">
              <a:buNone/>
            </a:pPr>
            <a:r>
              <a:rPr lang="en-US" sz="1150" dirty="0">
                <a:solidFill>
                  <a:srgbClr val="C9D3CD"/>
                </a:solidFill>
                <a:latin typeface="Calibri" pitchFamily="34" charset="0"/>
                <a:ea typeface="Calibri" pitchFamily="34" charset="-122"/>
                <a:cs typeface="Calibri" pitchFamily="34" charset="-120"/>
              </a:rPr>
              <a:t>Scan the QR code with your phone camera to fill in my short feedback form on Microsoft Forms.</a:t>
            </a:r>
            <a:endParaRPr lang="en-US" sz="1150" dirty="0"/>
          </a:p>
        </p:txBody>
      </p:sp>
      <p:sp>
        <p:nvSpPr>
          <p:cNvPr id="16" name="Text 14"/>
          <p:cNvSpPr txBox="1"/>
          <p:nvPr/>
        </p:nvSpPr>
        <p:spPr>
          <a:xfrm>
            <a:off x="7882128" y="5760720"/>
            <a:ext cx="3566160" cy="274320"/>
          </a:xfrm>
          <a:prstGeom prst="rect">
            <a:avLst/>
          </a:prstGeom>
          <a:noFill/>
          <a:ln/>
        </p:spPr>
        <p:txBody>
          <a:bodyPr wrap="square" lIns="0" tIns="0" rIns="0" bIns="0" rtlCol="0" anchor="ctr"/>
          <a:lstStyle/>
          <a:p>
            <a:pPr indent="0" marL="0">
              <a:buNone/>
            </a:pPr>
            <a:r>
              <a:rPr lang="en-US" sz="1000" dirty="0">
                <a:solidFill>
                  <a:srgbClr val="A9B5AE"/>
                </a:solidFill>
                <a:latin typeface="Consolas" pitchFamily="34" charset="0"/>
                <a:ea typeface="Consolas" pitchFamily="34" charset="-122"/>
                <a:cs typeface="Consolas" pitchFamily="34" charset="-120"/>
              </a:rPr>
              <a:t>ALEXANDRU IOAN  ·  STUDENT ID 25002954</a:t>
            </a:r>
            <a:endParaRPr lang="en-US" sz="1000" dirty="0"/>
          </a:p>
        </p:txBody>
      </p:sp>
      <p:sp>
        <p:nvSpPr>
          <p:cNvPr id="17" name="Text 15"/>
          <p:cNvSpPr txBox="1"/>
          <p:nvPr/>
        </p:nvSpPr>
        <p:spPr>
          <a:xfrm>
            <a:off x="548640" y="6437376"/>
            <a:ext cx="5486400" cy="237744"/>
          </a:xfrm>
          <a:prstGeom prst="rect">
            <a:avLst/>
          </a:prstGeom>
          <a:noFill/>
          <a:ln/>
        </p:spPr>
        <p:txBody>
          <a:bodyPr wrap="square" lIns="0" tIns="0" rIns="0" bIns="0" rtlCol="0" anchor="ctr"/>
          <a:lstStyle/>
          <a:p>
            <a:pPr indent="0" marL="0">
              <a:buNone/>
            </a:pPr>
            <a:r>
              <a:rPr lang="en-US" sz="1000" dirty="0">
                <a:solidFill>
                  <a:srgbClr val="5F6964"/>
                </a:solidFill>
                <a:latin typeface="Calibri" pitchFamily="34" charset="0"/>
                <a:ea typeface="Calibri" pitchFamily="34" charset="-122"/>
                <a:cs typeface="Calibri" pitchFamily="34" charset="-120"/>
              </a:rPr>
              <a:t>Alexandru Ioan · Student ID 25002954</a:t>
            </a:r>
            <a:endParaRPr lang="en-US" sz="1000" dirty="0"/>
          </a:p>
        </p:txBody>
      </p:sp>
      <p:sp>
        <p:nvSpPr>
          <p:cNvPr id="25" name="Slide Number Placeholder 0"/>
          <p:cNvSpPr>
            <a:spLocks noGrp="1"/>
          </p:cNvSpPr>
          <p:nvPr>
            <p:ph type="sldNum" sz="quarter" idx="4294967295"/>
          </p:nvPr>
        </p:nvSpPr>
        <p:spPr>
          <a:xfrm>
            <a:off x="11185855" y="6437376"/>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F6964"/>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Student ID 25002954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Paradigms</dc:title>
  <dc:subject>Procedural, event-driven and object-oriented programming</dc:subject>
  <dc:creator>Alexandru Ioan</dc:creator>
  <cp:lastModifiedBy>Alexandru Ioan</cp:lastModifiedBy>
  <cp:revision>1</cp:revision>
  <dcterms:created xsi:type="dcterms:W3CDTF">2026-10-01T14:02:28Z</dcterms:created>
  <dcterms:modified xsi:type="dcterms:W3CDTF">2026-10-01T14:02:28Z</dcterms:modified>
</cp:coreProperties>
</file>