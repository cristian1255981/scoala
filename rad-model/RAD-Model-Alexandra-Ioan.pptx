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I'm going to talk about the RAD model, which stands for Rapid Application Development. It's one of the ways software can be developed. The picture on the right shows the main idea: build something quickly, let the users try it, improve it, and keep repeating until the users are happy.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I'm going to cover. I'll start with the basics of what RAD is and why it was created, then go through the four stages one by one. After that I'll look at the features, advantages and disadvantages, when RAD should be used, and finally I'll use a school library system as an example to show how RAD could work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stands for Rapid Application Development. The rapid part means it's done quickly, application means a piece of software, and development is the process of designing, building and testing it. From what I've read, the big difference from older methods is that you don't spend ages planning everything before you start. The team builds something quickly, shows it to the users and improves it based on what they say. The idea was made popular by James Martin in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was created because older methods like waterfall could be really slow. In waterfall you do each step in order, so the users only see the finished system at the very end, and sometimes it isn't what they wanted anymore. The main purpose of RAD is to get a working system to the users quickly. As you can see in the diagram, users see a version of the system in every loop, so problems get fixed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stages in the order they happen. Requirements Planning comes first, then User Design, then Construction, and finally Cutover. The orange arrow is the important part: User Design and Construction go round in a loop, because the users keep giving feedback and the developers keep improving the system. The dashed arrow shows that if something big changes, the team can go back to an earlier stage, even back to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stage is Requirements Planning. This is basically a meeting, or a few workshops, where the users, the client and the developers agree what the system needs to do. The key thing is that they don't try to write down every tiny detail like in waterfall, just the main features, the budget and the deadline. The example I'm using for these four slides is a class booking app for a gym.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User Design stage, the developers make prototypes. A prototype is an early version of the system that users can actually see and try. The users give feedback, the developers change it, and this repeats until the users are happy. In my example, the gym members found the timetable hard to read on a phone, so it was changed to a simple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where the real system gets built. The developers use the prototypes from the last stage as a starting point, so they already know what the users want, and they reuse code where they can to save time. Users are still involved here: they test parts as they're finished, so problems like the double booking bug in my example get fixed quickly instead of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Cutover is the final stage, where the system is launched. Cutover basically means switching over from the old way of doing things to the new system. This includes final testing, moving the old data across and training the people who will use it. In my example, the gym moves its member list from spreadsheets into the app before launching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features of RAD. The ones I think are most important are user involvement and prototyping, because they're what make RAD different from waterfall. Timeboxing means the team has a fixed deadline for each piece of work, which stops things from dragging on. Everything else, like feedback, flexibility and teamwork, comes from the fact that users and developers work together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advantages of RAD, and for each one I've explained why it's actually useful. I think the biggest advantage is that problems are found early. Fixing a mistake when it's just a prototype is much easier than fixing it after the whole system has been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 does have some problems though. The main one is that it relies on the users being available. If they're busy and can't test the prototypes, the whole project slows down. It also needs a skilled team, it can get messy to manage with all the changes, and it isn't a good idea for really big or safety-critical systems, where you need a lot of careful planning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should RAD be used? Basically, it's best for small to medium projects where you need something quickly and the users can be involved. It works especially well for systems with lots of screens, because users can try the prototypes and tell you straight away what they think. It's not a good choice for huge or safety-critical systems, or when the users just aren't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example I picked a school attendance system, because it's something everyone knows. Teachers would use it every day, so it's easy to get their feedback, and the screens are simple to prototype. On the mock-up you can see version 2 of the prototype, where a Late button has been added after teachers asked for it. That's RAD in action: build it, get feedback, improve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 going to apply RAD to a school library system. In the first stage, the team would meet students and librarians to find out what they need. Students mainly want to search for books and see if they're available, and librarians want to issue and return books quickly. Because RAD is about being quick, they'd agree the must-have features for the first version, and leave things like email reminders until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User Design stage, the developers would make a quick prototype, like this search screen. Students and librarians try it out and give feedback. For example, a student might ask to see if a book is actually on the shelf, so availability labels get added. The librarian might say that scanning student ID cards would be quicker than typing names. Changes like this are quick and cheap to make at the prototype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Construction, the developers build the real system: the database with tables for books, students and loans, the search system and the borrowing features. They'd test each part with the librarians as they go, so any problems get fixed straight away. Then in Cutover, the existing book records and student details are transferred into the new database, the librarians are trained, and the system is launched. Keeping the old records for a few weeks is a good backup in case anything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RAD is all about speed and user feedback. Its main strengths are that it's fast and that users end up with a system that actually works for them. But it needs users who are available, a skilled team, and it's not right for every project. From what I've learned, I'd use RAD for something like the school library system, but not for something like hospital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I used for this presentation: two textbooks, one research article and three websites. Thank you for listening. Does anyone have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057/palgrave.ejis.3000325" TargetMode="External"/><Relationship Id="rId3" Type="http://schemas.openxmlformats.org/officeDocument/2006/relationships/hyperlink" Target="https://www.ibm.com/think/topics/rapid-application-development" TargetMode="External"/><Relationship Id="rId4" Type="http://schemas.openxmlformats.org/officeDocument/2006/relationships/hyperlink" Target="https://www.lucidchart.com/blog/rapid-application-development-methodology" TargetMode="External"/><Relationship Id="rId5" Type="http://schemas.openxmlformats.org/officeDocument/2006/relationships/hyperlink" Target="https://www.techtarget.com/searchsoftwarequality/definition/rapid-application-development" TargetMode="External"/><Relationship Id="rId1" Type="http://schemas.openxmlformats.org/officeDocument/2006/relationships/image" Target="../media/image-19-1.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rrow showing the cycle repeating: build a prototype, users give feedback, improve it">    </p:cNvPr>
          <p:cNvPicPr>
            <a:picLocks noChangeAspect="1"/>
          </p:cNvPicPr>
          <p:nvPr/>
        </p:nvPicPr>
        <p:blipFill>
          <a:blip r:embed="rId2"/>
          <a:stretch>
            <a:fillRect/>
          </a:stretch>
        </p:blipFill>
        <p:spPr>
          <a:xfrm>
            <a:off x="0" y="0"/>
            <a:ext cx="12191695" cy="6858000"/>
          </a:xfrm>
          <a:prstGeom prst="rect">
            <a:avLst/>
          </a:prstGeom>
        </p:spPr>
      </p:pic>
      <p:sp>
        <p:nvSpPr>
          <p:cNvPr id="3" name="Text 0"/>
          <p:cNvSpPr txBox="1"/>
          <p:nvPr/>
        </p:nvSpPr>
        <p:spPr>
          <a:xfrm>
            <a:off x="731520" y="1371600"/>
            <a:ext cx="4572000" cy="320040"/>
          </a:xfrm>
          <a:prstGeom prst="rect">
            <a:avLst/>
          </a:prstGeom>
          <a:noFill/>
          <a:ln/>
        </p:spPr>
        <p:txBody>
          <a:bodyPr wrap="square" lIns="0" tIns="0" rIns="0" bIns="0" rtlCol="0" anchor="t"/>
          <a:lstStyle/>
          <a:p>
            <a:pPr indent="0" marL="0">
              <a:buNone/>
            </a:pPr>
            <a:r>
              <a:rPr lang="en-US" sz="1400" b="1" spc="300" kern="0" dirty="0">
                <a:solidFill>
                  <a:srgbClr val="7FD8CC"/>
                </a:solidFill>
                <a:latin typeface="Calibri" pitchFamily="34" charset="0"/>
                <a:ea typeface="Calibri" pitchFamily="34" charset="-122"/>
                <a:cs typeface="Calibri" pitchFamily="34" charset="-120"/>
              </a:rPr>
              <a:t>LEVEL 3 IT</a:t>
            </a:r>
            <a:endParaRPr lang="en-US" sz="1400" dirty="0"/>
          </a:p>
        </p:txBody>
      </p:sp>
      <p:sp>
        <p:nvSpPr>
          <p:cNvPr id="4" name="Text 1"/>
          <p:cNvSpPr txBox="1"/>
          <p:nvPr/>
        </p:nvSpPr>
        <p:spPr>
          <a:xfrm>
            <a:off x="731520" y="1737360"/>
            <a:ext cx="5852160" cy="100584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The RAD Model</a:t>
            </a:r>
            <a:endParaRPr lang="en-US" sz="6000" dirty="0"/>
          </a:p>
        </p:txBody>
      </p:sp>
      <p:sp>
        <p:nvSpPr>
          <p:cNvPr id="5" name="Text 2"/>
          <p:cNvSpPr txBox="1"/>
          <p:nvPr/>
        </p:nvSpPr>
        <p:spPr>
          <a:xfrm>
            <a:off x="731520" y="2880360"/>
            <a:ext cx="539496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Rapid Application Development: what it is, how it works and when to use it</a:t>
            </a:r>
            <a:endParaRPr lang="en-US" sz="2200" dirty="0"/>
          </a:p>
        </p:txBody>
      </p:sp>
      <p:sp>
        <p:nvSpPr>
          <p:cNvPr id="6" name="Text 3"/>
          <p:cNvSpPr txBox="1"/>
          <p:nvPr/>
        </p:nvSpPr>
        <p:spPr>
          <a:xfrm>
            <a:off x="731520" y="4846320"/>
            <a:ext cx="4572000" cy="384048"/>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Alexandra Ioan</a:t>
            </a:r>
            <a:endParaRPr lang="en-US" sz="2000" dirty="0"/>
          </a:p>
        </p:txBody>
      </p:sp>
      <p:sp>
        <p:nvSpPr>
          <p:cNvPr id="7" name="Text 4"/>
          <p:cNvSpPr txBox="1"/>
          <p:nvPr/>
        </p:nvSpPr>
        <p:spPr>
          <a:xfrm>
            <a:off x="731520" y="5248656"/>
            <a:ext cx="4572000" cy="320040"/>
          </a:xfrm>
          <a:prstGeom prst="rect">
            <a:avLst/>
          </a:prstGeom>
          <a:noFill/>
          <a:ln/>
        </p:spPr>
        <p:txBody>
          <a:bodyPr wrap="square" lIns="0" tIns="0" rIns="0" bIns="0" rtlCol="0" anchor="t"/>
          <a:lstStyle/>
          <a:p>
            <a:pPr indent="0" marL="0">
              <a:buNone/>
            </a:pPr>
            <a:r>
              <a:rPr lang="en-US" sz="1500" dirty="0">
                <a:solidFill>
                  <a:srgbClr val="9FB3C8"/>
                </a:solidFill>
                <a:latin typeface="Calibri" pitchFamily="34" charset="0"/>
                <a:ea typeface="Calibri" pitchFamily="34" charset="-122"/>
                <a:cs typeface="Calibri" pitchFamily="34" charset="-120"/>
              </a:rPr>
              <a:t>Student ID 25002954</a:t>
            </a:r>
            <a:endParaRPr lang="en-US" sz="1500" dirty="0"/>
          </a:p>
        </p:txBody>
      </p:sp>
      <p:sp>
        <p:nvSpPr>
          <p:cNvPr id="8" name="Shape 5"/>
          <p:cNvSpPr/>
          <p:nvPr/>
        </p:nvSpPr>
        <p:spPr>
          <a:xfrm>
            <a:off x="7109460" y="3223260"/>
            <a:ext cx="960120" cy="960120"/>
          </a:xfrm>
          <a:prstGeom prst="ellipse">
            <a:avLst/>
          </a:prstGeom>
          <a:solidFill>
            <a:srgbClr val="0E9F8E"/>
          </a:solidFill>
          <a:ln/>
        </p:spPr>
      </p:sp>
      <p:pic>
        <p:nvPicPr>
          <p:cNvPr id="9" name="Image 1" descr="layout template icon">    </p:cNvPr>
          <p:cNvPicPr>
            <a:picLocks noChangeAspect="1"/>
          </p:cNvPicPr>
          <p:nvPr/>
        </p:nvPicPr>
        <p:blipFill>
          <a:blip r:embed="rId3"/>
          <a:stretch>
            <a:fillRect/>
          </a:stretch>
        </p:blipFill>
        <p:spPr>
          <a:xfrm>
            <a:off x="7349490" y="3463290"/>
            <a:ext cx="480060" cy="480060"/>
          </a:xfrm>
          <a:prstGeom prst="rect">
            <a:avLst/>
          </a:prstGeom>
        </p:spPr>
      </p:pic>
      <p:sp>
        <p:nvSpPr>
          <p:cNvPr id="10" name="Text 6"/>
          <p:cNvSpPr txBox="1"/>
          <p:nvPr/>
        </p:nvSpPr>
        <p:spPr>
          <a:xfrm>
            <a:off x="6812280" y="4311396"/>
            <a:ext cx="1554480" cy="56692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Build a prototype</a:t>
            </a:r>
            <a:endParaRPr lang="en-US" sz="1600" dirty="0"/>
          </a:p>
        </p:txBody>
      </p:sp>
      <p:sp>
        <p:nvSpPr>
          <p:cNvPr id="11" name="Shape 7"/>
          <p:cNvSpPr/>
          <p:nvPr/>
        </p:nvSpPr>
        <p:spPr>
          <a:xfrm>
            <a:off x="8161020" y="3703320"/>
            <a:ext cx="502920" cy="0"/>
          </a:xfrm>
          <a:prstGeom prst="line">
            <a:avLst/>
          </a:prstGeom>
          <a:noFill/>
          <a:ln w="38100">
            <a:solidFill>
              <a:srgbClr val="F5A623"/>
            </a:solidFill>
            <a:prstDash val="solid"/>
            <a:tailEnd type="triangle"/>
          </a:ln>
        </p:spPr>
      </p:sp>
      <p:sp>
        <p:nvSpPr>
          <p:cNvPr id="12" name="Shape 8"/>
          <p:cNvSpPr/>
          <p:nvPr/>
        </p:nvSpPr>
        <p:spPr>
          <a:xfrm>
            <a:off x="8755380" y="3223260"/>
            <a:ext cx="960120" cy="960120"/>
          </a:xfrm>
          <a:prstGeom prst="ellipse">
            <a:avLst/>
          </a:prstGeom>
          <a:solidFill>
            <a:srgbClr val="0E9F8E"/>
          </a:solidFill>
          <a:ln/>
        </p:spPr>
      </p:sp>
      <p:pic>
        <p:nvPicPr>
          <p:cNvPr id="13" name="Image 2" descr="messages square icon">    </p:cNvPr>
          <p:cNvPicPr>
            <a:picLocks noChangeAspect="1"/>
          </p:cNvPicPr>
          <p:nvPr/>
        </p:nvPicPr>
        <p:blipFill>
          <a:blip r:embed="rId4"/>
          <a:stretch>
            <a:fillRect/>
          </a:stretch>
        </p:blipFill>
        <p:spPr>
          <a:xfrm>
            <a:off x="8995410" y="3463290"/>
            <a:ext cx="480060" cy="480060"/>
          </a:xfrm>
          <a:prstGeom prst="rect">
            <a:avLst/>
          </a:prstGeom>
        </p:spPr>
      </p:pic>
      <p:sp>
        <p:nvSpPr>
          <p:cNvPr id="14" name="Text 9"/>
          <p:cNvSpPr txBox="1"/>
          <p:nvPr/>
        </p:nvSpPr>
        <p:spPr>
          <a:xfrm>
            <a:off x="8458200" y="4311396"/>
            <a:ext cx="1554480" cy="56692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Users try it and give feedback</a:t>
            </a:r>
            <a:endParaRPr lang="en-US" sz="1600" dirty="0"/>
          </a:p>
        </p:txBody>
      </p:sp>
      <p:sp>
        <p:nvSpPr>
          <p:cNvPr id="15" name="Shape 10"/>
          <p:cNvSpPr/>
          <p:nvPr/>
        </p:nvSpPr>
        <p:spPr>
          <a:xfrm>
            <a:off x="9806940" y="3703320"/>
            <a:ext cx="502920" cy="0"/>
          </a:xfrm>
          <a:prstGeom prst="line">
            <a:avLst/>
          </a:prstGeom>
          <a:noFill/>
          <a:ln w="38100">
            <a:solidFill>
              <a:srgbClr val="F5A623"/>
            </a:solidFill>
            <a:prstDash val="solid"/>
            <a:tailEnd type="triangle"/>
          </a:ln>
        </p:spPr>
      </p:sp>
      <p:sp>
        <p:nvSpPr>
          <p:cNvPr id="16" name="Shape 11"/>
          <p:cNvSpPr/>
          <p:nvPr/>
        </p:nvSpPr>
        <p:spPr>
          <a:xfrm>
            <a:off x="10401300" y="3223260"/>
            <a:ext cx="960120" cy="960120"/>
          </a:xfrm>
          <a:prstGeom prst="ellipse">
            <a:avLst/>
          </a:prstGeom>
          <a:solidFill>
            <a:srgbClr val="0E9F8E"/>
          </a:solidFill>
          <a:ln/>
        </p:spPr>
      </p:sp>
      <p:pic>
        <p:nvPicPr>
          <p:cNvPr id="17" name="Image 3" descr="wrench icon">    </p:cNvPr>
          <p:cNvPicPr>
            <a:picLocks noChangeAspect="1"/>
          </p:cNvPicPr>
          <p:nvPr/>
        </p:nvPicPr>
        <p:blipFill>
          <a:blip r:embed="rId5"/>
          <a:stretch>
            <a:fillRect/>
          </a:stretch>
        </p:blipFill>
        <p:spPr>
          <a:xfrm>
            <a:off x="10641330" y="3463290"/>
            <a:ext cx="480060" cy="480060"/>
          </a:xfrm>
          <a:prstGeom prst="rect">
            <a:avLst/>
          </a:prstGeom>
        </p:spPr>
      </p:pic>
      <p:sp>
        <p:nvSpPr>
          <p:cNvPr id="18" name="Text 12"/>
          <p:cNvSpPr txBox="1"/>
          <p:nvPr/>
        </p:nvSpPr>
        <p:spPr>
          <a:xfrm>
            <a:off x="10104120" y="4311396"/>
            <a:ext cx="1554480" cy="566928"/>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Improve it</a:t>
            </a:r>
            <a:endParaRPr lang="en-US" sz="1600" dirty="0"/>
          </a:p>
        </p:txBody>
      </p:sp>
      <p:sp>
        <p:nvSpPr>
          <p:cNvPr id="19" name="Text 13"/>
          <p:cNvSpPr txBox="1"/>
          <p:nvPr/>
        </p:nvSpPr>
        <p:spPr>
          <a:xfrm>
            <a:off x="7955280" y="2606040"/>
            <a:ext cx="2560320" cy="310896"/>
          </a:xfrm>
          <a:prstGeom prst="rect">
            <a:avLst/>
          </a:prstGeom>
          <a:noFill/>
          <a:ln/>
        </p:spPr>
        <p:txBody>
          <a:bodyPr wrap="square" lIns="0" tIns="0" rIns="0" bIns="0" rtlCol="0" anchor="ctr"/>
          <a:lstStyle/>
          <a:p>
            <a:pPr algn="ctr" indent="0" marL="0">
              <a:buNone/>
            </a:pPr>
            <a:r>
              <a:rPr lang="en-US" sz="1500" dirty="0">
                <a:solidFill>
                  <a:srgbClr val="C9D6E3"/>
                </a:solidFill>
                <a:latin typeface="Calibri" pitchFamily="34" charset="0"/>
                <a:ea typeface="Calibri" pitchFamily="34" charset="-122"/>
                <a:cs typeface="Calibri" pitchFamily="34" charset="-120"/>
              </a:rPr>
              <a:t>Repeat until users are happy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What I'll cover</a:t>
            </a:r>
            <a:endParaRPr lang="en-US" sz="3400" dirty="0"/>
          </a:p>
        </p:txBody>
      </p:sp>
      <p:sp>
        <p:nvSpPr>
          <p:cNvPr id="4" name="Text 2"/>
          <p:cNvSpPr txBox="1"/>
          <p:nvPr/>
        </p:nvSpPr>
        <p:spPr>
          <a:xfrm>
            <a:off x="548640" y="1417320"/>
            <a:ext cx="8686800" cy="603504"/>
          </a:xfrm>
          <a:prstGeom prst="rect">
            <a:avLst/>
          </a:prstGeom>
          <a:noFill/>
          <a:ln/>
        </p:spPr>
        <p:txBody>
          <a:bodyPr wrap="square" lIns="0" tIns="0" rIns="0" bIns="0" rtlCol="0" anchor="t"/>
          <a:lstStyle/>
          <a:p>
            <a:pPr indent="0" marL="0">
              <a:buNone/>
            </a:pPr>
            <a:r>
              <a:rPr lang="en-US" sz="1700" dirty="0">
                <a:solidFill>
                  <a:srgbClr val="5A6878"/>
                </a:solidFill>
                <a:latin typeface="Calibri" pitchFamily="34" charset="0"/>
                <a:ea typeface="Calibri" pitchFamily="34" charset="-122"/>
                <a:cs typeface="Calibri" pitchFamily="34" charset="-120"/>
              </a:rPr>
              <a:t>In this presentation I'll explain what the RAD model is, how it works, and when it is (and isn't) a good idea to use it.</a:t>
            </a:r>
            <a:endParaRPr lang="en-US" sz="1700" dirty="0"/>
          </a:p>
        </p:txBody>
      </p:sp>
      <p:sp>
        <p:nvSpPr>
          <p:cNvPr id="5" name="Shape 3"/>
          <p:cNvSpPr/>
          <p:nvPr/>
        </p:nvSpPr>
        <p:spPr>
          <a:xfrm>
            <a:off x="548640" y="2240280"/>
            <a:ext cx="2036003" cy="1691640"/>
          </a:xfrm>
          <a:prstGeom prst="roundRect">
            <a:avLst>
              <a:gd name="adj" fmla="val 6486"/>
            </a:avLst>
          </a:prstGeom>
          <a:solidFill>
            <a:srgbClr val="F2F6F8"/>
          </a:solidFill>
          <a:ln/>
        </p:spPr>
      </p:sp>
      <p:sp>
        <p:nvSpPr>
          <p:cNvPr id="6" name="Text 4"/>
          <p:cNvSpPr txBox="1"/>
          <p:nvPr/>
        </p:nvSpPr>
        <p:spPr>
          <a:xfrm>
            <a:off x="749808"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01</a:t>
            </a:r>
            <a:endParaRPr lang="en-US" sz="2800" dirty="0"/>
          </a:p>
        </p:txBody>
      </p:sp>
      <p:pic>
        <p:nvPicPr>
          <p:cNvPr id="7" name="Image 0" descr="info icon">    </p:cNvPr>
          <p:cNvPicPr>
            <a:picLocks noChangeAspect="1"/>
          </p:cNvPicPr>
          <p:nvPr/>
        </p:nvPicPr>
        <p:blipFill>
          <a:blip r:embed="rId1"/>
          <a:stretch>
            <a:fillRect/>
          </a:stretch>
        </p:blipFill>
        <p:spPr>
          <a:xfrm>
            <a:off x="2036003" y="2459736"/>
            <a:ext cx="347472" cy="347472"/>
          </a:xfrm>
          <a:prstGeom prst="rect">
            <a:avLst/>
          </a:prstGeom>
        </p:spPr>
      </p:pic>
      <p:sp>
        <p:nvSpPr>
          <p:cNvPr id="8" name="Text 5"/>
          <p:cNvSpPr txBox="1"/>
          <p:nvPr/>
        </p:nvSpPr>
        <p:spPr>
          <a:xfrm>
            <a:off x="749808"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Introduction to RAD</a:t>
            </a:r>
            <a:endParaRPr lang="en-US" sz="1700" dirty="0"/>
          </a:p>
        </p:txBody>
      </p:sp>
      <p:sp>
        <p:nvSpPr>
          <p:cNvPr id="9" name="Shape 6"/>
          <p:cNvSpPr/>
          <p:nvPr/>
        </p:nvSpPr>
        <p:spPr>
          <a:xfrm>
            <a:off x="2813243" y="2240280"/>
            <a:ext cx="2036003" cy="1691640"/>
          </a:xfrm>
          <a:prstGeom prst="roundRect">
            <a:avLst>
              <a:gd name="adj" fmla="val 6486"/>
            </a:avLst>
          </a:prstGeom>
          <a:solidFill>
            <a:srgbClr val="F2F6F8"/>
          </a:solidFill>
          <a:ln/>
        </p:spPr>
      </p:sp>
      <p:sp>
        <p:nvSpPr>
          <p:cNvPr id="10" name="Text 7"/>
          <p:cNvSpPr txBox="1"/>
          <p:nvPr/>
        </p:nvSpPr>
        <p:spPr>
          <a:xfrm>
            <a:off x="3014411"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02</a:t>
            </a:r>
            <a:endParaRPr lang="en-US" sz="2800" dirty="0"/>
          </a:p>
        </p:txBody>
      </p:sp>
      <p:pic>
        <p:nvPicPr>
          <p:cNvPr id="11" name="Image 1" descr="workflow icon">    </p:cNvPr>
          <p:cNvPicPr>
            <a:picLocks noChangeAspect="1"/>
          </p:cNvPicPr>
          <p:nvPr/>
        </p:nvPicPr>
        <p:blipFill>
          <a:blip r:embed="rId2"/>
          <a:stretch>
            <a:fillRect/>
          </a:stretch>
        </p:blipFill>
        <p:spPr>
          <a:xfrm>
            <a:off x="4300606" y="2459736"/>
            <a:ext cx="347472" cy="347472"/>
          </a:xfrm>
          <a:prstGeom prst="rect">
            <a:avLst/>
          </a:prstGeom>
        </p:spPr>
      </p:pic>
      <p:sp>
        <p:nvSpPr>
          <p:cNvPr id="12" name="Text 8"/>
          <p:cNvSpPr txBox="1"/>
          <p:nvPr/>
        </p:nvSpPr>
        <p:spPr>
          <a:xfrm>
            <a:off x="3014411"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Stages of the RAD model</a:t>
            </a:r>
            <a:endParaRPr lang="en-US" sz="1700" dirty="0"/>
          </a:p>
        </p:txBody>
      </p:sp>
      <p:sp>
        <p:nvSpPr>
          <p:cNvPr id="13" name="Shape 9"/>
          <p:cNvSpPr/>
          <p:nvPr/>
        </p:nvSpPr>
        <p:spPr>
          <a:xfrm>
            <a:off x="5077846" y="2240280"/>
            <a:ext cx="2036003" cy="1691640"/>
          </a:xfrm>
          <a:prstGeom prst="roundRect">
            <a:avLst>
              <a:gd name="adj" fmla="val 6486"/>
            </a:avLst>
          </a:prstGeom>
          <a:solidFill>
            <a:srgbClr val="F2F6F8"/>
          </a:solidFill>
          <a:ln/>
        </p:spPr>
      </p:sp>
      <p:sp>
        <p:nvSpPr>
          <p:cNvPr id="14" name="Text 10"/>
          <p:cNvSpPr txBox="1"/>
          <p:nvPr/>
        </p:nvSpPr>
        <p:spPr>
          <a:xfrm>
            <a:off x="5279014"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03</a:t>
            </a:r>
            <a:endParaRPr lang="en-US" sz="2800" dirty="0"/>
          </a:p>
        </p:txBody>
      </p:sp>
      <p:pic>
        <p:nvPicPr>
          <p:cNvPr id="15" name="Image 2" descr="list ordered icon">    </p:cNvPr>
          <p:cNvPicPr>
            <a:picLocks noChangeAspect="1"/>
          </p:cNvPicPr>
          <p:nvPr/>
        </p:nvPicPr>
        <p:blipFill>
          <a:blip r:embed="rId3"/>
          <a:stretch>
            <a:fillRect/>
          </a:stretch>
        </p:blipFill>
        <p:spPr>
          <a:xfrm>
            <a:off x="6565209" y="2459736"/>
            <a:ext cx="347472" cy="347472"/>
          </a:xfrm>
          <a:prstGeom prst="rect">
            <a:avLst/>
          </a:prstGeom>
        </p:spPr>
      </p:pic>
      <p:sp>
        <p:nvSpPr>
          <p:cNvPr id="16" name="Text 11"/>
          <p:cNvSpPr txBox="1"/>
          <p:nvPr/>
        </p:nvSpPr>
        <p:spPr>
          <a:xfrm>
            <a:off x="5279014"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Each stage explained</a:t>
            </a:r>
            <a:endParaRPr lang="en-US" sz="1700" dirty="0"/>
          </a:p>
        </p:txBody>
      </p:sp>
      <p:sp>
        <p:nvSpPr>
          <p:cNvPr id="17" name="Shape 12"/>
          <p:cNvSpPr/>
          <p:nvPr/>
        </p:nvSpPr>
        <p:spPr>
          <a:xfrm>
            <a:off x="7342449" y="2240280"/>
            <a:ext cx="2036003" cy="1691640"/>
          </a:xfrm>
          <a:prstGeom prst="roundRect">
            <a:avLst>
              <a:gd name="adj" fmla="val 6486"/>
            </a:avLst>
          </a:prstGeom>
          <a:solidFill>
            <a:srgbClr val="F2F6F8"/>
          </a:solidFill>
          <a:ln/>
        </p:spPr>
      </p:sp>
      <p:sp>
        <p:nvSpPr>
          <p:cNvPr id="18" name="Text 13"/>
          <p:cNvSpPr txBox="1"/>
          <p:nvPr/>
        </p:nvSpPr>
        <p:spPr>
          <a:xfrm>
            <a:off x="7543617"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04</a:t>
            </a:r>
            <a:endParaRPr lang="en-US" sz="2800" dirty="0"/>
          </a:p>
        </p:txBody>
      </p:sp>
      <p:pic>
        <p:nvPicPr>
          <p:cNvPr id="19" name="Image 3" descr="sparkles icon">    </p:cNvPr>
          <p:cNvPicPr>
            <a:picLocks noChangeAspect="1"/>
          </p:cNvPicPr>
          <p:nvPr/>
        </p:nvPicPr>
        <p:blipFill>
          <a:blip r:embed="rId4"/>
          <a:stretch>
            <a:fillRect/>
          </a:stretch>
        </p:blipFill>
        <p:spPr>
          <a:xfrm>
            <a:off x="8829812" y="2459736"/>
            <a:ext cx="347472" cy="347472"/>
          </a:xfrm>
          <a:prstGeom prst="rect">
            <a:avLst/>
          </a:prstGeom>
        </p:spPr>
      </p:pic>
      <p:sp>
        <p:nvSpPr>
          <p:cNvPr id="20" name="Text 14"/>
          <p:cNvSpPr txBox="1"/>
          <p:nvPr/>
        </p:nvSpPr>
        <p:spPr>
          <a:xfrm>
            <a:off x="7543617"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Key features</a:t>
            </a:r>
            <a:endParaRPr lang="en-US" sz="1700" dirty="0"/>
          </a:p>
        </p:txBody>
      </p:sp>
      <p:sp>
        <p:nvSpPr>
          <p:cNvPr id="21" name="Shape 15"/>
          <p:cNvSpPr/>
          <p:nvPr/>
        </p:nvSpPr>
        <p:spPr>
          <a:xfrm>
            <a:off x="9607052" y="2240280"/>
            <a:ext cx="2036003" cy="1691640"/>
          </a:xfrm>
          <a:prstGeom prst="roundRect">
            <a:avLst>
              <a:gd name="adj" fmla="val 6486"/>
            </a:avLst>
          </a:prstGeom>
          <a:solidFill>
            <a:srgbClr val="F2F6F8"/>
          </a:solidFill>
          <a:ln/>
        </p:spPr>
      </p:sp>
      <p:sp>
        <p:nvSpPr>
          <p:cNvPr id="22" name="Text 16"/>
          <p:cNvSpPr txBox="1"/>
          <p:nvPr/>
        </p:nvSpPr>
        <p:spPr>
          <a:xfrm>
            <a:off x="9808220" y="242316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05</a:t>
            </a:r>
            <a:endParaRPr lang="en-US" sz="2800" dirty="0"/>
          </a:p>
        </p:txBody>
      </p:sp>
      <p:pic>
        <p:nvPicPr>
          <p:cNvPr id="23" name="Image 4" descr="thumbs up icon">    </p:cNvPr>
          <p:cNvPicPr>
            <a:picLocks noChangeAspect="1"/>
          </p:cNvPicPr>
          <p:nvPr/>
        </p:nvPicPr>
        <p:blipFill>
          <a:blip r:embed="rId5"/>
          <a:stretch>
            <a:fillRect/>
          </a:stretch>
        </p:blipFill>
        <p:spPr>
          <a:xfrm>
            <a:off x="11094415" y="2459736"/>
            <a:ext cx="347472" cy="347472"/>
          </a:xfrm>
          <a:prstGeom prst="rect">
            <a:avLst/>
          </a:prstGeom>
        </p:spPr>
      </p:pic>
      <p:sp>
        <p:nvSpPr>
          <p:cNvPr id="24" name="Text 17"/>
          <p:cNvSpPr txBox="1"/>
          <p:nvPr/>
        </p:nvSpPr>
        <p:spPr>
          <a:xfrm>
            <a:off x="9808220" y="301752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Advantages</a:t>
            </a:r>
            <a:endParaRPr lang="en-US" sz="1700" dirty="0"/>
          </a:p>
        </p:txBody>
      </p:sp>
      <p:sp>
        <p:nvSpPr>
          <p:cNvPr id="25" name="Shape 18"/>
          <p:cNvSpPr/>
          <p:nvPr/>
        </p:nvSpPr>
        <p:spPr>
          <a:xfrm>
            <a:off x="548640" y="4206240"/>
            <a:ext cx="2036003" cy="1691640"/>
          </a:xfrm>
          <a:prstGeom prst="roundRect">
            <a:avLst>
              <a:gd name="adj" fmla="val 6486"/>
            </a:avLst>
          </a:prstGeom>
          <a:solidFill>
            <a:srgbClr val="F2F6F8"/>
          </a:solidFill>
          <a:ln/>
        </p:spPr>
      </p:sp>
      <p:sp>
        <p:nvSpPr>
          <p:cNvPr id="26" name="Text 19"/>
          <p:cNvSpPr txBox="1"/>
          <p:nvPr/>
        </p:nvSpPr>
        <p:spPr>
          <a:xfrm>
            <a:off x="749808"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06</a:t>
            </a:r>
            <a:endParaRPr lang="en-US" sz="2800" dirty="0"/>
          </a:p>
        </p:txBody>
      </p:sp>
      <p:pic>
        <p:nvPicPr>
          <p:cNvPr id="27" name="Image 5" descr="thumbs down icon">    </p:cNvPr>
          <p:cNvPicPr>
            <a:picLocks noChangeAspect="1"/>
          </p:cNvPicPr>
          <p:nvPr/>
        </p:nvPicPr>
        <p:blipFill>
          <a:blip r:embed="rId6"/>
          <a:stretch>
            <a:fillRect/>
          </a:stretch>
        </p:blipFill>
        <p:spPr>
          <a:xfrm>
            <a:off x="2036003" y="4425696"/>
            <a:ext cx="347472" cy="347472"/>
          </a:xfrm>
          <a:prstGeom prst="rect">
            <a:avLst/>
          </a:prstGeom>
        </p:spPr>
      </p:pic>
      <p:sp>
        <p:nvSpPr>
          <p:cNvPr id="28" name="Text 20"/>
          <p:cNvSpPr txBox="1"/>
          <p:nvPr/>
        </p:nvSpPr>
        <p:spPr>
          <a:xfrm>
            <a:off x="749808"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Disadvantages</a:t>
            </a:r>
            <a:endParaRPr lang="en-US" sz="1700" dirty="0"/>
          </a:p>
        </p:txBody>
      </p:sp>
      <p:sp>
        <p:nvSpPr>
          <p:cNvPr id="29" name="Shape 21"/>
          <p:cNvSpPr/>
          <p:nvPr/>
        </p:nvSpPr>
        <p:spPr>
          <a:xfrm>
            <a:off x="2813243" y="4206240"/>
            <a:ext cx="2036003" cy="1691640"/>
          </a:xfrm>
          <a:prstGeom prst="roundRect">
            <a:avLst>
              <a:gd name="adj" fmla="val 6486"/>
            </a:avLst>
          </a:prstGeom>
          <a:solidFill>
            <a:srgbClr val="F2F6F8"/>
          </a:solidFill>
          <a:ln/>
        </p:spPr>
      </p:sp>
      <p:sp>
        <p:nvSpPr>
          <p:cNvPr id="30" name="Text 22"/>
          <p:cNvSpPr txBox="1"/>
          <p:nvPr/>
        </p:nvSpPr>
        <p:spPr>
          <a:xfrm>
            <a:off x="3014411"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07</a:t>
            </a:r>
            <a:endParaRPr lang="en-US" sz="2800" dirty="0"/>
          </a:p>
        </p:txBody>
      </p:sp>
      <p:pic>
        <p:nvPicPr>
          <p:cNvPr id="31" name="Image 6" descr="target icon">    </p:cNvPr>
          <p:cNvPicPr>
            <a:picLocks noChangeAspect="1"/>
          </p:cNvPicPr>
          <p:nvPr/>
        </p:nvPicPr>
        <p:blipFill>
          <a:blip r:embed="rId7"/>
          <a:stretch>
            <a:fillRect/>
          </a:stretch>
        </p:blipFill>
        <p:spPr>
          <a:xfrm>
            <a:off x="4300606" y="4425696"/>
            <a:ext cx="347472" cy="347472"/>
          </a:xfrm>
          <a:prstGeom prst="rect">
            <a:avLst/>
          </a:prstGeom>
        </p:spPr>
      </p:pic>
      <p:sp>
        <p:nvSpPr>
          <p:cNvPr id="32" name="Text 23"/>
          <p:cNvSpPr txBox="1"/>
          <p:nvPr/>
        </p:nvSpPr>
        <p:spPr>
          <a:xfrm>
            <a:off x="3014411"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When to use RAD</a:t>
            </a:r>
            <a:endParaRPr lang="en-US" sz="1700" dirty="0"/>
          </a:p>
        </p:txBody>
      </p:sp>
      <p:sp>
        <p:nvSpPr>
          <p:cNvPr id="33" name="Shape 24"/>
          <p:cNvSpPr/>
          <p:nvPr/>
        </p:nvSpPr>
        <p:spPr>
          <a:xfrm>
            <a:off x="5077846" y="4206240"/>
            <a:ext cx="2036003" cy="1691640"/>
          </a:xfrm>
          <a:prstGeom prst="roundRect">
            <a:avLst>
              <a:gd name="adj" fmla="val 6486"/>
            </a:avLst>
          </a:prstGeom>
          <a:solidFill>
            <a:srgbClr val="F2F6F8"/>
          </a:solidFill>
          <a:ln/>
        </p:spPr>
      </p:sp>
      <p:sp>
        <p:nvSpPr>
          <p:cNvPr id="34" name="Text 25"/>
          <p:cNvSpPr txBox="1"/>
          <p:nvPr/>
        </p:nvSpPr>
        <p:spPr>
          <a:xfrm>
            <a:off x="5279014"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08</a:t>
            </a:r>
            <a:endParaRPr lang="en-US" sz="2800" dirty="0"/>
          </a:p>
        </p:txBody>
      </p:sp>
      <p:pic>
        <p:nvPicPr>
          <p:cNvPr id="35" name="Image 7" descr="library icon">    </p:cNvPr>
          <p:cNvPicPr>
            <a:picLocks noChangeAspect="1"/>
          </p:cNvPicPr>
          <p:nvPr/>
        </p:nvPicPr>
        <p:blipFill>
          <a:blip r:embed="rId8"/>
          <a:stretch>
            <a:fillRect/>
          </a:stretch>
        </p:blipFill>
        <p:spPr>
          <a:xfrm>
            <a:off x="6565209" y="4425696"/>
            <a:ext cx="347472" cy="347472"/>
          </a:xfrm>
          <a:prstGeom prst="rect">
            <a:avLst/>
          </a:prstGeom>
        </p:spPr>
      </p:pic>
      <p:sp>
        <p:nvSpPr>
          <p:cNvPr id="36" name="Text 26"/>
          <p:cNvSpPr txBox="1"/>
          <p:nvPr/>
        </p:nvSpPr>
        <p:spPr>
          <a:xfrm>
            <a:off x="5279014"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Example: a school library system</a:t>
            </a:r>
            <a:endParaRPr lang="en-US" sz="1700" dirty="0"/>
          </a:p>
        </p:txBody>
      </p:sp>
      <p:sp>
        <p:nvSpPr>
          <p:cNvPr id="37" name="Shape 27"/>
          <p:cNvSpPr/>
          <p:nvPr/>
        </p:nvSpPr>
        <p:spPr>
          <a:xfrm>
            <a:off x="7342449" y="4206240"/>
            <a:ext cx="2036003" cy="1691640"/>
          </a:xfrm>
          <a:prstGeom prst="roundRect">
            <a:avLst>
              <a:gd name="adj" fmla="val 6486"/>
            </a:avLst>
          </a:prstGeom>
          <a:solidFill>
            <a:srgbClr val="F2F6F8"/>
          </a:solidFill>
          <a:ln/>
        </p:spPr>
      </p:sp>
      <p:sp>
        <p:nvSpPr>
          <p:cNvPr id="38" name="Text 28"/>
          <p:cNvSpPr txBox="1"/>
          <p:nvPr/>
        </p:nvSpPr>
        <p:spPr>
          <a:xfrm>
            <a:off x="7543617"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09</a:t>
            </a:r>
            <a:endParaRPr lang="en-US" sz="2800" dirty="0"/>
          </a:p>
        </p:txBody>
      </p:sp>
      <p:pic>
        <p:nvPicPr>
          <p:cNvPr id="39" name="Image 8" descr="flag icon">    </p:cNvPr>
          <p:cNvPicPr>
            <a:picLocks noChangeAspect="1"/>
          </p:cNvPicPr>
          <p:nvPr/>
        </p:nvPicPr>
        <p:blipFill>
          <a:blip r:embed="rId9"/>
          <a:stretch>
            <a:fillRect/>
          </a:stretch>
        </p:blipFill>
        <p:spPr>
          <a:xfrm>
            <a:off x="8829812" y="4425696"/>
            <a:ext cx="347472" cy="347472"/>
          </a:xfrm>
          <a:prstGeom prst="rect">
            <a:avLst/>
          </a:prstGeom>
        </p:spPr>
      </p:pic>
      <p:sp>
        <p:nvSpPr>
          <p:cNvPr id="40" name="Text 29"/>
          <p:cNvSpPr txBox="1"/>
          <p:nvPr/>
        </p:nvSpPr>
        <p:spPr>
          <a:xfrm>
            <a:off x="7543617"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Conclusion</a:t>
            </a:r>
            <a:endParaRPr lang="en-US" sz="1700" dirty="0"/>
          </a:p>
        </p:txBody>
      </p:sp>
      <p:sp>
        <p:nvSpPr>
          <p:cNvPr id="41" name="Shape 30"/>
          <p:cNvSpPr/>
          <p:nvPr/>
        </p:nvSpPr>
        <p:spPr>
          <a:xfrm>
            <a:off x="9607052" y="4206240"/>
            <a:ext cx="2036003" cy="1691640"/>
          </a:xfrm>
          <a:prstGeom prst="roundRect">
            <a:avLst>
              <a:gd name="adj" fmla="val 6486"/>
            </a:avLst>
          </a:prstGeom>
          <a:solidFill>
            <a:srgbClr val="F2F6F8"/>
          </a:solidFill>
          <a:ln/>
        </p:spPr>
      </p:sp>
      <p:sp>
        <p:nvSpPr>
          <p:cNvPr id="42" name="Text 31"/>
          <p:cNvSpPr txBox="1"/>
          <p:nvPr/>
        </p:nvSpPr>
        <p:spPr>
          <a:xfrm>
            <a:off x="9808220" y="4389120"/>
            <a:ext cx="914400" cy="457200"/>
          </a:xfrm>
          <a:prstGeom prst="rect">
            <a:avLst/>
          </a:prstGeom>
          <a:noFill/>
          <a:ln/>
        </p:spPr>
        <p:txBody>
          <a:bodyPr wrap="square" lIns="0" tIns="0" rIns="0" bIns="0" rtlCol="0" anchor="t"/>
          <a:lstStyle/>
          <a:p>
            <a:pPr indent="0" marL="0">
              <a:buNone/>
            </a:pPr>
            <a:r>
              <a:rPr lang="en-US" sz="2800" b="1" dirty="0">
                <a:solidFill>
                  <a:srgbClr val="0E9F8E"/>
                </a:solidFill>
                <a:latin typeface="Calibri" pitchFamily="34" charset="0"/>
                <a:ea typeface="Calibri" pitchFamily="34" charset="-122"/>
                <a:cs typeface="Calibri" pitchFamily="34" charset="-120"/>
              </a:rPr>
              <a:t>10</a:t>
            </a:r>
            <a:endParaRPr lang="en-US" sz="2800" dirty="0"/>
          </a:p>
        </p:txBody>
      </p:sp>
      <p:pic>
        <p:nvPicPr>
          <p:cNvPr id="43" name="Image 9" descr="book open icon">    </p:cNvPr>
          <p:cNvPicPr>
            <a:picLocks noChangeAspect="1"/>
          </p:cNvPicPr>
          <p:nvPr/>
        </p:nvPicPr>
        <p:blipFill>
          <a:blip r:embed="rId10"/>
          <a:stretch>
            <a:fillRect/>
          </a:stretch>
        </p:blipFill>
        <p:spPr>
          <a:xfrm>
            <a:off x="11094415" y="4425696"/>
            <a:ext cx="347472" cy="347472"/>
          </a:xfrm>
          <a:prstGeom prst="rect">
            <a:avLst/>
          </a:prstGeom>
        </p:spPr>
      </p:pic>
      <p:sp>
        <p:nvSpPr>
          <p:cNvPr id="44" name="Text 32"/>
          <p:cNvSpPr txBox="1"/>
          <p:nvPr/>
        </p:nvSpPr>
        <p:spPr>
          <a:xfrm>
            <a:off x="9808220" y="4983480"/>
            <a:ext cx="1670243" cy="731520"/>
          </a:xfrm>
          <a:prstGeom prst="rect">
            <a:avLst/>
          </a:prstGeom>
          <a:noFill/>
          <a:ln/>
        </p:spPr>
        <p:txBody>
          <a:bodyPr wrap="square" lIns="0" tIns="0" rIns="0" bIns="0" rtlCol="0" anchor="b"/>
          <a:lstStyle/>
          <a:p>
            <a:pPr indent="0" marL="0">
              <a:buNone/>
            </a:pPr>
            <a:r>
              <a:rPr lang="en-US" sz="1700" b="1" dirty="0">
                <a:solidFill>
                  <a:srgbClr val="0E1A2B"/>
                </a:solidFill>
                <a:latin typeface="Calibri" pitchFamily="34" charset="0"/>
                <a:ea typeface="Calibri" pitchFamily="34" charset="-122"/>
                <a:cs typeface="Calibri" pitchFamily="34" charset="-120"/>
              </a:rPr>
              <a:t>References</a:t>
            </a:r>
            <a:endParaRPr lang="en-US" sz="1700" dirty="0"/>
          </a:p>
        </p:txBody>
      </p:sp>
      <p:sp>
        <p:nvSpPr>
          <p:cNvPr id="45" name="Text 33"/>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INTRODUCTION TO RAD</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So, what is RAD?</a:t>
            </a:r>
            <a:endParaRPr lang="en-US" sz="3400" dirty="0"/>
          </a:p>
        </p:txBody>
      </p:sp>
      <p:sp>
        <p:nvSpPr>
          <p:cNvPr id="6" name="Shape 4"/>
          <p:cNvSpPr/>
          <p:nvPr/>
        </p:nvSpPr>
        <p:spPr>
          <a:xfrm>
            <a:off x="548640" y="1691640"/>
            <a:ext cx="1097280" cy="1097280"/>
          </a:xfrm>
          <a:prstGeom prst="roundRect">
            <a:avLst>
              <a:gd name="adj" fmla="val 11667"/>
            </a:avLst>
          </a:prstGeom>
          <a:solidFill>
            <a:srgbClr val="0E9F8E"/>
          </a:solidFill>
          <a:ln/>
        </p:spPr>
      </p:sp>
      <p:sp>
        <p:nvSpPr>
          <p:cNvPr id="7" name="Text 5"/>
          <p:cNvSpPr txBox="1"/>
          <p:nvPr/>
        </p:nvSpPr>
        <p:spPr>
          <a:xfrm>
            <a:off x="548640" y="1691640"/>
            <a:ext cx="109728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R</a:t>
            </a:r>
            <a:endParaRPr lang="en-US" sz="5400" dirty="0"/>
          </a:p>
        </p:txBody>
      </p:sp>
      <p:sp>
        <p:nvSpPr>
          <p:cNvPr id="8" name="Text 6"/>
          <p:cNvSpPr txBox="1"/>
          <p:nvPr/>
        </p:nvSpPr>
        <p:spPr>
          <a:xfrm>
            <a:off x="1874520" y="1801368"/>
            <a:ext cx="3566160" cy="457200"/>
          </a:xfrm>
          <a:prstGeom prst="rect">
            <a:avLst/>
          </a:prstGeom>
          <a:noFill/>
          <a:ln/>
        </p:spPr>
        <p:txBody>
          <a:bodyPr wrap="square" lIns="0" tIns="0" rIns="0" bIns="0" rtlCol="0" anchor="ctr"/>
          <a:lstStyle/>
          <a:p>
            <a:pPr indent="0" marL="0">
              <a:buNone/>
            </a:pPr>
            <a:r>
              <a:rPr lang="en-US" sz="2800" b="1" dirty="0">
                <a:solidFill>
                  <a:srgbClr val="0E1A2B"/>
                </a:solidFill>
                <a:latin typeface="Calibri" pitchFamily="34" charset="0"/>
                <a:ea typeface="Calibri" pitchFamily="34" charset="-122"/>
                <a:cs typeface="Calibri" pitchFamily="34" charset="-120"/>
              </a:rPr>
              <a:t>Rapid</a:t>
            </a:r>
            <a:endParaRPr lang="en-US" sz="2800" dirty="0"/>
          </a:p>
        </p:txBody>
      </p:sp>
      <p:sp>
        <p:nvSpPr>
          <p:cNvPr id="9" name="Text 7"/>
          <p:cNvSpPr txBox="1"/>
          <p:nvPr/>
        </p:nvSpPr>
        <p:spPr>
          <a:xfrm>
            <a:off x="1874520" y="2295144"/>
            <a:ext cx="3566160" cy="365760"/>
          </a:xfrm>
          <a:prstGeom prst="rect">
            <a:avLst/>
          </a:prstGeom>
          <a:noFill/>
          <a:ln/>
        </p:spPr>
        <p:txBody>
          <a:bodyPr wrap="square" lIns="0" tIns="0" rIns="0" bIns="0" rtlCol="0" anchor="t"/>
          <a:lstStyle/>
          <a:p>
            <a:pPr indent="0" marL="0">
              <a:buNone/>
            </a:pPr>
            <a:r>
              <a:rPr lang="en-US" sz="1500" dirty="0">
                <a:solidFill>
                  <a:srgbClr val="5A6878"/>
                </a:solidFill>
                <a:latin typeface="Calibri" pitchFamily="34" charset="0"/>
                <a:ea typeface="Calibri" pitchFamily="34" charset="-122"/>
                <a:cs typeface="Calibri" pitchFamily="34" charset="-120"/>
              </a:rPr>
              <a:t>done quickly, in short cycles</a:t>
            </a:r>
            <a:endParaRPr lang="en-US" sz="1500" dirty="0"/>
          </a:p>
        </p:txBody>
      </p:sp>
      <p:sp>
        <p:nvSpPr>
          <p:cNvPr id="10" name="Shape 8"/>
          <p:cNvSpPr/>
          <p:nvPr/>
        </p:nvSpPr>
        <p:spPr>
          <a:xfrm>
            <a:off x="548640" y="3063240"/>
            <a:ext cx="1097280" cy="1097280"/>
          </a:xfrm>
          <a:prstGeom prst="roundRect">
            <a:avLst>
              <a:gd name="adj" fmla="val 11667"/>
            </a:avLst>
          </a:prstGeom>
          <a:solidFill>
            <a:srgbClr val="0E9F8E"/>
          </a:solidFill>
          <a:ln/>
        </p:spPr>
      </p:sp>
      <p:sp>
        <p:nvSpPr>
          <p:cNvPr id="11" name="Text 9"/>
          <p:cNvSpPr txBox="1"/>
          <p:nvPr/>
        </p:nvSpPr>
        <p:spPr>
          <a:xfrm>
            <a:off x="548640" y="3063240"/>
            <a:ext cx="109728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A</a:t>
            </a:r>
            <a:endParaRPr lang="en-US" sz="5400" dirty="0"/>
          </a:p>
        </p:txBody>
      </p:sp>
      <p:sp>
        <p:nvSpPr>
          <p:cNvPr id="12" name="Text 10"/>
          <p:cNvSpPr txBox="1"/>
          <p:nvPr/>
        </p:nvSpPr>
        <p:spPr>
          <a:xfrm>
            <a:off x="1874520" y="3172968"/>
            <a:ext cx="3566160" cy="457200"/>
          </a:xfrm>
          <a:prstGeom prst="rect">
            <a:avLst/>
          </a:prstGeom>
          <a:noFill/>
          <a:ln/>
        </p:spPr>
        <p:txBody>
          <a:bodyPr wrap="square" lIns="0" tIns="0" rIns="0" bIns="0" rtlCol="0" anchor="ctr"/>
          <a:lstStyle/>
          <a:p>
            <a:pPr indent="0" marL="0">
              <a:buNone/>
            </a:pPr>
            <a:r>
              <a:rPr lang="en-US" sz="2800" b="1" dirty="0">
                <a:solidFill>
                  <a:srgbClr val="0E1A2B"/>
                </a:solidFill>
                <a:latin typeface="Calibri" pitchFamily="34" charset="0"/>
                <a:ea typeface="Calibri" pitchFamily="34" charset="-122"/>
                <a:cs typeface="Calibri" pitchFamily="34" charset="-120"/>
              </a:rPr>
              <a:t>Application</a:t>
            </a:r>
            <a:endParaRPr lang="en-US" sz="2800" dirty="0"/>
          </a:p>
        </p:txBody>
      </p:sp>
      <p:sp>
        <p:nvSpPr>
          <p:cNvPr id="13" name="Text 11"/>
          <p:cNvSpPr txBox="1"/>
          <p:nvPr/>
        </p:nvSpPr>
        <p:spPr>
          <a:xfrm>
            <a:off x="1874520" y="3666744"/>
            <a:ext cx="3566160" cy="365760"/>
          </a:xfrm>
          <a:prstGeom prst="rect">
            <a:avLst/>
          </a:prstGeom>
          <a:noFill/>
          <a:ln/>
        </p:spPr>
        <p:txBody>
          <a:bodyPr wrap="square" lIns="0" tIns="0" rIns="0" bIns="0" rtlCol="0" anchor="t"/>
          <a:lstStyle/>
          <a:p>
            <a:pPr indent="0" marL="0">
              <a:buNone/>
            </a:pPr>
            <a:r>
              <a:rPr lang="en-US" sz="1500" dirty="0">
                <a:solidFill>
                  <a:srgbClr val="5A6878"/>
                </a:solidFill>
                <a:latin typeface="Calibri" pitchFamily="34" charset="0"/>
                <a:ea typeface="Calibri" pitchFamily="34" charset="-122"/>
                <a:cs typeface="Calibri" pitchFamily="34" charset="-120"/>
              </a:rPr>
              <a:t>a piece of software, like an app or a system</a:t>
            </a:r>
            <a:endParaRPr lang="en-US" sz="1500" dirty="0"/>
          </a:p>
        </p:txBody>
      </p:sp>
      <p:sp>
        <p:nvSpPr>
          <p:cNvPr id="14" name="Shape 12"/>
          <p:cNvSpPr/>
          <p:nvPr/>
        </p:nvSpPr>
        <p:spPr>
          <a:xfrm>
            <a:off x="548640" y="4434840"/>
            <a:ext cx="1097280" cy="1097280"/>
          </a:xfrm>
          <a:prstGeom prst="roundRect">
            <a:avLst>
              <a:gd name="adj" fmla="val 11667"/>
            </a:avLst>
          </a:prstGeom>
          <a:solidFill>
            <a:srgbClr val="0E9F8E"/>
          </a:solidFill>
          <a:ln/>
        </p:spPr>
      </p:sp>
      <p:sp>
        <p:nvSpPr>
          <p:cNvPr id="15" name="Text 13"/>
          <p:cNvSpPr txBox="1"/>
          <p:nvPr/>
        </p:nvSpPr>
        <p:spPr>
          <a:xfrm>
            <a:off x="548640" y="4434840"/>
            <a:ext cx="109728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D</a:t>
            </a:r>
            <a:endParaRPr lang="en-US" sz="5400" dirty="0"/>
          </a:p>
        </p:txBody>
      </p:sp>
      <p:sp>
        <p:nvSpPr>
          <p:cNvPr id="16" name="Text 14"/>
          <p:cNvSpPr txBox="1"/>
          <p:nvPr/>
        </p:nvSpPr>
        <p:spPr>
          <a:xfrm>
            <a:off x="1874520" y="4544568"/>
            <a:ext cx="3566160" cy="457200"/>
          </a:xfrm>
          <a:prstGeom prst="rect">
            <a:avLst/>
          </a:prstGeom>
          <a:noFill/>
          <a:ln/>
        </p:spPr>
        <p:txBody>
          <a:bodyPr wrap="square" lIns="0" tIns="0" rIns="0" bIns="0" rtlCol="0" anchor="ctr"/>
          <a:lstStyle/>
          <a:p>
            <a:pPr indent="0" marL="0">
              <a:buNone/>
            </a:pPr>
            <a:r>
              <a:rPr lang="en-US" sz="2800" b="1" dirty="0">
                <a:solidFill>
                  <a:srgbClr val="0E1A2B"/>
                </a:solidFill>
                <a:latin typeface="Calibri" pitchFamily="34" charset="0"/>
                <a:ea typeface="Calibri" pitchFamily="34" charset="-122"/>
                <a:cs typeface="Calibri" pitchFamily="34" charset="-120"/>
              </a:rPr>
              <a:t>Development</a:t>
            </a:r>
            <a:endParaRPr lang="en-US" sz="2800" dirty="0"/>
          </a:p>
        </p:txBody>
      </p:sp>
      <p:sp>
        <p:nvSpPr>
          <p:cNvPr id="17" name="Text 15"/>
          <p:cNvSpPr txBox="1"/>
          <p:nvPr/>
        </p:nvSpPr>
        <p:spPr>
          <a:xfrm>
            <a:off x="1874520" y="5038344"/>
            <a:ext cx="3566160" cy="365760"/>
          </a:xfrm>
          <a:prstGeom prst="rect">
            <a:avLst/>
          </a:prstGeom>
          <a:noFill/>
          <a:ln/>
        </p:spPr>
        <p:txBody>
          <a:bodyPr wrap="square" lIns="0" tIns="0" rIns="0" bIns="0" rtlCol="0" anchor="t"/>
          <a:lstStyle/>
          <a:p>
            <a:pPr indent="0" marL="0">
              <a:buNone/>
            </a:pPr>
            <a:r>
              <a:rPr lang="en-US" sz="1500" dirty="0">
                <a:solidFill>
                  <a:srgbClr val="5A6878"/>
                </a:solidFill>
                <a:latin typeface="Calibri" pitchFamily="34" charset="0"/>
                <a:ea typeface="Calibri" pitchFamily="34" charset="-122"/>
                <a:cs typeface="Calibri" pitchFamily="34" charset="-120"/>
              </a:rPr>
              <a:t>designing, building and testing it</a:t>
            </a:r>
            <a:endParaRPr lang="en-US" sz="1500" dirty="0"/>
          </a:p>
        </p:txBody>
      </p:sp>
      <p:sp>
        <p:nvSpPr>
          <p:cNvPr id="18" name="Text 16"/>
          <p:cNvSpPr txBox="1"/>
          <p:nvPr/>
        </p:nvSpPr>
        <p:spPr>
          <a:xfrm>
            <a:off x="5669280" y="1691640"/>
            <a:ext cx="5971032" cy="283464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RAD stands for </a:t>
            </a:r>
            <a:r>
              <a:rPr lang="en-US" sz="1700" b="1" dirty="0">
                <a:solidFill>
                  <a:srgbClr val="1F2A37"/>
                </a:solidFill>
                <a:latin typeface="Calibri" pitchFamily="34" charset="0"/>
                <a:ea typeface="Calibri" pitchFamily="34" charset="-122"/>
                <a:cs typeface="Calibri" pitchFamily="34" charset="-120"/>
              </a:rPr>
              <a:t>Rapid Application Development</a:t>
            </a:r>
            <a:r>
              <a:rPr lang="en-US" sz="1700" dirty="0">
                <a:solidFill>
                  <a:srgbClr val="1F2A37"/>
                </a:solidFill>
                <a:latin typeface="Calibri" pitchFamily="34" charset="0"/>
                <a:ea typeface="Calibri" pitchFamily="34" charset="-122"/>
                <a:cs typeface="Calibri" pitchFamily="34" charset="-120"/>
              </a:rPr>
              <a:t>.</a:t>
            </a:r>
            <a:endParaRPr lang="en-US" sz="1700" dirty="0"/>
          </a:p>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It's a way of making software where the team builds working versions (prototypes) early, instead of planning every detail first.</a:t>
            </a:r>
            <a:endParaRPr lang="en-US" sz="1700" dirty="0"/>
          </a:p>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Users try each version and give feedback, so the system gets better step by step.</a:t>
            </a:r>
            <a:endParaRPr lang="en-US" sz="1700" dirty="0"/>
          </a:p>
          <a:p>
            <a:pPr marL="203200" indent="-203200">
              <a:spcAft>
                <a:spcPts val="1000"/>
              </a:spcAft>
              <a:buSzPct val="100000"/>
              <a:buChar char="•"/>
            </a:pPr>
            <a:r>
              <a:rPr lang="en-US" sz="1700" dirty="0">
                <a:solidFill>
                  <a:srgbClr val="1F2A37"/>
                </a:solidFill>
                <a:latin typeface="Calibri" pitchFamily="34" charset="0"/>
                <a:ea typeface="Calibri" pitchFamily="34" charset="-122"/>
                <a:cs typeface="Calibri" pitchFamily="34" charset="-120"/>
              </a:rPr>
              <a:t>James Martin made RAD popular with his 1991 book, </a:t>
            </a:r>
            <a:r>
              <a:rPr lang="en-US" sz="1700" i="1" dirty="0">
                <a:solidFill>
                  <a:srgbClr val="1F2A37"/>
                </a:solidFill>
                <a:latin typeface="Calibri" pitchFamily="34" charset="0"/>
                <a:ea typeface="Calibri" pitchFamily="34" charset="-122"/>
                <a:cs typeface="Calibri" pitchFamily="34" charset="-120"/>
              </a:rPr>
              <a:t>Rapid Application Development</a:t>
            </a:r>
            <a:r>
              <a:rPr lang="en-US" sz="1700" dirty="0">
                <a:solidFill>
                  <a:srgbClr val="1F2A37"/>
                </a:solidFill>
                <a:latin typeface="Calibri" pitchFamily="34" charset="0"/>
                <a:ea typeface="Calibri" pitchFamily="34" charset="-122"/>
                <a:cs typeface="Calibri" pitchFamily="34" charset="-120"/>
              </a:rPr>
              <a:t> (Martin, 1991).</a:t>
            </a:r>
            <a:endParaRPr lang="en-US" sz="1700" dirty="0"/>
          </a:p>
        </p:txBody>
      </p:sp>
      <p:sp>
        <p:nvSpPr>
          <p:cNvPr id="19" name="Shape 17"/>
          <p:cNvSpPr/>
          <p:nvPr/>
        </p:nvSpPr>
        <p:spPr>
          <a:xfrm>
            <a:off x="5669280" y="4709160"/>
            <a:ext cx="5971032" cy="822960"/>
          </a:xfrm>
          <a:prstGeom prst="roundRect">
            <a:avLst>
              <a:gd name="adj" fmla="val 13333"/>
            </a:avLst>
          </a:prstGeom>
          <a:solidFill>
            <a:srgbClr val="E3F4F1"/>
          </a:solidFill>
          <a:ln/>
        </p:spPr>
      </p:sp>
      <p:sp>
        <p:nvSpPr>
          <p:cNvPr id="20" name="Shape 18"/>
          <p:cNvSpPr/>
          <p:nvPr/>
        </p:nvSpPr>
        <p:spPr>
          <a:xfrm>
            <a:off x="5870448" y="4846320"/>
            <a:ext cx="548640" cy="548640"/>
          </a:xfrm>
          <a:prstGeom prst="ellipse">
            <a:avLst/>
          </a:prstGeom>
          <a:solidFill>
            <a:srgbClr val="0E9F8E"/>
          </a:solidFill>
          <a:ln/>
        </p:spPr>
      </p:sp>
      <p:pic>
        <p:nvPicPr>
          <p:cNvPr id="21" name="Image 0" descr="iteration cw icon">    </p:cNvPr>
          <p:cNvPicPr>
            <a:picLocks noChangeAspect="1"/>
          </p:cNvPicPr>
          <p:nvPr/>
        </p:nvPicPr>
        <p:blipFill>
          <a:blip r:embed="rId1"/>
          <a:stretch>
            <a:fillRect/>
          </a:stretch>
        </p:blipFill>
        <p:spPr>
          <a:xfrm>
            <a:off x="5996635" y="4972507"/>
            <a:ext cx="296266" cy="296266"/>
          </a:xfrm>
          <a:prstGeom prst="rect">
            <a:avLst/>
          </a:prstGeom>
        </p:spPr>
      </p:pic>
      <p:sp>
        <p:nvSpPr>
          <p:cNvPr id="22" name="Text 19"/>
          <p:cNvSpPr txBox="1"/>
          <p:nvPr/>
        </p:nvSpPr>
        <p:spPr>
          <a:xfrm>
            <a:off x="6601968" y="4709160"/>
            <a:ext cx="4892040" cy="822960"/>
          </a:xfrm>
          <a:prstGeom prst="rect">
            <a:avLst/>
          </a:prstGeom>
          <a:noFill/>
          <a:ln/>
        </p:spPr>
        <p:txBody>
          <a:bodyPr wrap="square" lIns="0" tIns="0" rIns="0" bIns="0" rtlCol="0" anchor="ctr"/>
          <a:lstStyle/>
          <a:p>
            <a:pPr indent="0" marL="0">
              <a:buNone/>
            </a:pPr>
            <a:r>
              <a:rPr lang="en-US" sz="1700" b="1" dirty="0">
                <a:solidFill>
                  <a:srgbClr val="0B7A6E"/>
                </a:solidFill>
                <a:latin typeface="Calibri" pitchFamily="34" charset="0"/>
                <a:ea typeface="Calibri" pitchFamily="34" charset="-122"/>
                <a:cs typeface="Calibri" pitchFamily="34" charset="-120"/>
              </a:rPr>
              <a:t>In simple words: </a:t>
            </a:r>
            <a:r>
              <a:rPr lang="en-US" sz="1700" dirty="0">
                <a:solidFill>
                  <a:srgbClr val="1F2A37"/>
                </a:solidFill>
                <a:latin typeface="Calibri" pitchFamily="34" charset="0"/>
                <a:ea typeface="Calibri" pitchFamily="34" charset="-122"/>
                <a:cs typeface="Calibri" pitchFamily="34" charset="-120"/>
              </a:rPr>
              <a:t>build a bit, show it to users, improve it, repeat.</a:t>
            </a:r>
            <a:endParaRPr lang="en-US" sz="1700" dirty="0"/>
          </a:p>
        </p:txBody>
      </p:sp>
      <p:sp>
        <p:nvSpPr>
          <p:cNvPr id="23" name="Text 20"/>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Martin (1991); TechTarget (no date)</a:t>
            </a:r>
            <a:endParaRPr lang="en-US" sz="1000" dirty="0"/>
          </a:p>
        </p:txBody>
      </p:sp>
      <p:sp>
        <p:nvSpPr>
          <p:cNvPr id="24" name="Text 21"/>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INTRODUCTION TO RAD</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Why was RAD created?</a:t>
            </a:r>
            <a:endParaRPr lang="en-US" sz="3400" dirty="0"/>
          </a:p>
        </p:txBody>
      </p:sp>
      <p:sp>
        <p:nvSpPr>
          <p:cNvPr id="6" name="Text 4"/>
          <p:cNvSpPr txBox="1"/>
          <p:nvPr/>
        </p:nvSpPr>
        <p:spPr>
          <a:xfrm>
            <a:off x="548640" y="1691640"/>
            <a:ext cx="5212080" cy="4206240"/>
          </a:xfrm>
          <a:prstGeom prst="rect">
            <a:avLst/>
          </a:prstGeom>
          <a:noFill/>
          <a:ln/>
        </p:spPr>
        <p:txBody>
          <a:bodyPr wrap="square" lIns="0" tIns="0" rIns="0" bIns="0" rtlCol="0" anchor="t"/>
          <a:lstStyle/>
          <a:p>
            <a:pPr marL="203200" indent="-203200">
              <a:spcAft>
                <a:spcPts val="1200"/>
              </a:spcAft>
              <a:buSzPct val="100000"/>
              <a:buChar char="•"/>
            </a:pPr>
            <a:r>
              <a:rPr lang="en-US" sz="1650" dirty="0">
                <a:solidFill>
                  <a:srgbClr val="1F2A37"/>
                </a:solidFill>
                <a:latin typeface="Calibri" pitchFamily="34" charset="0"/>
                <a:ea typeface="Calibri" pitchFamily="34" charset="-122"/>
                <a:cs typeface="Calibri" pitchFamily="34" charset="-120"/>
              </a:rPr>
              <a:t>Older methods, like the waterfall model, go through each step in order: plan everything first, then design, build and test.</a:t>
            </a:r>
            <a:endParaRPr lang="en-US" sz="1650" dirty="0"/>
          </a:p>
          <a:p>
            <a:pPr marL="203200" indent="-203200">
              <a:spcAft>
                <a:spcPts val="1200"/>
              </a:spcAft>
              <a:buSzPct val="100000"/>
              <a:buChar char="•"/>
            </a:pPr>
            <a:r>
              <a:rPr lang="en-US" sz="1650" dirty="0">
                <a:solidFill>
                  <a:srgbClr val="1F2A37"/>
                </a:solidFill>
                <a:latin typeface="Calibri" pitchFamily="34" charset="0"/>
                <a:ea typeface="Calibri" pitchFamily="34" charset="-122"/>
                <a:cs typeface="Calibri" pitchFamily="34" charset="-120"/>
              </a:rPr>
              <a:t>The problem is that users often don't see the system until the end. By then it might already be out of date, or not work well for them (TechTarget, no date).</a:t>
            </a:r>
            <a:endParaRPr lang="en-US" sz="1650" dirty="0"/>
          </a:p>
          <a:p>
            <a:pPr marL="203200" indent="-203200">
              <a:spcAft>
                <a:spcPts val="1200"/>
              </a:spcAft>
              <a:buSzPct val="100000"/>
              <a:buChar char="•"/>
            </a:pPr>
            <a:r>
              <a:rPr lang="en-US" sz="1650" b="1" dirty="0">
                <a:solidFill>
                  <a:srgbClr val="1F2A37"/>
                </a:solidFill>
                <a:latin typeface="Calibri" pitchFamily="34" charset="0"/>
                <a:ea typeface="Calibri" pitchFamily="34" charset="-122"/>
                <a:cs typeface="Calibri" pitchFamily="34" charset="-120"/>
              </a:rPr>
              <a:t>RAD's main purpose</a:t>
            </a:r>
            <a:r>
              <a:rPr lang="en-US" sz="1650" dirty="0">
                <a:solidFill>
                  <a:srgbClr val="1F2A37"/>
                </a:solidFill>
                <a:latin typeface="Calibri" pitchFamily="34" charset="0"/>
                <a:ea typeface="Calibri" pitchFamily="34" charset="-122"/>
                <a:cs typeface="Calibri" pitchFamily="34" charset="-120"/>
              </a:rPr>
              <a:t> is to get a working system to users quickly, and make sure it actually does what they need.</a:t>
            </a:r>
            <a:endParaRPr lang="en-US" sz="1650" dirty="0"/>
          </a:p>
          <a:p>
            <a:pPr marL="203200" indent="-203200">
              <a:spcAft>
                <a:spcPts val="1200"/>
              </a:spcAft>
              <a:buSzPct val="100000"/>
              <a:buChar char="•"/>
            </a:pPr>
            <a:r>
              <a:rPr lang="en-US" sz="1650" dirty="0">
                <a:solidFill>
                  <a:srgbClr val="1F2A37"/>
                </a:solidFill>
                <a:latin typeface="Calibri" pitchFamily="34" charset="0"/>
                <a:ea typeface="Calibri" pitchFamily="34" charset="-122"/>
                <a:cs typeface="Calibri" pitchFamily="34" charset="-120"/>
              </a:rPr>
              <a:t>This means users see the system early and often, so changes can be made along the way.</a:t>
            </a:r>
            <a:endParaRPr lang="en-US" sz="1650" dirty="0"/>
          </a:p>
        </p:txBody>
      </p:sp>
      <p:sp>
        <p:nvSpPr>
          <p:cNvPr id="7" name="Shape 5"/>
          <p:cNvSpPr/>
          <p:nvPr/>
        </p:nvSpPr>
        <p:spPr>
          <a:xfrm>
            <a:off x="6172200" y="1645920"/>
            <a:ext cx="5470855" cy="2057400"/>
          </a:xfrm>
          <a:prstGeom prst="roundRect">
            <a:avLst>
              <a:gd name="adj" fmla="val 5333"/>
            </a:avLst>
          </a:prstGeom>
          <a:solidFill>
            <a:srgbClr val="F3F5F7"/>
          </a:solidFill>
          <a:ln/>
        </p:spPr>
      </p:sp>
      <p:sp>
        <p:nvSpPr>
          <p:cNvPr id="8" name="Text 6"/>
          <p:cNvSpPr txBox="1"/>
          <p:nvPr/>
        </p:nvSpPr>
        <p:spPr>
          <a:xfrm>
            <a:off x="6446520" y="1828800"/>
            <a:ext cx="2743200" cy="329184"/>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Waterfall</a:t>
            </a:r>
            <a:endParaRPr lang="en-US" sz="1800" dirty="0"/>
          </a:p>
        </p:txBody>
      </p:sp>
      <p:sp>
        <p:nvSpPr>
          <p:cNvPr id="9" name="Text 7"/>
          <p:cNvSpPr txBox="1"/>
          <p:nvPr/>
        </p:nvSpPr>
        <p:spPr>
          <a:xfrm>
            <a:off x="6446520" y="2157984"/>
            <a:ext cx="4572000" cy="27432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Users only see the system at the end</a:t>
            </a:r>
            <a:endParaRPr lang="en-US" sz="1300" dirty="0"/>
          </a:p>
        </p:txBody>
      </p:sp>
      <p:sp>
        <p:nvSpPr>
          <p:cNvPr id="10" name="Shape 8"/>
          <p:cNvSpPr/>
          <p:nvPr/>
        </p:nvSpPr>
        <p:spPr>
          <a:xfrm>
            <a:off x="6446520" y="2743200"/>
            <a:ext cx="822960" cy="502920"/>
          </a:xfrm>
          <a:prstGeom prst="roundRect">
            <a:avLst>
              <a:gd name="adj" fmla="val 14545"/>
            </a:avLst>
          </a:prstGeom>
          <a:solidFill>
            <a:srgbClr val="D5DCE4"/>
          </a:solidFill>
          <a:ln/>
        </p:spPr>
      </p:sp>
      <p:sp>
        <p:nvSpPr>
          <p:cNvPr id="11" name="Text 9"/>
          <p:cNvSpPr txBox="1"/>
          <p:nvPr/>
        </p:nvSpPr>
        <p:spPr>
          <a:xfrm>
            <a:off x="644652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Plan</a:t>
            </a:r>
            <a:endParaRPr lang="en-US" sz="1300" dirty="0"/>
          </a:p>
        </p:txBody>
      </p:sp>
      <p:sp>
        <p:nvSpPr>
          <p:cNvPr id="12" name="Shape 10"/>
          <p:cNvSpPr/>
          <p:nvPr/>
        </p:nvSpPr>
        <p:spPr>
          <a:xfrm>
            <a:off x="7315200" y="2994660"/>
            <a:ext cx="182880" cy="0"/>
          </a:xfrm>
          <a:prstGeom prst="line">
            <a:avLst/>
          </a:prstGeom>
          <a:noFill/>
          <a:ln w="19050">
            <a:solidFill>
              <a:srgbClr val="94A3B8"/>
            </a:solidFill>
            <a:prstDash val="solid"/>
            <a:tailEnd type="triangle"/>
          </a:ln>
        </p:spPr>
      </p:sp>
      <p:sp>
        <p:nvSpPr>
          <p:cNvPr id="13" name="Shape 11"/>
          <p:cNvSpPr/>
          <p:nvPr/>
        </p:nvSpPr>
        <p:spPr>
          <a:xfrm>
            <a:off x="7543800" y="2743200"/>
            <a:ext cx="822960" cy="502920"/>
          </a:xfrm>
          <a:prstGeom prst="roundRect">
            <a:avLst>
              <a:gd name="adj" fmla="val 14545"/>
            </a:avLst>
          </a:prstGeom>
          <a:solidFill>
            <a:srgbClr val="D5DCE4"/>
          </a:solidFill>
          <a:ln/>
        </p:spPr>
      </p:sp>
      <p:sp>
        <p:nvSpPr>
          <p:cNvPr id="14" name="Text 12"/>
          <p:cNvSpPr txBox="1"/>
          <p:nvPr/>
        </p:nvSpPr>
        <p:spPr>
          <a:xfrm>
            <a:off x="754380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Design</a:t>
            </a:r>
            <a:endParaRPr lang="en-US" sz="1300" dirty="0"/>
          </a:p>
        </p:txBody>
      </p:sp>
      <p:sp>
        <p:nvSpPr>
          <p:cNvPr id="15" name="Shape 13"/>
          <p:cNvSpPr/>
          <p:nvPr/>
        </p:nvSpPr>
        <p:spPr>
          <a:xfrm>
            <a:off x="8412480" y="2994660"/>
            <a:ext cx="182880" cy="0"/>
          </a:xfrm>
          <a:prstGeom prst="line">
            <a:avLst/>
          </a:prstGeom>
          <a:noFill/>
          <a:ln w="19050">
            <a:solidFill>
              <a:srgbClr val="94A3B8"/>
            </a:solidFill>
            <a:prstDash val="solid"/>
            <a:tailEnd type="triangle"/>
          </a:ln>
        </p:spPr>
      </p:sp>
      <p:sp>
        <p:nvSpPr>
          <p:cNvPr id="16" name="Shape 14"/>
          <p:cNvSpPr/>
          <p:nvPr/>
        </p:nvSpPr>
        <p:spPr>
          <a:xfrm>
            <a:off x="8641080" y="2743200"/>
            <a:ext cx="822960" cy="502920"/>
          </a:xfrm>
          <a:prstGeom prst="roundRect">
            <a:avLst>
              <a:gd name="adj" fmla="val 14545"/>
            </a:avLst>
          </a:prstGeom>
          <a:solidFill>
            <a:srgbClr val="D5DCE4"/>
          </a:solidFill>
          <a:ln/>
        </p:spPr>
      </p:sp>
      <p:sp>
        <p:nvSpPr>
          <p:cNvPr id="17" name="Text 15"/>
          <p:cNvSpPr txBox="1"/>
          <p:nvPr/>
        </p:nvSpPr>
        <p:spPr>
          <a:xfrm>
            <a:off x="864108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Build</a:t>
            </a:r>
            <a:endParaRPr lang="en-US" sz="1300" dirty="0"/>
          </a:p>
        </p:txBody>
      </p:sp>
      <p:sp>
        <p:nvSpPr>
          <p:cNvPr id="18" name="Shape 16"/>
          <p:cNvSpPr/>
          <p:nvPr/>
        </p:nvSpPr>
        <p:spPr>
          <a:xfrm>
            <a:off x="9509760" y="2994660"/>
            <a:ext cx="182880" cy="0"/>
          </a:xfrm>
          <a:prstGeom prst="line">
            <a:avLst/>
          </a:prstGeom>
          <a:noFill/>
          <a:ln w="19050">
            <a:solidFill>
              <a:srgbClr val="94A3B8"/>
            </a:solidFill>
            <a:prstDash val="solid"/>
            <a:tailEnd type="triangle"/>
          </a:ln>
        </p:spPr>
      </p:sp>
      <p:sp>
        <p:nvSpPr>
          <p:cNvPr id="19" name="Shape 17"/>
          <p:cNvSpPr/>
          <p:nvPr/>
        </p:nvSpPr>
        <p:spPr>
          <a:xfrm>
            <a:off x="9738360" y="2743200"/>
            <a:ext cx="822960" cy="502920"/>
          </a:xfrm>
          <a:prstGeom prst="roundRect">
            <a:avLst>
              <a:gd name="adj" fmla="val 14545"/>
            </a:avLst>
          </a:prstGeom>
          <a:solidFill>
            <a:srgbClr val="D5DCE4"/>
          </a:solidFill>
          <a:ln/>
        </p:spPr>
      </p:sp>
      <p:sp>
        <p:nvSpPr>
          <p:cNvPr id="20" name="Text 18"/>
          <p:cNvSpPr txBox="1"/>
          <p:nvPr/>
        </p:nvSpPr>
        <p:spPr>
          <a:xfrm>
            <a:off x="9738360" y="2743200"/>
            <a:ext cx="822960" cy="502920"/>
          </a:xfrm>
          <a:prstGeom prst="rect">
            <a:avLst/>
          </a:prstGeom>
          <a:noFill/>
          <a:ln/>
        </p:spPr>
        <p:txBody>
          <a:bodyPr wrap="square" lIns="0" tIns="0" rIns="0" bIns="0" rtlCol="0" anchor="ctr"/>
          <a:lstStyle/>
          <a:p>
            <a:pPr algn="ctr" indent="0" marL="0">
              <a:buNone/>
            </a:pPr>
            <a:r>
              <a:rPr lang="en-US" sz="1300" b="1" dirty="0">
                <a:solidFill>
                  <a:srgbClr val="0E1A2B"/>
                </a:solidFill>
                <a:latin typeface="Calibri" pitchFamily="34" charset="0"/>
                <a:ea typeface="Calibri" pitchFamily="34" charset="-122"/>
                <a:cs typeface="Calibri" pitchFamily="34" charset="-120"/>
              </a:rPr>
              <a:t>Test</a:t>
            </a:r>
            <a:endParaRPr lang="en-US" sz="1300" dirty="0"/>
          </a:p>
        </p:txBody>
      </p:sp>
      <p:sp>
        <p:nvSpPr>
          <p:cNvPr id="21" name="Shape 19"/>
          <p:cNvSpPr/>
          <p:nvPr/>
        </p:nvSpPr>
        <p:spPr>
          <a:xfrm>
            <a:off x="10607040" y="2994660"/>
            <a:ext cx="182880" cy="0"/>
          </a:xfrm>
          <a:prstGeom prst="line">
            <a:avLst/>
          </a:prstGeom>
          <a:noFill/>
          <a:ln w="19050">
            <a:solidFill>
              <a:srgbClr val="94A3B8"/>
            </a:solidFill>
            <a:prstDash val="solid"/>
            <a:tailEnd type="triangle"/>
          </a:ln>
        </p:spPr>
      </p:sp>
      <p:sp>
        <p:nvSpPr>
          <p:cNvPr id="22" name="Shape 20"/>
          <p:cNvSpPr/>
          <p:nvPr/>
        </p:nvSpPr>
        <p:spPr>
          <a:xfrm>
            <a:off x="10835640" y="2743200"/>
            <a:ext cx="502920" cy="502920"/>
          </a:xfrm>
          <a:prstGeom prst="ellipse">
            <a:avLst/>
          </a:prstGeom>
          <a:solidFill>
            <a:srgbClr val="F5A623"/>
          </a:solidFill>
          <a:ln/>
        </p:spPr>
      </p:sp>
      <p:pic>
        <p:nvPicPr>
          <p:cNvPr id="23" name="Image 0" descr="user icon">    </p:cNvPr>
          <p:cNvPicPr>
            <a:picLocks noChangeAspect="1"/>
          </p:cNvPicPr>
          <p:nvPr/>
        </p:nvPicPr>
        <p:blipFill>
          <a:blip r:embed="rId1"/>
          <a:stretch>
            <a:fillRect/>
          </a:stretch>
        </p:blipFill>
        <p:spPr>
          <a:xfrm>
            <a:off x="10951312" y="2858872"/>
            <a:ext cx="271577" cy="271577"/>
          </a:xfrm>
          <a:prstGeom prst="rect">
            <a:avLst/>
          </a:prstGeom>
        </p:spPr>
      </p:pic>
      <p:sp>
        <p:nvSpPr>
          <p:cNvPr id="24" name="Text 21"/>
          <p:cNvSpPr txBox="1"/>
          <p:nvPr/>
        </p:nvSpPr>
        <p:spPr>
          <a:xfrm>
            <a:off x="10561320" y="3310128"/>
            <a:ext cx="1051560" cy="228600"/>
          </a:xfrm>
          <a:prstGeom prst="rect">
            <a:avLst/>
          </a:prstGeom>
          <a:noFill/>
          <a:ln/>
        </p:spPr>
        <p:txBody>
          <a:bodyPr wrap="square" lIns="0" tIns="0" rIns="0" bIns="0" rtlCol="0" anchor="t"/>
          <a:lstStyle/>
          <a:p>
            <a:pPr algn="ctr" indent="0" marL="0">
              <a:buNone/>
            </a:pPr>
            <a:r>
              <a:rPr lang="en-US" sz="1100" b="1" dirty="0">
                <a:solidFill>
                  <a:srgbClr val="8F5400"/>
                </a:solidFill>
                <a:latin typeface="Calibri" pitchFamily="34" charset="0"/>
                <a:ea typeface="Calibri" pitchFamily="34" charset="-122"/>
                <a:cs typeface="Calibri" pitchFamily="34" charset="-120"/>
              </a:rPr>
              <a:t>Users see it</a:t>
            </a:r>
            <a:endParaRPr lang="en-US" sz="1100" dirty="0"/>
          </a:p>
        </p:txBody>
      </p:sp>
      <p:sp>
        <p:nvSpPr>
          <p:cNvPr id="25" name="Shape 22"/>
          <p:cNvSpPr/>
          <p:nvPr/>
        </p:nvSpPr>
        <p:spPr>
          <a:xfrm>
            <a:off x="6172200" y="3931920"/>
            <a:ext cx="5470855" cy="2057400"/>
          </a:xfrm>
          <a:prstGeom prst="roundRect">
            <a:avLst>
              <a:gd name="adj" fmla="val 5333"/>
            </a:avLst>
          </a:prstGeom>
          <a:solidFill>
            <a:srgbClr val="E3F4F1"/>
          </a:solidFill>
          <a:ln/>
        </p:spPr>
      </p:sp>
      <p:sp>
        <p:nvSpPr>
          <p:cNvPr id="26" name="Text 23"/>
          <p:cNvSpPr txBox="1"/>
          <p:nvPr/>
        </p:nvSpPr>
        <p:spPr>
          <a:xfrm>
            <a:off x="6446520" y="4114800"/>
            <a:ext cx="2743200" cy="329184"/>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RAD</a:t>
            </a:r>
            <a:endParaRPr lang="en-US" sz="1800" dirty="0"/>
          </a:p>
        </p:txBody>
      </p:sp>
      <p:sp>
        <p:nvSpPr>
          <p:cNvPr id="27" name="Text 24"/>
          <p:cNvSpPr txBox="1"/>
          <p:nvPr/>
        </p:nvSpPr>
        <p:spPr>
          <a:xfrm>
            <a:off x="6446520" y="4443984"/>
            <a:ext cx="4572000" cy="274320"/>
          </a:xfrm>
          <a:prstGeom prst="rect">
            <a:avLst/>
          </a:prstGeom>
          <a:noFill/>
          <a:ln/>
        </p:spPr>
        <p:txBody>
          <a:bodyPr wrap="square" lIns="0" tIns="0" rIns="0" bIns="0" rtlCol="0" anchor="t"/>
          <a:lstStyle/>
          <a:p>
            <a:pPr indent="0" marL="0">
              <a:buNone/>
            </a:pPr>
            <a:r>
              <a:rPr lang="en-US" sz="1300" dirty="0">
                <a:solidFill>
                  <a:srgbClr val="5A6878"/>
                </a:solidFill>
                <a:latin typeface="Calibri" pitchFamily="34" charset="0"/>
                <a:ea typeface="Calibri" pitchFamily="34" charset="-122"/>
                <a:cs typeface="Calibri" pitchFamily="34" charset="-120"/>
              </a:rPr>
              <a:t>Users see it early and often</a:t>
            </a:r>
            <a:endParaRPr lang="en-US" sz="1300" dirty="0"/>
          </a:p>
        </p:txBody>
      </p:sp>
      <p:sp>
        <p:nvSpPr>
          <p:cNvPr id="28" name="Shape 25"/>
          <p:cNvSpPr/>
          <p:nvPr/>
        </p:nvSpPr>
        <p:spPr>
          <a:xfrm>
            <a:off x="6446520" y="4988052"/>
            <a:ext cx="777240" cy="502920"/>
          </a:xfrm>
          <a:prstGeom prst="roundRect">
            <a:avLst>
              <a:gd name="adj" fmla="val 14545"/>
            </a:avLst>
          </a:prstGeom>
          <a:solidFill>
            <a:srgbClr val="0E1A2B"/>
          </a:solidFill>
          <a:ln/>
        </p:spPr>
      </p:sp>
      <p:sp>
        <p:nvSpPr>
          <p:cNvPr id="29" name="Text 26"/>
          <p:cNvSpPr txBox="1"/>
          <p:nvPr/>
        </p:nvSpPr>
        <p:spPr>
          <a:xfrm>
            <a:off x="6446520" y="4988052"/>
            <a:ext cx="7772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30" name="Shape 27"/>
          <p:cNvSpPr/>
          <p:nvPr/>
        </p:nvSpPr>
        <p:spPr>
          <a:xfrm>
            <a:off x="7269480" y="5239512"/>
            <a:ext cx="228600" cy="0"/>
          </a:xfrm>
          <a:prstGeom prst="line">
            <a:avLst/>
          </a:prstGeom>
          <a:noFill/>
          <a:ln w="19050">
            <a:solidFill>
              <a:srgbClr val="94A3B8"/>
            </a:solidFill>
            <a:prstDash val="solid"/>
            <a:tailEnd type="triangle"/>
          </a:ln>
        </p:spPr>
      </p:sp>
      <p:sp>
        <p:nvSpPr>
          <p:cNvPr id="31" name="Shape 28"/>
          <p:cNvSpPr/>
          <p:nvPr/>
        </p:nvSpPr>
        <p:spPr>
          <a:xfrm>
            <a:off x="7543800" y="4965192"/>
            <a:ext cx="548640" cy="548640"/>
          </a:xfrm>
          <a:prstGeom prst="ellipse">
            <a:avLst/>
          </a:prstGeom>
          <a:solidFill>
            <a:srgbClr val="0E9F8E"/>
          </a:solidFill>
          <a:ln/>
        </p:spPr>
      </p:sp>
      <p:pic>
        <p:nvPicPr>
          <p:cNvPr id="32" name="Image 1" descr="refresh cw icon">    </p:cNvPr>
          <p:cNvPicPr>
            <a:picLocks noChangeAspect="1"/>
          </p:cNvPicPr>
          <p:nvPr/>
        </p:nvPicPr>
        <p:blipFill>
          <a:blip r:embed="rId2"/>
          <a:stretch>
            <a:fillRect/>
          </a:stretch>
        </p:blipFill>
        <p:spPr>
          <a:xfrm>
            <a:off x="7680960" y="5102352"/>
            <a:ext cx="274320" cy="274320"/>
          </a:xfrm>
          <a:prstGeom prst="rect">
            <a:avLst/>
          </a:prstGeom>
        </p:spPr>
      </p:pic>
      <p:sp>
        <p:nvSpPr>
          <p:cNvPr id="33" name="Shape 29"/>
          <p:cNvSpPr/>
          <p:nvPr/>
        </p:nvSpPr>
        <p:spPr>
          <a:xfrm>
            <a:off x="7909560" y="4818888"/>
            <a:ext cx="274320" cy="274320"/>
          </a:xfrm>
          <a:prstGeom prst="ellipse">
            <a:avLst/>
          </a:prstGeom>
          <a:solidFill>
            <a:srgbClr val="F5A623"/>
          </a:solidFill>
          <a:ln/>
        </p:spPr>
      </p:sp>
      <p:pic>
        <p:nvPicPr>
          <p:cNvPr id="34" name="Image 2" descr="user icon">    </p:cNvPr>
          <p:cNvPicPr>
            <a:picLocks noChangeAspect="1"/>
          </p:cNvPicPr>
          <p:nvPr/>
        </p:nvPicPr>
        <p:blipFill>
          <a:blip r:embed="rId3"/>
          <a:stretch>
            <a:fillRect/>
          </a:stretch>
        </p:blipFill>
        <p:spPr>
          <a:xfrm>
            <a:off x="7964424" y="4873752"/>
            <a:ext cx="164592" cy="164592"/>
          </a:xfrm>
          <a:prstGeom prst="rect">
            <a:avLst/>
          </a:prstGeom>
        </p:spPr>
      </p:pic>
      <p:sp>
        <p:nvSpPr>
          <p:cNvPr id="35" name="Shape 30"/>
          <p:cNvSpPr/>
          <p:nvPr/>
        </p:nvSpPr>
        <p:spPr>
          <a:xfrm>
            <a:off x="8138160" y="5239512"/>
            <a:ext cx="274320" cy="0"/>
          </a:xfrm>
          <a:prstGeom prst="line">
            <a:avLst/>
          </a:prstGeom>
          <a:noFill/>
          <a:ln w="19050">
            <a:solidFill>
              <a:srgbClr val="94A3B8"/>
            </a:solidFill>
            <a:prstDash val="solid"/>
            <a:tailEnd type="triangle"/>
          </a:ln>
        </p:spPr>
      </p:sp>
      <p:sp>
        <p:nvSpPr>
          <p:cNvPr id="36" name="Shape 31"/>
          <p:cNvSpPr/>
          <p:nvPr/>
        </p:nvSpPr>
        <p:spPr>
          <a:xfrm>
            <a:off x="8458200" y="4965192"/>
            <a:ext cx="548640" cy="548640"/>
          </a:xfrm>
          <a:prstGeom prst="ellipse">
            <a:avLst/>
          </a:prstGeom>
          <a:solidFill>
            <a:srgbClr val="0E9F8E"/>
          </a:solidFill>
          <a:ln/>
        </p:spPr>
      </p:sp>
      <p:pic>
        <p:nvPicPr>
          <p:cNvPr id="37" name="Image 3" descr="refresh cw icon">    </p:cNvPr>
          <p:cNvPicPr>
            <a:picLocks noChangeAspect="1"/>
          </p:cNvPicPr>
          <p:nvPr/>
        </p:nvPicPr>
        <p:blipFill>
          <a:blip r:embed="rId4"/>
          <a:stretch>
            <a:fillRect/>
          </a:stretch>
        </p:blipFill>
        <p:spPr>
          <a:xfrm>
            <a:off x="8595360" y="5102352"/>
            <a:ext cx="274320" cy="274320"/>
          </a:xfrm>
          <a:prstGeom prst="rect">
            <a:avLst/>
          </a:prstGeom>
        </p:spPr>
      </p:pic>
      <p:sp>
        <p:nvSpPr>
          <p:cNvPr id="38" name="Shape 32"/>
          <p:cNvSpPr/>
          <p:nvPr/>
        </p:nvSpPr>
        <p:spPr>
          <a:xfrm>
            <a:off x="8823960" y="4818888"/>
            <a:ext cx="274320" cy="274320"/>
          </a:xfrm>
          <a:prstGeom prst="ellipse">
            <a:avLst/>
          </a:prstGeom>
          <a:solidFill>
            <a:srgbClr val="F5A623"/>
          </a:solidFill>
          <a:ln/>
        </p:spPr>
      </p:sp>
      <p:pic>
        <p:nvPicPr>
          <p:cNvPr id="39" name="Image 4" descr="user icon">    </p:cNvPr>
          <p:cNvPicPr>
            <a:picLocks noChangeAspect="1"/>
          </p:cNvPicPr>
          <p:nvPr/>
        </p:nvPicPr>
        <p:blipFill>
          <a:blip r:embed="rId5"/>
          <a:stretch>
            <a:fillRect/>
          </a:stretch>
        </p:blipFill>
        <p:spPr>
          <a:xfrm>
            <a:off x="8878824" y="4873752"/>
            <a:ext cx="164592" cy="164592"/>
          </a:xfrm>
          <a:prstGeom prst="rect">
            <a:avLst/>
          </a:prstGeom>
        </p:spPr>
      </p:pic>
      <p:sp>
        <p:nvSpPr>
          <p:cNvPr id="40" name="Shape 33"/>
          <p:cNvSpPr/>
          <p:nvPr/>
        </p:nvSpPr>
        <p:spPr>
          <a:xfrm>
            <a:off x="9052560" y="5239512"/>
            <a:ext cx="274320" cy="0"/>
          </a:xfrm>
          <a:prstGeom prst="line">
            <a:avLst/>
          </a:prstGeom>
          <a:noFill/>
          <a:ln w="19050">
            <a:solidFill>
              <a:srgbClr val="94A3B8"/>
            </a:solidFill>
            <a:prstDash val="solid"/>
            <a:tailEnd type="triangle"/>
          </a:ln>
        </p:spPr>
      </p:sp>
      <p:sp>
        <p:nvSpPr>
          <p:cNvPr id="41" name="Shape 34"/>
          <p:cNvSpPr/>
          <p:nvPr/>
        </p:nvSpPr>
        <p:spPr>
          <a:xfrm>
            <a:off x="9372600" y="4965192"/>
            <a:ext cx="548640" cy="548640"/>
          </a:xfrm>
          <a:prstGeom prst="ellipse">
            <a:avLst/>
          </a:prstGeom>
          <a:solidFill>
            <a:srgbClr val="0E9F8E"/>
          </a:solidFill>
          <a:ln/>
        </p:spPr>
      </p:sp>
      <p:pic>
        <p:nvPicPr>
          <p:cNvPr id="42" name="Image 5" descr="refresh cw icon">    </p:cNvPr>
          <p:cNvPicPr>
            <a:picLocks noChangeAspect="1"/>
          </p:cNvPicPr>
          <p:nvPr/>
        </p:nvPicPr>
        <p:blipFill>
          <a:blip r:embed="rId6"/>
          <a:stretch>
            <a:fillRect/>
          </a:stretch>
        </p:blipFill>
        <p:spPr>
          <a:xfrm>
            <a:off x="9509760" y="5102352"/>
            <a:ext cx="274320" cy="274320"/>
          </a:xfrm>
          <a:prstGeom prst="rect">
            <a:avLst/>
          </a:prstGeom>
        </p:spPr>
      </p:pic>
      <p:sp>
        <p:nvSpPr>
          <p:cNvPr id="43" name="Shape 35"/>
          <p:cNvSpPr/>
          <p:nvPr/>
        </p:nvSpPr>
        <p:spPr>
          <a:xfrm>
            <a:off x="9738360" y="4818888"/>
            <a:ext cx="274320" cy="274320"/>
          </a:xfrm>
          <a:prstGeom prst="ellipse">
            <a:avLst/>
          </a:prstGeom>
          <a:solidFill>
            <a:srgbClr val="F5A623"/>
          </a:solidFill>
          <a:ln/>
        </p:spPr>
      </p:sp>
      <p:pic>
        <p:nvPicPr>
          <p:cNvPr id="44" name="Image 6" descr="user icon">    </p:cNvPr>
          <p:cNvPicPr>
            <a:picLocks noChangeAspect="1"/>
          </p:cNvPicPr>
          <p:nvPr/>
        </p:nvPicPr>
        <p:blipFill>
          <a:blip r:embed="rId7"/>
          <a:stretch>
            <a:fillRect/>
          </a:stretch>
        </p:blipFill>
        <p:spPr>
          <a:xfrm>
            <a:off x="9793224" y="4873752"/>
            <a:ext cx="164592" cy="164592"/>
          </a:xfrm>
          <a:prstGeom prst="rect">
            <a:avLst/>
          </a:prstGeom>
        </p:spPr>
      </p:pic>
      <p:sp>
        <p:nvSpPr>
          <p:cNvPr id="45" name="Shape 36"/>
          <p:cNvSpPr/>
          <p:nvPr/>
        </p:nvSpPr>
        <p:spPr>
          <a:xfrm>
            <a:off x="9966960" y="5239512"/>
            <a:ext cx="228600" cy="0"/>
          </a:xfrm>
          <a:prstGeom prst="line">
            <a:avLst/>
          </a:prstGeom>
          <a:noFill/>
          <a:ln w="19050">
            <a:solidFill>
              <a:srgbClr val="94A3B8"/>
            </a:solidFill>
            <a:prstDash val="solid"/>
            <a:tailEnd type="triangle"/>
          </a:ln>
        </p:spPr>
      </p:sp>
      <p:sp>
        <p:nvSpPr>
          <p:cNvPr id="46" name="Shape 37"/>
          <p:cNvSpPr/>
          <p:nvPr/>
        </p:nvSpPr>
        <p:spPr>
          <a:xfrm>
            <a:off x="10241280" y="4988052"/>
            <a:ext cx="914400" cy="502920"/>
          </a:xfrm>
          <a:prstGeom prst="roundRect">
            <a:avLst>
              <a:gd name="adj" fmla="val 14545"/>
            </a:avLst>
          </a:prstGeom>
          <a:solidFill>
            <a:srgbClr val="0E1A2B"/>
          </a:solidFill>
          <a:ln/>
        </p:spPr>
      </p:sp>
      <p:sp>
        <p:nvSpPr>
          <p:cNvPr id="47" name="Text 38"/>
          <p:cNvSpPr txBox="1"/>
          <p:nvPr/>
        </p:nvSpPr>
        <p:spPr>
          <a:xfrm>
            <a:off x="10241280" y="4988052"/>
            <a:ext cx="9144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Launch</a:t>
            </a:r>
            <a:endParaRPr lang="en-US" sz="1300" dirty="0"/>
          </a:p>
        </p:txBody>
      </p:sp>
      <p:sp>
        <p:nvSpPr>
          <p:cNvPr id="48" name="Text 39"/>
          <p:cNvSpPr txBox="1"/>
          <p:nvPr/>
        </p:nvSpPr>
        <p:spPr>
          <a:xfrm>
            <a:off x="6446520" y="5650992"/>
            <a:ext cx="4922215" cy="237744"/>
          </a:xfrm>
          <a:prstGeom prst="rect">
            <a:avLst/>
          </a:prstGeom>
          <a:noFill/>
          <a:ln/>
        </p:spPr>
        <p:txBody>
          <a:bodyPr wrap="square" lIns="0" tIns="0" rIns="0" bIns="0" rtlCol="0" anchor="t"/>
          <a:lstStyle/>
          <a:p>
            <a:pPr indent="0" marL="0">
              <a:buNone/>
            </a:pPr>
            <a:r>
              <a:rPr lang="en-US" sz="1200" i="1" dirty="0">
                <a:solidFill>
                  <a:srgbClr val="0B7A6E"/>
                </a:solidFill>
                <a:latin typeface="Calibri" pitchFamily="34" charset="0"/>
                <a:ea typeface="Calibri" pitchFamily="34" charset="-122"/>
                <a:cs typeface="Calibri" pitchFamily="34" charset="-120"/>
              </a:rPr>
              <a:t>Each loop: build a version, users test it, improve it</a:t>
            </a:r>
            <a:endParaRPr lang="en-US" sz="1200" dirty="0"/>
          </a:p>
        </p:txBody>
      </p:sp>
      <p:sp>
        <p:nvSpPr>
          <p:cNvPr id="49" name="Text 40"/>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TechTarget (no date); IBM (no date)</a:t>
            </a:r>
            <a:endParaRPr lang="en-US" sz="1000" dirty="0"/>
          </a:p>
        </p:txBody>
      </p:sp>
      <p:sp>
        <p:nvSpPr>
          <p:cNvPr id="50" name="Text 41"/>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STAGES OF THE RAD MODEL</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The 4 stages of RAD</a:t>
            </a:r>
            <a:endParaRPr lang="en-US" sz="3400" dirty="0"/>
          </a:p>
        </p:txBody>
      </p:sp>
      <p:sp>
        <p:nvSpPr>
          <p:cNvPr id="6" name="Shape 4"/>
          <p:cNvSpPr/>
          <p:nvPr/>
        </p:nvSpPr>
        <p:spPr>
          <a:xfrm>
            <a:off x="618592" y="2514600"/>
            <a:ext cx="2395728" cy="1600200"/>
          </a:xfrm>
          <a:prstGeom prst="roundRect">
            <a:avLst>
              <a:gd name="adj" fmla="val 6857"/>
            </a:avLst>
          </a:prstGeom>
          <a:solidFill>
            <a:srgbClr val="0E1A2B"/>
          </a:solidFill>
          <a:ln/>
        </p:spPr>
      </p:sp>
      <p:sp>
        <p:nvSpPr>
          <p:cNvPr id="7" name="Shape 5"/>
          <p:cNvSpPr/>
          <p:nvPr/>
        </p:nvSpPr>
        <p:spPr>
          <a:xfrm>
            <a:off x="801472" y="2697480"/>
            <a:ext cx="420624" cy="420624"/>
          </a:xfrm>
          <a:prstGeom prst="ellipse">
            <a:avLst/>
          </a:prstGeom>
          <a:solidFill>
            <a:srgbClr val="F5A623"/>
          </a:solidFill>
          <a:ln/>
        </p:spPr>
      </p:sp>
      <p:sp>
        <p:nvSpPr>
          <p:cNvPr id="8" name="Text 6"/>
          <p:cNvSpPr txBox="1"/>
          <p:nvPr/>
        </p:nvSpPr>
        <p:spPr>
          <a:xfrm>
            <a:off x="801472"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1</a:t>
            </a:r>
            <a:endParaRPr lang="en-US" sz="1600" dirty="0"/>
          </a:p>
        </p:txBody>
      </p:sp>
      <p:pic>
        <p:nvPicPr>
          <p:cNvPr id="9" name="Image 0" descr="clipboard list icon">    </p:cNvPr>
          <p:cNvPicPr>
            <a:picLocks noChangeAspect="1"/>
          </p:cNvPicPr>
          <p:nvPr/>
        </p:nvPicPr>
        <p:blipFill>
          <a:blip r:embed="rId1"/>
          <a:stretch>
            <a:fillRect/>
          </a:stretch>
        </p:blipFill>
        <p:spPr>
          <a:xfrm>
            <a:off x="2502256" y="2734056"/>
            <a:ext cx="329184" cy="329184"/>
          </a:xfrm>
          <a:prstGeom prst="rect">
            <a:avLst/>
          </a:prstGeom>
        </p:spPr>
      </p:pic>
      <p:sp>
        <p:nvSpPr>
          <p:cNvPr id="10" name="Text 7"/>
          <p:cNvSpPr txBox="1"/>
          <p:nvPr/>
        </p:nvSpPr>
        <p:spPr>
          <a:xfrm>
            <a:off x="801472"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Requirements Planning</a:t>
            </a:r>
            <a:endParaRPr lang="en-US" sz="1700" dirty="0"/>
          </a:p>
        </p:txBody>
      </p:sp>
      <p:sp>
        <p:nvSpPr>
          <p:cNvPr id="11" name="Text 8"/>
          <p:cNvSpPr txBox="1"/>
          <p:nvPr/>
        </p:nvSpPr>
        <p:spPr>
          <a:xfrm>
            <a:off x="801472"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Agree what the system must do</a:t>
            </a:r>
            <a:endParaRPr lang="en-US" sz="1250" dirty="0"/>
          </a:p>
        </p:txBody>
      </p:sp>
      <p:sp>
        <p:nvSpPr>
          <p:cNvPr id="12" name="Shape 9"/>
          <p:cNvSpPr/>
          <p:nvPr/>
        </p:nvSpPr>
        <p:spPr>
          <a:xfrm>
            <a:off x="3078328" y="3314700"/>
            <a:ext cx="329184" cy="0"/>
          </a:xfrm>
          <a:prstGeom prst="line">
            <a:avLst/>
          </a:prstGeom>
          <a:noFill/>
          <a:ln w="25400">
            <a:solidFill>
              <a:srgbClr val="94A3B8"/>
            </a:solidFill>
            <a:prstDash val="solid"/>
            <a:tailEnd type="triangle"/>
          </a:ln>
        </p:spPr>
      </p:sp>
      <p:sp>
        <p:nvSpPr>
          <p:cNvPr id="13" name="Shape 10"/>
          <p:cNvSpPr/>
          <p:nvPr/>
        </p:nvSpPr>
        <p:spPr>
          <a:xfrm>
            <a:off x="3471520" y="2514600"/>
            <a:ext cx="2395728" cy="1600200"/>
          </a:xfrm>
          <a:prstGeom prst="roundRect">
            <a:avLst>
              <a:gd name="adj" fmla="val 6857"/>
            </a:avLst>
          </a:prstGeom>
          <a:solidFill>
            <a:srgbClr val="0E1A2B"/>
          </a:solidFill>
          <a:ln/>
        </p:spPr>
      </p:sp>
      <p:sp>
        <p:nvSpPr>
          <p:cNvPr id="14" name="Shape 11"/>
          <p:cNvSpPr/>
          <p:nvPr/>
        </p:nvSpPr>
        <p:spPr>
          <a:xfrm>
            <a:off x="3654400" y="2697480"/>
            <a:ext cx="420624" cy="420624"/>
          </a:xfrm>
          <a:prstGeom prst="ellipse">
            <a:avLst/>
          </a:prstGeom>
          <a:solidFill>
            <a:srgbClr val="F5A623"/>
          </a:solidFill>
          <a:ln/>
        </p:spPr>
      </p:sp>
      <p:sp>
        <p:nvSpPr>
          <p:cNvPr id="15" name="Text 12"/>
          <p:cNvSpPr txBox="1"/>
          <p:nvPr/>
        </p:nvSpPr>
        <p:spPr>
          <a:xfrm>
            <a:off x="3654400"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2</a:t>
            </a:r>
            <a:endParaRPr lang="en-US" sz="1600" dirty="0"/>
          </a:p>
        </p:txBody>
      </p:sp>
      <p:pic>
        <p:nvPicPr>
          <p:cNvPr id="16" name="Image 1" descr="pen tool icon">    </p:cNvPr>
          <p:cNvPicPr>
            <a:picLocks noChangeAspect="1"/>
          </p:cNvPicPr>
          <p:nvPr/>
        </p:nvPicPr>
        <p:blipFill>
          <a:blip r:embed="rId2"/>
          <a:stretch>
            <a:fillRect/>
          </a:stretch>
        </p:blipFill>
        <p:spPr>
          <a:xfrm>
            <a:off x="5355184" y="2734056"/>
            <a:ext cx="329184" cy="329184"/>
          </a:xfrm>
          <a:prstGeom prst="rect">
            <a:avLst/>
          </a:prstGeom>
        </p:spPr>
      </p:pic>
      <p:sp>
        <p:nvSpPr>
          <p:cNvPr id="17" name="Text 13"/>
          <p:cNvSpPr txBox="1"/>
          <p:nvPr/>
        </p:nvSpPr>
        <p:spPr>
          <a:xfrm>
            <a:off x="3654400"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User Design</a:t>
            </a:r>
            <a:endParaRPr lang="en-US" sz="1700" dirty="0"/>
          </a:p>
        </p:txBody>
      </p:sp>
      <p:sp>
        <p:nvSpPr>
          <p:cNvPr id="18" name="Text 14"/>
          <p:cNvSpPr txBox="1"/>
          <p:nvPr/>
        </p:nvSpPr>
        <p:spPr>
          <a:xfrm>
            <a:off x="3654400"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Build and test prototypes with users</a:t>
            </a:r>
            <a:endParaRPr lang="en-US" sz="1250" dirty="0"/>
          </a:p>
        </p:txBody>
      </p:sp>
      <p:sp>
        <p:nvSpPr>
          <p:cNvPr id="19" name="Shape 15"/>
          <p:cNvSpPr/>
          <p:nvPr/>
        </p:nvSpPr>
        <p:spPr>
          <a:xfrm>
            <a:off x="5931256" y="3314700"/>
            <a:ext cx="329184" cy="0"/>
          </a:xfrm>
          <a:prstGeom prst="line">
            <a:avLst/>
          </a:prstGeom>
          <a:noFill/>
          <a:ln w="25400">
            <a:solidFill>
              <a:srgbClr val="94A3B8"/>
            </a:solidFill>
            <a:prstDash val="solid"/>
            <a:tailEnd type="triangle"/>
          </a:ln>
        </p:spPr>
      </p:sp>
      <p:sp>
        <p:nvSpPr>
          <p:cNvPr id="20" name="Shape 16"/>
          <p:cNvSpPr/>
          <p:nvPr/>
        </p:nvSpPr>
        <p:spPr>
          <a:xfrm>
            <a:off x="6324448" y="2514600"/>
            <a:ext cx="2395728" cy="1600200"/>
          </a:xfrm>
          <a:prstGeom prst="roundRect">
            <a:avLst>
              <a:gd name="adj" fmla="val 6857"/>
            </a:avLst>
          </a:prstGeom>
          <a:solidFill>
            <a:srgbClr val="0E1A2B"/>
          </a:solidFill>
          <a:ln/>
        </p:spPr>
      </p:sp>
      <p:sp>
        <p:nvSpPr>
          <p:cNvPr id="21" name="Shape 17"/>
          <p:cNvSpPr/>
          <p:nvPr/>
        </p:nvSpPr>
        <p:spPr>
          <a:xfrm>
            <a:off x="6507328" y="2697480"/>
            <a:ext cx="420624" cy="420624"/>
          </a:xfrm>
          <a:prstGeom prst="ellipse">
            <a:avLst/>
          </a:prstGeom>
          <a:solidFill>
            <a:srgbClr val="F5A623"/>
          </a:solidFill>
          <a:ln/>
        </p:spPr>
      </p:sp>
      <p:sp>
        <p:nvSpPr>
          <p:cNvPr id="22" name="Text 18"/>
          <p:cNvSpPr txBox="1"/>
          <p:nvPr/>
        </p:nvSpPr>
        <p:spPr>
          <a:xfrm>
            <a:off x="6507328"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3</a:t>
            </a:r>
            <a:endParaRPr lang="en-US" sz="1600" dirty="0"/>
          </a:p>
        </p:txBody>
      </p:sp>
      <p:pic>
        <p:nvPicPr>
          <p:cNvPr id="23" name="Image 2" descr="code icon">    </p:cNvPr>
          <p:cNvPicPr>
            <a:picLocks noChangeAspect="1"/>
          </p:cNvPicPr>
          <p:nvPr/>
        </p:nvPicPr>
        <p:blipFill>
          <a:blip r:embed="rId3"/>
          <a:stretch>
            <a:fillRect/>
          </a:stretch>
        </p:blipFill>
        <p:spPr>
          <a:xfrm>
            <a:off x="8208112" y="2734056"/>
            <a:ext cx="329184" cy="329184"/>
          </a:xfrm>
          <a:prstGeom prst="rect">
            <a:avLst/>
          </a:prstGeom>
        </p:spPr>
      </p:pic>
      <p:sp>
        <p:nvSpPr>
          <p:cNvPr id="24" name="Text 19"/>
          <p:cNvSpPr txBox="1"/>
          <p:nvPr/>
        </p:nvSpPr>
        <p:spPr>
          <a:xfrm>
            <a:off x="6507328"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Construction</a:t>
            </a:r>
            <a:endParaRPr lang="en-US" sz="1700" dirty="0"/>
          </a:p>
        </p:txBody>
      </p:sp>
      <p:sp>
        <p:nvSpPr>
          <p:cNvPr id="25" name="Text 20"/>
          <p:cNvSpPr txBox="1"/>
          <p:nvPr/>
        </p:nvSpPr>
        <p:spPr>
          <a:xfrm>
            <a:off x="6507328"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Turn the prototypes into the real system</a:t>
            </a:r>
            <a:endParaRPr lang="en-US" sz="1250" dirty="0"/>
          </a:p>
        </p:txBody>
      </p:sp>
      <p:sp>
        <p:nvSpPr>
          <p:cNvPr id="26" name="Shape 21"/>
          <p:cNvSpPr/>
          <p:nvPr/>
        </p:nvSpPr>
        <p:spPr>
          <a:xfrm>
            <a:off x="8784184" y="3314700"/>
            <a:ext cx="329184" cy="0"/>
          </a:xfrm>
          <a:prstGeom prst="line">
            <a:avLst/>
          </a:prstGeom>
          <a:noFill/>
          <a:ln w="25400">
            <a:solidFill>
              <a:srgbClr val="94A3B8"/>
            </a:solidFill>
            <a:prstDash val="solid"/>
            <a:tailEnd type="triangle"/>
          </a:ln>
        </p:spPr>
      </p:sp>
      <p:sp>
        <p:nvSpPr>
          <p:cNvPr id="27" name="Shape 22"/>
          <p:cNvSpPr/>
          <p:nvPr/>
        </p:nvSpPr>
        <p:spPr>
          <a:xfrm>
            <a:off x="9177376" y="2514600"/>
            <a:ext cx="2395728" cy="1600200"/>
          </a:xfrm>
          <a:prstGeom prst="roundRect">
            <a:avLst>
              <a:gd name="adj" fmla="val 6857"/>
            </a:avLst>
          </a:prstGeom>
          <a:solidFill>
            <a:srgbClr val="0E1A2B"/>
          </a:solidFill>
          <a:ln/>
        </p:spPr>
      </p:sp>
      <p:sp>
        <p:nvSpPr>
          <p:cNvPr id="28" name="Shape 23"/>
          <p:cNvSpPr/>
          <p:nvPr/>
        </p:nvSpPr>
        <p:spPr>
          <a:xfrm>
            <a:off x="9360256" y="2697480"/>
            <a:ext cx="420624" cy="420624"/>
          </a:xfrm>
          <a:prstGeom prst="ellipse">
            <a:avLst/>
          </a:prstGeom>
          <a:solidFill>
            <a:srgbClr val="F5A623"/>
          </a:solidFill>
          <a:ln/>
        </p:spPr>
      </p:sp>
      <p:sp>
        <p:nvSpPr>
          <p:cNvPr id="29" name="Text 24"/>
          <p:cNvSpPr txBox="1"/>
          <p:nvPr/>
        </p:nvSpPr>
        <p:spPr>
          <a:xfrm>
            <a:off x="9360256" y="2697480"/>
            <a:ext cx="420624" cy="420624"/>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4</a:t>
            </a:r>
            <a:endParaRPr lang="en-US" sz="1600" dirty="0"/>
          </a:p>
        </p:txBody>
      </p:sp>
      <p:pic>
        <p:nvPicPr>
          <p:cNvPr id="30" name="Image 3" descr="rocket icon">    </p:cNvPr>
          <p:cNvPicPr>
            <a:picLocks noChangeAspect="1"/>
          </p:cNvPicPr>
          <p:nvPr/>
        </p:nvPicPr>
        <p:blipFill>
          <a:blip r:embed="rId4"/>
          <a:stretch>
            <a:fillRect/>
          </a:stretch>
        </p:blipFill>
        <p:spPr>
          <a:xfrm>
            <a:off x="11061040" y="2734056"/>
            <a:ext cx="329184" cy="329184"/>
          </a:xfrm>
          <a:prstGeom prst="rect">
            <a:avLst/>
          </a:prstGeom>
        </p:spPr>
      </p:pic>
      <p:sp>
        <p:nvSpPr>
          <p:cNvPr id="31" name="Text 25"/>
          <p:cNvSpPr txBox="1"/>
          <p:nvPr/>
        </p:nvSpPr>
        <p:spPr>
          <a:xfrm>
            <a:off x="9360256" y="3246120"/>
            <a:ext cx="2121408" cy="329184"/>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Cutover</a:t>
            </a:r>
            <a:endParaRPr lang="en-US" sz="1700" dirty="0"/>
          </a:p>
        </p:txBody>
      </p:sp>
      <p:sp>
        <p:nvSpPr>
          <p:cNvPr id="32" name="Text 26"/>
          <p:cNvSpPr txBox="1"/>
          <p:nvPr/>
        </p:nvSpPr>
        <p:spPr>
          <a:xfrm>
            <a:off x="9360256" y="3575304"/>
            <a:ext cx="2075688" cy="438912"/>
          </a:xfrm>
          <a:prstGeom prst="rect">
            <a:avLst/>
          </a:prstGeom>
          <a:noFill/>
          <a:ln/>
        </p:spPr>
        <p:txBody>
          <a:bodyPr wrap="square" lIns="0" tIns="0" rIns="0" bIns="0" rtlCol="0" anchor="t"/>
          <a:lstStyle/>
          <a:p>
            <a:pPr indent="0" marL="0">
              <a:buNone/>
            </a:pPr>
            <a:r>
              <a:rPr lang="en-US" sz="1250" dirty="0">
                <a:solidFill>
                  <a:srgbClr val="C9D6E3"/>
                </a:solidFill>
                <a:latin typeface="Calibri" pitchFamily="34" charset="0"/>
                <a:ea typeface="Calibri" pitchFamily="34" charset="-122"/>
                <a:cs typeface="Calibri" pitchFamily="34" charset="-120"/>
              </a:rPr>
              <a:t>Test, train users and go live</a:t>
            </a:r>
            <a:endParaRPr lang="en-US" sz="1250" dirty="0"/>
          </a:p>
        </p:txBody>
      </p:sp>
      <p:sp>
        <p:nvSpPr>
          <p:cNvPr id="33" name="Shape 27"/>
          <p:cNvSpPr/>
          <p:nvPr/>
        </p:nvSpPr>
        <p:spPr>
          <a:xfrm>
            <a:off x="7522312" y="4114800"/>
            <a:ext cx="0" cy="411480"/>
          </a:xfrm>
          <a:prstGeom prst="line">
            <a:avLst/>
          </a:prstGeom>
          <a:noFill/>
          <a:ln w="34925">
            <a:solidFill>
              <a:srgbClr val="F5A623"/>
            </a:solidFill>
            <a:prstDash val="solid"/>
          </a:ln>
        </p:spPr>
      </p:sp>
      <p:sp>
        <p:nvSpPr>
          <p:cNvPr id="34" name="Shape 28"/>
          <p:cNvSpPr/>
          <p:nvPr/>
        </p:nvSpPr>
        <p:spPr>
          <a:xfrm flipH="1">
            <a:off x="4669384" y="4526280"/>
            <a:ext cx="2852928" cy="0"/>
          </a:xfrm>
          <a:prstGeom prst="line">
            <a:avLst/>
          </a:prstGeom>
          <a:noFill/>
          <a:ln w="34925">
            <a:solidFill>
              <a:srgbClr val="F5A623"/>
            </a:solidFill>
            <a:prstDash val="solid"/>
          </a:ln>
        </p:spPr>
      </p:sp>
      <p:sp>
        <p:nvSpPr>
          <p:cNvPr id="35" name="Shape 29"/>
          <p:cNvSpPr/>
          <p:nvPr/>
        </p:nvSpPr>
        <p:spPr>
          <a:xfrm flipV="1">
            <a:off x="4669384" y="4133088"/>
            <a:ext cx="0" cy="393192"/>
          </a:xfrm>
          <a:prstGeom prst="line">
            <a:avLst/>
          </a:prstGeom>
          <a:noFill/>
          <a:ln w="34925">
            <a:solidFill>
              <a:srgbClr val="F5A623"/>
            </a:solidFill>
            <a:prstDash val="solid"/>
            <a:tailEnd type="triangle"/>
          </a:ln>
        </p:spPr>
      </p:sp>
      <p:sp>
        <p:nvSpPr>
          <p:cNvPr id="36" name="Text 30"/>
          <p:cNvSpPr txBox="1"/>
          <p:nvPr/>
        </p:nvSpPr>
        <p:spPr>
          <a:xfrm>
            <a:off x="3992728" y="4590288"/>
            <a:ext cx="4206240" cy="274320"/>
          </a:xfrm>
          <a:prstGeom prst="rect">
            <a:avLst/>
          </a:prstGeom>
          <a:noFill/>
          <a:ln/>
        </p:spPr>
        <p:txBody>
          <a:bodyPr wrap="square" lIns="0" tIns="0" rIns="0" bIns="0" rtlCol="0" anchor="t"/>
          <a:lstStyle/>
          <a:p>
            <a:pPr algn="ctr" indent="0" marL="0">
              <a:buNone/>
            </a:pPr>
            <a:r>
              <a:rPr lang="en-US" sz="1300" b="1" dirty="0">
                <a:solidFill>
                  <a:srgbClr val="8F5400"/>
                </a:solidFill>
                <a:latin typeface="Calibri" pitchFamily="34" charset="0"/>
                <a:ea typeface="Calibri" pitchFamily="34" charset="-122"/>
                <a:cs typeface="Calibri" pitchFamily="34" charset="-120"/>
              </a:rPr>
              <a:t>Users give feedback, changes are made, repeat</a:t>
            </a:r>
            <a:endParaRPr lang="en-US" sz="1300" dirty="0"/>
          </a:p>
        </p:txBody>
      </p:sp>
      <p:sp>
        <p:nvSpPr>
          <p:cNvPr id="37" name="Shape 31"/>
          <p:cNvSpPr/>
          <p:nvPr/>
        </p:nvSpPr>
        <p:spPr>
          <a:xfrm flipV="1">
            <a:off x="7522312" y="2103120"/>
            <a:ext cx="0" cy="411480"/>
          </a:xfrm>
          <a:prstGeom prst="line">
            <a:avLst/>
          </a:prstGeom>
          <a:noFill/>
          <a:ln w="19050">
            <a:solidFill>
              <a:srgbClr val="94A3B8"/>
            </a:solidFill>
            <a:prstDash val="dash"/>
          </a:ln>
        </p:spPr>
      </p:sp>
      <p:sp>
        <p:nvSpPr>
          <p:cNvPr id="38" name="Shape 32"/>
          <p:cNvSpPr/>
          <p:nvPr/>
        </p:nvSpPr>
        <p:spPr>
          <a:xfrm flipH="1">
            <a:off x="1816456" y="2103120"/>
            <a:ext cx="5705856" cy="0"/>
          </a:xfrm>
          <a:prstGeom prst="line">
            <a:avLst/>
          </a:prstGeom>
          <a:noFill/>
          <a:ln w="19050">
            <a:solidFill>
              <a:srgbClr val="94A3B8"/>
            </a:solidFill>
            <a:prstDash val="dash"/>
          </a:ln>
        </p:spPr>
      </p:sp>
      <p:sp>
        <p:nvSpPr>
          <p:cNvPr id="39" name="Shape 33"/>
          <p:cNvSpPr/>
          <p:nvPr/>
        </p:nvSpPr>
        <p:spPr>
          <a:xfrm>
            <a:off x="1816456" y="2103120"/>
            <a:ext cx="0" cy="393192"/>
          </a:xfrm>
          <a:prstGeom prst="line">
            <a:avLst/>
          </a:prstGeom>
          <a:noFill/>
          <a:ln w="19050">
            <a:solidFill>
              <a:srgbClr val="94A3B8"/>
            </a:solidFill>
            <a:prstDash val="dash"/>
            <a:tailEnd type="triangle"/>
          </a:ln>
        </p:spPr>
      </p:sp>
      <p:sp>
        <p:nvSpPr>
          <p:cNvPr id="40" name="Text 34"/>
          <p:cNvSpPr txBox="1"/>
          <p:nvPr/>
        </p:nvSpPr>
        <p:spPr>
          <a:xfrm>
            <a:off x="2017624" y="1792224"/>
            <a:ext cx="5303520" cy="256032"/>
          </a:xfrm>
          <a:prstGeom prst="rect">
            <a:avLst/>
          </a:prstGeom>
          <a:noFill/>
          <a:ln/>
        </p:spPr>
        <p:txBody>
          <a:bodyPr wrap="square" lIns="0" tIns="0" rIns="0" bIns="0" rtlCol="0" anchor="t"/>
          <a:lstStyle/>
          <a:p>
            <a:pPr algn="ctr" indent="0" marL="0">
              <a:buNone/>
            </a:pPr>
            <a:r>
              <a:rPr lang="en-US" sz="1250" i="1" dirty="0">
                <a:solidFill>
                  <a:srgbClr val="5A6878"/>
                </a:solidFill>
                <a:latin typeface="Calibri" pitchFamily="34" charset="0"/>
                <a:ea typeface="Calibri" pitchFamily="34" charset="-122"/>
                <a:cs typeface="Calibri" pitchFamily="34" charset="-120"/>
              </a:rPr>
              <a:t>Bigger changes? The team can go back to an earlier stage</a:t>
            </a:r>
            <a:endParaRPr lang="en-US" sz="1250" dirty="0"/>
          </a:p>
        </p:txBody>
      </p:sp>
      <p:sp>
        <p:nvSpPr>
          <p:cNvPr id="41" name="Shape 35"/>
          <p:cNvSpPr/>
          <p:nvPr/>
        </p:nvSpPr>
        <p:spPr>
          <a:xfrm>
            <a:off x="548640" y="5074920"/>
            <a:ext cx="11094415" cy="914400"/>
          </a:xfrm>
          <a:prstGeom prst="roundRect">
            <a:avLst>
              <a:gd name="adj" fmla="val 12000"/>
            </a:avLst>
          </a:prstGeom>
          <a:solidFill>
            <a:srgbClr val="E3F4F1"/>
          </a:solidFill>
          <a:ln/>
        </p:spPr>
      </p:sp>
      <p:sp>
        <p:nvSpPr>
          <p:cNvPr id="42" name="Shape 36"/>
          <p:cNvSpPr/>
          <p:nvPr/>
        </p:nvSpPr>
        <p:spPr>
          <a:xfrm>
            <a:off x="777240" y="5257800"/>
            <a:ext cx="548640" cy="548640"/>
          </a:xfrm>
          <a:prstGeom prst="ellipse">
            <a:avLst/>
          </a:prstGeom>
          <a:solidFill>
            <a:srgbClr val="0E9F8E"/>
          </a:solidFill>
          <a:ln/>
        </p:spPr>
      </p:sp>
      <p:pic>
        <p:nvPicPr>
          <p:cNvPr id="43" name="Image 4" descr="iteration cw icon">    </p:cNvPr>
          <p:cNvPicPr>
            <a:picLocks noChangeAspect="1"/>
          </p:cNvPicPr>
          <p:nvPr/>
        </p:nvPicPr>
        <p:blipFill>
          <a:blip r:embed="rId5"/>
          <a:stretch>
            <a:fillRect/>
          </a:stretch>
        </p:blipFill>
        <p:spPr>
          <a:xfrm>
            <a:off x="903427" y="5383987"/>
            <a:ext cx="296266" cy="296266"/>
          </a:xfrm>
          <a:prstGeom prst="rect">
            <a:avLst/>
          </a:prstGeom>
        </p:spPr>
      </p:pic>
      <p:sp>
        <p:nvSpPr>
          <p:cNvPr id="44" name="Text 37"/>
          <p:cNvSpPr txBox="1"/>
          <p:nvPr/>
        </p:nvSpPr>
        <p:spPr>
          <a:xfrm>
            <a:off x="1554480" y="5074920"/>
            <a:ext cx="9859975" cy="914400"/>
          </a:xfrm>
          <a:prstGeom prst="rect">
            <a:avLst/>
          </a:prstGeom>
          <a:noFill/>
          <a:ln/>
        </p:spPr>
        <p:txBody>
          <a:bodyPr wrap="square" lIns="0" tIns="0" rIns="0" bIns="0" rtlCol="0" anchor="ctr"/>
          <a:lstStyle/>
          <a:p>
            <a:pPr indent="0" marL="0">
              <a:buNone/>
            </a:pPr>
            <a:r>
              <a:rPr lang="en-US" sz="1550" b="1" dirty="0">
                <a:solidFill>
                  <a:srgbClr val="0B7A6E"/>
                </a:solidFill>
                <a:latin typeface="Calibri" pitchFamily="34" charset="0"/>
                <a:ea typeface="Calibri" pitchFamily="34" charset="-122"/>
                <a:cs typeface="Calibri" pitchFamily="34" charset="-120"/>
              </a:rPr>
              <a:t>RAD is iterative. </a:t>
            </a:r>
            <a:r>
              <a:rPr lang="en-US" sz="1550" dirty="0">
                <a:solidFill>
                  <a:srgbClr val="1F2A37"/>
                </a:solidFill>
                <a:latin typeface="Calibri" pitchFamily="34" charset="0"/>
                <a:ea typeface="Calibri" pitchFamily="34" charset="-122"/>
                <a:cs typeface="Calibri" pitchFamily="34" charset="-120"/>
              </a:rPr>
              <a:t>This means stages can be repeated. User Design and Construction usually go round in a loop until the users are happy, and the team can go back a stage whenever changes are needed.</a:t>
            </a:r>
            <a:endParaRPr lang="en-US" sz="1550" dirty="0"/>
          </a:p>
        </p:txBody>
      </p:sp>
      <p:sp>
        <p:nvSpPr>
          <p:cNvPr id="45" name="Text 38"/>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Martin (1991); IBM (no date); Lucidchart (no date)</a:t>
            </a:r>
            <a:endParaRPr lang="en-US" sz="1000" dirty="0"/>
          </a:p>
        </p:txBody>
      </p:sp>
      <p:sp>
        <p:nvSpPr>
          <p:cNvPr id="46" name="Text 39"/>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1: Requirements Planning</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0E9F8E"/>
          </a:solidFill>
          <a:ln w="15875">
            <a:solidFill>
              <a:srgbClr val="0E9F8E"/>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and developers meet in a workshop to agree what's needed</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They pick the key features and agree a budget and deadline</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They don't plan every detail, just enough to get started</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(the people who will use the system)</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client or managers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project manager, developers and analysts</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list of the main requirements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scope: what's in and what's out</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rough timescale and budget</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a local gym wants a class booking app. The manager and a few members meet the developers and agree the must-haves: booking a class, seeing how many spaces are left and cancelling a booking.</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 TechTarget (no date)</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2: User Design</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0E9F8E"/>
          </a:solidFill>
          <a:ln w="15875">
            <a:solidFill>
              <a:srgbClr val="0E9F8E"/>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quickly build prototypes (early versions of the screens)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try them out and say what works and what doesn't</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design is changed and tested again until users are happy</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who test the prototypes and give feedback</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and designers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Sometimes the client or managers</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Prototypes of the main screens and features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design the users have agreed on</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list of changes and ideas from users</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members try a prototype of the booking screen on their phones. They say the timetable is hard to read, so the developers change it to a simple list of today's classes and test it again.</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Sommerville (2016)</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3: Construction</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0E9F8E"/>
          </a:solidFill>
          <a:ln w="15875">
            <a:solidFill>
              <a:srgbClr val="0E9F8E"/>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turn the prototypes into the real, working system</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They build the database and write the code, reusing code to save time</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test parts as they're built, so changes can still be made</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(programmers) and testers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who keep giving feedback</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project manager, who keeps an eye on time and budget</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working system, built and tested in parts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Fixes and changes based on user feedback</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A system that's ready for final testing</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the developers build the real booking system with a database of classes and members. Members test booking a spin class, find a bug that allows double bookings, and it gets fixed straight away.</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 TechTarget (no date)</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EACH STAGE EXPLAINED</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Stage 4: Cutover</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0E9F8E"/>
          </a:solidFill>
          <a:ln w="15875">
            <a:solidFill>
              <a:srgbClr val="0E9F8E"/>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3515258" cy="2834640"/>
          </a:xfrm>
          <a:prstGeom prst="roundRect">
            <a:avLst>
              <a:gd name="adj" fmla="val 3871"/>
            </a:avLst>
          </a:prstGeom>
          <a:solidFill>
            <a:srgbClr val="F2F6F8"/>
          </a:solidFill>
          <a:ln/>
        </p:spPr>
      </p:sp>
      <p:sp>
        <p:nvSpPr>
          <p:cNvPr id="22" name="Shape 20"/>
          <p:cNvSpPr/>
          <p:nvPr/>
        </p:nvSpPr>
        <p:spPr>
          <a:xfrm>
            <a:off x="777240" y="1874520"/>
            <a:ext cx="502920" cy="502920"/>
          </a:xfrm>
          <a:prstGeom prst="ellipse">
            <a:avLst/>
          </a:prstGeom>
          <a:solidFill>
            <a:srgbClr val="0E9F8E"/>
          </a:solidFill>
          <a:ln/>
        </p:spPr>
      </p:sp>
      <p:pic>
        <p:nvPicPr>
          <p:cNvPr id="23" name="Image 0" descr="workflow icon">    </p:cNvPr>
          <p:cNvPicPr>
            <a:picLocks noChangeAspect="1"/>
          </p:cNvPicPr>
          <p:nvPr/>
        </p:nvPicPr>
        <p:blipFill>
          <a:blip r:embed="rId1"/>
          <a:stretch>
            <a:fillRect/>
          </a:stretch>
        </p:blipFill>
        <p:spPr>
          <a:xfrm>
            <a:off x="892912" y="1990192"/>
            <a:ext cx="271577" cy="271577"/>
          </a:xfrm>
          <a:prstGeom prst="rect">
            <a:avLst/>
          </a:prstGeom>
        </p:spPr>
      </p:pic>
      <p:sp>
        <p:nvSpPr>
          <p:cNvPr id="24" name="Text 21"/>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happens</a:t>
            </a:r>
            <a:endParaRPr lang="en-US" sz="1900" dirty="0"/>
          </a:p>
        </p:txBody>
      </p:sp>
      <p:sp>
        <p:nvSpPr>
          <p:cNvPr id="25" name="Text 22"/>
          <p:cNvSpPr txBox="1"/>
          <p:nvPr/>
        </p:nvSpPr>
        <p:spPr>
          <a:xfrm>
            <a:off x="768096"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Final testing to check everything works properly</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Data is moved from the old system into the new one</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Users are trained, then the new system goes live</a:t>
            </a:r>
            <a:endParaRPr lang="en-US" sz="1500" dirty="0"/>
          </a:p>
        </p:txBody>
      </p:sp>
      <p:sp>
        <p:nvSpPr>
          <p:cNvPr id="26" name="Shape 23"/>
          <p:cNvSpPr/>
          <p:nvPr/>
        </p:nvSpPr>
        <p:spPr>
          <a:xfrm>
            <a:off x="4338218" y="1645920"/>
            <a:ext cx="3515258" cy="2834640"/>
          </a:xfrm>
          <a:prstGeom prst="roundRect">
            <a:avLst>
              <a:gd name="adj" fmla="val 3871"/>
            </a:avLst>
          </a:prstGeom>
          <a:solidFill>
            <a:srgbClr val="F2F6F8"/>
          </a:solidFill>
          <a:ln/>
        </p:spPr>
      </p:sp>
      <p:sp>
        <p:nvSpPr>
          <p:cNvPr id="27" name="Shape 24"/>
          <p:cNvSpPr/>
          <p:nvPr/>
        </p:nvSpPr>
        <p:spPr>
          <a:xfrm>
            <a:off x="4566818" y="1874520"/>
            <a:ext cx="502920" cy="502920"/>
          </a:xfrm>
          <a:prstGeom prst="ellipse">
            <a:avLst/>
          </a:prstGeom>
          <a:solidFill>
            <a:srgbClr val="0E9F8E"/>
          </a:solidFill>
          <a:ln/>
        </p:spPr>
      </p:sp>
      <p:pic>
        <p:nvPicPr>
          <p:cNvPr id="28" name="Image 1" descr="users icon">    </p:cNvPr>
          <p:cNvPicPr>
            <a:picLocks noChangeAspect="1"/>
          </p:cNvPicPr>
          <p:nvPr/>
        </p:nvPicPr>
        <p:blipFill>
          <a:blip r:embed="rId2"/>
          <a:stretch>
            <a:fillRect/>
          </a:stretch>
        </p:blipFill>
        <p:spPr>
          <a:xfrm>
            <a:off x="4682490" y="1990192"/>
            <a:ext cx="271577" cy="271577"/>
          </a:xfrm>
          <a:prstGeom prst="rect">
            <a:avLst/>
          </a:prstGeom>
        </p:spPr>
      </p:pic>
      <p:sp>
        <p:nvSpPr>
          <p:cNvPr id="29" name="Text 25"/>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Who is involved</a:t>
            </a:r>
            <a:endParaRPr lang="en-US" sz="1900" dirty="0"/>
          </a:p>
        </p:txBody>
      </p:sp>
      <p:sp>
        <p:nvSpPr>
          <p:cNvPr id="30" name="Text 26"/>
          <p:cNvSpPr txBox="1"/>
          <p:nvPr/>
        </p:nvSpPr>
        <p:spPr>
          <a:xfrm>
            <a:off x="4557674"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Developers and IT support staff</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Staff and users who need training</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Managers, who agree it's ready to launch</a:t>
            </a:r>
            <a:endParaRPr lang="en-US" sz="1500" dirty="0"/>
          </a:p>
        </p:txBody>
      </p:sp>
      <p:sp>
        <p:nvSpPr>
          <p:cNvPr id="31" name="Shape 27"/>
          <p:cNvSpPr/>
          <p:nvPr/>
        </p:nvSpPr>
        <p:spPr>
          <a:xfrm>
            <a:off x="8127797" y="1645920"/>
            <a:ext cx="3515258" cy="2834640"/>
          </a:xfrm>
          <a:prstGeom prst="roundRect">
            <a:avLst>
              <a:gd name="adj" fmla="val 3871"/>
            </a:avLst>
          </a:prstGeom>
          <a:solidFill>
            <a:srgbClr val="F2F6F8"/>
          </a:solidFill>
          <a:ln/>
        </p:spPr>
      </p:sp>
      <p:sp>
        <p:nvSpPr>
          <p:cNvPr id="32" name="Shape 28"/>
          <p:cNvSpPr/>
          <p:nvPr/>
        </p:nvSpPr>
        <p:spPr>
          <a:xfrm>
            <a:off x="8356397" y="1874520"/>
            <a:ext cx="502920" cy="502920"/>
          </a:xfrm>
          <a:prstGeom prst="ellipse">
            <a:avLst/>
          </a:prstGeom>
          <a:solidFill>
            <a:srgbClr val="0E9F8E"/>
          </a:solidFill>
          <a:ln/>
        </p:spPr>
      </p:sp>
      <p:pic>
        <p:nvPicPr>
          <p:cNvPr id="33" name="Image 2" descr="package check icon">    </p:cNvPr>
          <p:cNvPicPr>
            <a:picLocks noChangeAspect="1"/>
          </p:cNvPicPr>
          <p:nvPr/>
        </p:nvPicPr>
        <p:blipFill>
          <a:blip r:embed="rId3"/>
          <a:stretch>
            <a:fillRect/>
          </a:stretch>
        </p:blipFill>
        <p:spPr>
          <a:xfrm>
            <a:off x="8472068" y="1990192"/>
            <a:ext cx="271577" cy="271577"/>
          </a:xfrm>
          <a:prstGeom prst="rect">
            <a:avLst/>
          </a:prstGeom>
        </p:spPr>
      </p:pic>
      <p:sp>
        <p:nvSpPr>
          <p:cNvPr id="34" name="Text 29"/>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What is produced</a:t>
            </a:r>
            <a:endParaRPr lang="en-US" sz="1900" dirty="0"/>
          </a:p>
        </p:txBody>
      </p:sp>
      <p:sp>
        <p:nvSpPr>
          <p:cNvPr id="35" name="Text 30"/>
          <p:cNvSpPr txBox="1"/>
          <p:nvPr/>
        </p:nvSpPr>
        <p:spPr>
          <a:xfrm>
            <a:off x="8347253" y="2560320"/>
            <a:ext cx="3112922" cy="1783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finished system, live and being used</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Trained users and simple user guides</a:t>
            </a:r>
            <a:endParaRPr lang="en-US" sz="1500" dirty="0"/>
          </a:p>
          <a:p>
            <a:pPr marL="177800" indent="-177800">
              <a:spcAft>
                <a:spcPts val="600"/>
              </a:spcAft>
              <a:buSzPct val="100000"/>
              <a:buChar char="•"/>
            </a:pPr>
            <a:r>
              <a:rPr lang="en-US" sz="1500" dirty="0">
                <a:solidFill>
                  <a:srgbClr val="1F2A37"/>
                </a:solidFill>
                <a:latin typeface="Calibri" pitchFamily="34" charset="0"/>
                <a:ea typeface="Calibri" pitchFamily="34" charset="-122"/>
                <a:cs typeface="Calibri" pitchFamily="34" charset="-120"/>
              </a:rPr>
              <a:t>The old data, now in the new system</a:t>
            </a:r>
            <a:endParaRPr lang="en-US" sz="1500" dirty="0"/>
          </a:p>
        </p:txBody>
      </p:sp>
      <p:sp>
        <p:nvSpPr>
          <p:cNvPr id="36" name="Shape 31"/>
          <p:cNvSpPr/>
          <p:nvPr/>
        </p:nvSpPr>
        <p:spPr>
          <a:xfrm>
            <a:off x="548640" y="4754880"/>
            <a:ext cx="11094415" cy="1234440"/>
          </a:xfrm>
          <a:prstGeom prst="roundRect">
            <a:avLst>
              <a:gd name="adj" fmla="val 8889"/>
            </a:avLst>
          </a:prstGeom>
          <a:solidFill>
            <a:srgbClr val="FFF4DF"/>
          </a:solidFill>
          <a:ln/>
        </p:spPr>
      </p:sp>
      <p:sp>
        <p:nvSpPr>
          <p:cNvPr id="37" name="Shape 32"/>
          <p:cNvSpPr/>
          <p:nvPr/>
        </p:nvSpPr>
        <p:spPr>
          <a:xfrm>
            <a:off x="777240" y="5097780"/>
            <a:ext cx="548640" cy="548640"/>
          </a:xfrm>
          <a:prstGeom prst="ellipse">
            <a:avLst/>
          </a:prstGeom>
          <a:solidFill>
            <a:srgbClr val="F5A623"/>
          </a:solidFill>
          <a:ln/>
        </p:spPr>
      </p:sp>
      <p:pic>
        <p:nvPicPr>
          <p:cNvPr id="38" name="Image 3" descr="lightbulb icon">    </p:cNvPr>
          <p:cNvPicPr>
            <a:picLocks noChangeAspect="1"/>
          </p:cNvPicPr>
          <p:nvPr/>
        </p:nvPicPr>
        <p:blipFill>
          <a:blip r:embed="rId4"/>
          <a:stretch>
            <a:fillRect/>
          </a:stretch>
        </p:blipFill>
        <p:spPr>
          <a:xfrm>
            <a:off x="903427" y="5223967"/>
            <a:ext cx="296266" cy="296266"/>
          </a:xfrm>
          <a:prstGeom prst="rect">
            <a:avLst/>
          </a:prstGeom>
        </p:spPr>
      </p:pic>
      <p:sp>
        <p:nvSpPr>
          <p:cNvPr id="39" name="Text 33"/>
          <p:cNvSpPr txBox="1"/>
          <p:nvPr/>
        </p:nvSpPr>
        <p:spPr>
          <a:xfrm>
            <a:off x="1554480" y="4754880"/>
            <a:ext cx="9859975" cy="1234440"/>
          </a:xfrm>
          <a:prstGeom prst="rect">
            <a:avLst/>
          </a:prstGeom>
          <a:noFill/>
          <a:ln/>
        </p:spPr>
        <p:txBody>
          <a:bodyPr wrap="square" lIns="0" tIns="0" rIns="0" bIns="0" rtlCol="0" anchor="ctr"/>
          <a:lstStyle/>
          <a:p>
            <a:pPr indent="0" marL="0">
              <a:buNone/>
            </a:pPr>
            <a:r>
              <a:rPr lang="en-US" sz="1500" b="1" dirty="0">
                <a:solidFill>
                  <a:srgbClr val="8F5400"/>
                </a:solidFill>
                <a:latin typeface="Calibri" pitchFamily="34" charset="0"/>
                <a:ea typeface="Calibri" pitchFamily="34" charset="-122"/>
                <a:cs typeface="Calibri" pitchFamily="34" charset="-120"/>
              </a:rPr>
              <a:t>For example: </a:t>
            </a:r>
            <a:r>
              <a:rPr lang="en-US" sz="1500" dirty="0">
                <a:solidFill>
                  <a:srgbClr val="1F2A37"/>
                </a:solidFill>
                <a:latin typeface="Calibri" pitchFamily="34" charset="0"/>
                <a:ea typeface="Calibri" pitchFamily="34" charset="-122"/>
                <a:cs typeface="Calibri" pitchFamily="34" charset="-120"/>
              </a:rPr>
              <a:t>the gym copies its member list from old spreadsheets into the new app, shows the reception staff how to use it, and then launches the app to all its members.</a:t>
            </a:r>
            <a:endParaRPr lang="en-US" sz="1500" dirty="0"/>
          </a:p>
        </p:txBody>
      </p:sp>
      <p:sp>
        <p:nvSpPr>
          <p:cNvPr id="40" name="Text 3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a:t>
            </a:r>
            <a:endParaRPr lang="en-US" sz="10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KEY FEATURES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Key features of RAD</a:t>
            </a:r>
            <a:endParaRPr lang="en-US" sz="3400" dirty="0"/>
          </a:p>
        </p:txBody>
      </p:sp>
      <p:sp>
        <p:nvSpPr>
          <p:cNvPr id="6" name="Shape 4"/>
          <p:cNvSpPr/>
          <p:nvPr/>
        </p:nvSpPr>
        <p:spPr>
          <a:xfrm>
            <a:off x="548640" y="1645920"/>
            <a:ext cx="2602154" cy="2057400"/>
          </a:xfrm>
          <a:prstGeom prst="roundRect">
            <a:avLst>
              <a:gd name="adj" fmla="val 5333"/>
            </a:avLst>
          </a:prstGeom>
          <a:solidFill>
            <a:srgbClr val="F2F6F8"/>
          </a:solidFill>
          <a:ln/>
        </p:spPr>
      </p:sp>
      <p:sp>
        <p:nvSpPr>
          <p:cNvPr id="7" name="Shape 5"/>
          <p:cNvSpPr/>
          <p:nvPr/>
        </p:nvSpPr>
        <p:spPr>
          <a:xfrm>
            <a:off x="749808" y="1847088"/>
            <a:ext cx="502920" cy="502920"/>
          </a:xfrm>
          <a:prstGeom prst="ellipse">
            <a:avLst/>
          </a:prstGeom>
          <a:solidFill>
            <a:srgbClr val="0E9F8E"/>
          </a:solidFill>
          <a:ln/>
        </p:spPr>
      </p:sp>
      <p:pic>
        <p:nvPicPr>
          <p:cNvPr id="8" name="Image 0" descr="zap icon">    </p:cNvPr>
          <p:cNvPicPr>
            <a:picLocks noChangeAspect="1"/>
          </p:cNvPicPr>
          <p:nvPr/>
        </p:nvPicPr>
        <p:blipFill>
          <a:blip r:embed="rId1"/>
          <a:stretch>
            <a:fillRect/>
          </a:stretch>
        </p:blipFill>
        <p:spPr>
          <a:xfrm>
            <a:off x="865480" y="1962760"/>
            <a:ext cx="271577" cy="271577"/>
          </a:xfrm>
          <a:prstGeom prst="rect">
            <a:avLst/>
          </a:prstGeom>
        </p:spPr>
      </p:pic>
      <p:sp>
        <p:nvSpPr>
          <p:cNvPr id="9" name="Text 6"/>
          <p:cNvSpPr txBox="1"/>
          <p:nvPr/>
        </p:nvSpPr>
        <p:spPr>
          <a:xfrm>
            <a:off x="749808"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Fast development</a:t>
            </a:r>
            <a:endParaRPr lang="en-US" sz="1700" dirty="0"/>
          </a:p>
        </p:txBody>
      </p:sp>
      <p:sp>
        <p:nvSpPr>
          <p:cNvPr id="10" name="Text 7"/>
          <p:cNvSpPr txBox="1"/>
          <p:nvPr/>
        </p:nvSpPr>
        <p:spPr>
          <a:xfrm>
            <a:off x="749808"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The aim is to deliver a working system quickly, using fixed deadlines (timeboxes).</a:t>
            </a:r>
            <a:endParaRPr lang="en-US" sz="1350" dirty="0"/>
          </a:p>
        </p:txBody>
      </p:sp>
      <p:sp>
        <p:nvSpPr>
          <p:cNvPr id="11" name="Shape 8"/>
          <p:cNvSpPr/>
          <p:nvPr/>
        </p:nvSpPr>
        <p:spPr>
          <a:xfrm>
            <a:off x="3379394" y="1645920"/>
            <a:ext cx="2602154" cy="2057400"/>
          </a:xfrm>
          <a:prstGeom prst="roundRect">
            <a:avLst>
              <a:gd name="adj" fmla="val 5333"/>
            </a:avLst>
          </a:prstGeom>
          <a:solidFill>
            <a:srgbClr val="F2F6F8"/>
          </a:solidFill>
          <a:ln/>
        </p:spPr>
      </p:sp>
      <p:sp>
        <p:nvSpPr>
          <p:cNvPr id="12" name="Shape 9"/>
          <p:cNvSpPr/>
          <p:nvPr/>
        </p:nvSpPr>
        <p:spPr>
          <a:xfrm>
            <a:off x="3580562" y="1847088"/>
            <a:ext cx="502920" cy="502920"/>
          </a:xfrm>
          <a:prstGeom prst="ellipse">
            <a:avLst/>
          </a:prstGeom>
          <a:solidFill>
            <a:srgbClr val="0E9F8E"/>
          </a:solidFill>
          <a:ln/>
        </p:spPr>
      </p:sp>
      <p:pic>
        <p:nvPicPr>
          <p:cNvPr id="13" name="Image 1" descr="users icon">    </p:cNvPr>
          <p:cNvPicPr>
            <a:picLocks noChangeAspect="1"/>
          </p:cNvPicPr>
          <p:nvPr/>
        </p:nvPicPr>
        <p:blipFill>
          <a:blip r:embed="rId2"/>
          <a:stretch>
            <a:fillRect/>
          </a:stretch>
        </p:blipFill>
        <p:spPr>
          <a:xfrm>
            <a:off x="3696233" y="1962760"/>
            <a:ext cx="271577" cy="271577"/>
          </a:xfrm>
          <a:prstGeom prst="rect">
            <a:avLst/>
          </a:prstGeom>
        </p:spPr>
      </p:pic>
      <p:sp>
        <p:nvSpPr>
          <p:cNvPr id="14" name="Text 10"/>
          <p:cNvSpPr txBox="1"/>
          <p:nvPr/>
        </p:nvSpPr>
        <p:spPr>
          <a:xfrm>
            <a:off x="3580562"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User involvement</a:t>
            </a:r>
            <a:endParaRPr lang="en-US" sz="1700" dirty="0"/>
          </a:p>
        </p:txBody>
      </p:sp>
      <p:sp>
        <p:nvSpPr>
          <p:cNvPr id="15" name="Text 11"/>
          <p:cNvSpPr txBox="1"/>
          <p:nvPr/>
        </p:nvSpPr>
        <p:spPr>
          <a:xfrm>
            <a:off x="3580562"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Users are part of the team from start to finish, not just at the beginning.</a:t>
            </a:r>
            <a:endParaRPr lang="en-US" sz="1350" dirty="0"/>
          </a:p>
        </p:txBody>
      </p:sp>
      <p:sp>
        <p:nvSpPr>
          <p:cNvPr id="16" name="Shape 12"/>
          <p:cNvSpPr/>
          <p:nvPr/>
        </p:nvSpPr>
        <p:spPr>
          <a:xfrm>
            <a:off x="6210148" y="1645920"/>
            <a:ext cx="2602154" cy="2057400"/>
          </a:xfrm>
          <a:prstGeom prst="roundRect">
            <a:avLst>
              <a:gd name="adj" fmla="val 5333"/>
            </a:avLst>
          </a:prstGeom>
          <a:solidFill>
            <a:srgbClr val="F2F6F8"/>
          </a:solidFill>
          <a:ln/>
        </p:spPr>
      </p:sp>
      <p:sp>
        <p:nvSpPr>
          <p:cNvPr id="17" name="Shape 13"/>
          <p:cNvSpPr/>
          <p:nvPr/>
        </p:nvSpPr>
        <p:spPr>
          <a:xfrm>
            <a:off x="6411316" y="1847088"/>
            <a:ext cx="502920" cy="502920"/>
          </a:xfrm>
          <a:prstGeom prst="ellipse">
            <a:avLst/>
          </a:prstGeom>
          <a:solidFill>
            <a:srgbClr val="0E9F8E"/>
          </a:solidFill>
          <a:ln/>
        </p:spPr>
      </p:sp>
      <p:pic>
        <p:nvPicPr>
          <p:cNvPr id="18" name="Image 2" descr="layout template icon">    </p:cNvPr>
          <p:cNvPicPr>
            <a:picLocks noChangeAspect="1"/>
          </p:cNvPicPr>
          <p:nvPr/>
        </p:nvPicPr>
        <p:blipFill>
          <a:blip r:embed="rId3"/>
          <a:stretch>
            <a:fillRect/>
          </a:stretch>
        </p:blipFill>
        <p:spPr>
          <a:xfrm>
            <a:off x="6526987" y="1962760"/>
            <a:ext cx="271577" cy="271577"/>
          </a:xfrm>
          <a:prstGeom prst="rect">
            <a:avLst/>
          </a:prstGeom>
        </p:spPr>
      </p:pic>
      <p:sp>
        <p:nvSpPr>
          <p:cNvPr id="19" name="Text 14"/>
          <p:cNvSpPr txBox="1"/>
          <p:nvPr/>
        </p:nvSpPr>
        <p:spPr>
          <a:xfrm>
            <a:off x="6411316"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Prototyping</a:t>
            </a:r>
            <a:endParaRPr lang="en-US" sz="1700" dirty="0"/>
          </a:p>
        </p:txBody>
      </p:sp>
      <p:sp>
        <p:nvSpPr>
          <p:cNvPr id="20" name="Text 15"/>
          <p:cNvSpPr txBox="1"/>
          <p:nvPr/>
        </p:nvSpPr>
        <p:spPr>
          <a:xfrm>
            <a:off x="6411316"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Early versions are built so users can try the system, not just read about it.</a:t>
            </a:r>
            <a:endParaRPr lang="en-US" sz="1350" dirty="0"/>
          </a:p>
        </p:txBody>
      </p:sp>
      <p:sp>
        <p:nvSpPr>
          <p:cNvPr id="21" name="Shape 16"/>
          <p:cNvSpPr/>
          <p:nvPr/>
        </p:nvSpPr>
        <p:spPr>
          <a:xfrm>
            <a:off x="9040901" y="1645920"/>
            <a:ext cx="2602154" cy="2057400"/>
          </a:xfrm>
          <a:prstGeom prst="roundRect">
            <a:avLst>
              <a:gd name="adj" fmla="val 5333"/>
            </a:avLst>
          </a:prstGeom>
          <a:solidFill>
            <a:srgbClr val="F2F6F8"/>
          </a:solidFill>
          <a:ln/>
        </p:spPr>
      </p:sp>
      <p:sp>
        <p:nvSpPr>
          <p:cNvPr id="22" name="Shape 17"/>
          <p:cNvSpPr/>
          <p:nvPr/>
        </p:nvSpPr>
        <p:spPr>
          <a:xfrm>
            <a:off x="9242069" y="1847088"/>
            <a:ext cx="502920" cy="502920"/>
          </a:xfrm>
          <a:prstGeom prst="ellipse">
            <a:avLst/>
          </a:prstGeom>
          <a:solidFill>
            <a:srgbClr val="0E9F8E"/>
          </a:solidFill>
          <a:ln/>
        </p:spPr>
      </p:sp>
      <p:pic>
        <p:nvPicPr>
          <p:cNvPr id="23" name="Image 3" descr="messages square icon">    </p:cNvPr>
          <p:cNvPicPr>
            <a:picLocks noChangeAspect="1"/>
          </p:cNvPicPr>
          <p:nvPr/>
        </p:nvPicPr>
        <p:blipFill>
          <a:blip r:embed="rId4"/>
          <a:stretch>
            <a:fillRect/>
          </a:stretch>
        </p:blipFill>
        <p:spPr>
          <a:xfrm>
            <a:off x="9357741" y="1962760"/>
            <a:ext cx="271577" cy="271577"/>
          </a:xfrm>
          <a:prstGeom prst="rect">
            <a:avLst/>
          </a:prstGeom>
        </p:spPr>
      </p:pic>
      <p:sp>
        <p:nvSpPr>
          <p:cNvPr id="24" name="Text 18"/>
          <p:cNvSpPr txBox="1"/>
          <p:nvPr/>
        </p:nvSpPr>
        <p:spPr>
          <a:xfrm>
            <a:off x="9242069" y="2468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Continuous feedback</a:t>
            </a:r>
            <a:endParaRPr lang="en-US" sz="1700" dirty="0"/>
          </a:p>
        </p:txBody>
      </p:sp>
      <p:sp>
        <p:nvSpPr>
          <p:cNvPr id="25" name="Text 19"/>
          <p:cNvSpPr txBox="1"/>
          <p:nvPr/>
        </p:nvSpPr>
        <p:spPr>
          <a:xfrm>
            <a:off x="9242069" y="2816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Users give feedback all the way through, so problems are spotted early.</a:t>
            </a:r>
            <a:endParaRPr lang="en-US" sz="1350" dirty="0"/>
          </a:p>
        </p:txBody>
      </p:sp>
      <p:sp>
        <p:nvSpPr>
          <p:cNvPr id="26" name="Shape 20"/>
          <p:cNvSpPr/>
          <p:nvPr/>
        </p:nvSpPr>
        <p:spPr>
          <a:xfrm>
            <a:off x="548640" y="3931920"/>
            <a:ext cx="2602154" cy="2057400"/>
          </a:xfrm>
          <a:prstGeom prst="roundRect">
            <a:avLst>
              <a:gd name="adj" fmla="val 5333"/>
            </a:avLst>
          </a:prstGeom>
          <a:solidFill>
            <a:srgbClr val="F2F6F8"/>
          </a:solidFill>
          <a:ln/>
        </p:spPr>
      </p:sp>
      <p:sp>
        <p:nvSpPr>
          <p:cNvPr id="27" name="Shape 21"/>
          <p:cNvSpPr/>
          <p:nvPr/>
        </p:nvSpPr>
        <p:spPr>
          <a:xfrm>
            <a:off x="749808" y="4133088"/>
            <a:ext cx="502920" cy="502920"/>
          </a:xfrm>
          <a:prstGeom prst="ellipse">
            <a:avLst/>
          </a:prstGeom>
          <a:solidFill>
            <a:srgbClr val="0E9F8E"/>
          </a:solidFill>
          <a:ln/>
        </p:spPr>
      </p:sp>
      <p:pic>
        <p:nvPicPr>
          <p:cNvPr id="28" name="Image 4" descr="shuffle icon">    </p:cNvPr>
          <p:cNvPicPr>
            <a:picLocks noChangeAspect="1"/>
          </p:cNvPicPr>
          <p:nvPr/>
        </p:nvPicPr>
        <p:blipFill>
          <a:blip r:embed="rId5"/>
          <a:stretch>
            <a:fillRect/>
          </a:stretch>
        </p:blipFill>
        <p:spPr>
          <a:xfrm>
            <a:off x="865480" y="4248760"/>
            <a:ext cx="271577" cy="271577"/>
          </a:xfrm>
          <a:prstGeom prst="rect">
            <a:avLst/>
          </a:prstGeom>
        </p:spPr>
      </p:pic>
      <p:sp>
        <p:nvSpPr>
          <p:cNvPr id="29" name="Text 22"/>
          <p:cNvSpPr txBox="1"/>
          <p:nvPr/>
        </p:nvSpPr>
        <p:spPr>
          <a:xfrm>
            <a:off x="749808" y="4754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Flexibility</a:t>
            </a:r>
            <a:endParaRPr lang="en-US" sz="1700" dirty="0"/>
          </a:p>
        </p:txBody>
      </p:sp>
      <p:sp>
        <p:nvSpPr>
          <p:cNvPr id="30" name="Text 23"/>
          <p:cNvSpPr txBox="1"/>
          <p:nvPr/>
        </p:nvSpPr>
        <p:spPr>
          <a:xfrm>
            <a:off x="749808" y="5102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Requirements can change during the project. Changes are expected, not a problem.</a:t>
            </a:r>
            <a:endParaRPr lang="en-US" sz="1350" dirty="0"/>
          </a:p>
        </p:txBody>
      </p:sp>
      <p:sp>
        <p:nvSpPr>
          <p:cNvPr id="31" name="Shape 24"/>
          <p:cNvSpPr/>
          <p:nvPr/>
        </p:nvSpPr>
        <p:spPr>
          <a:xfrm>
            <a:off x="3379394" y="3931920"/>
            <a:ext cx="2602154" cy="2057400"/>
          </a:xfrm>
          <a:prstGeom prst="roundRect">
            <a:avLst>
              <a:gd name="adj" fmla="val 5333"/>
            </a:avLst>
          </a:prstGeom>
          <a:solidFill>
            <a:srgbClr val="F2F6F8"/>
          </a:solidFill>
          <a:ln/>
        </p:spPr>
      </p:sp>
      <p:sp>
        <p:nvSpPr>
          <p:cNvPr id="32" name="Shape 25"/>
          <p:cNvSpPr/>
          <p:nvPr/>
        </p:nvSpPr>
        <p:spPr>
          <a:xfrm>
            <a:off x="3580562" y="4133088"/>
            <a:ext cx="502920" cy="502920"/>
          </a:xfrm>
          <a:prstGeom prst="ellipse">
            <a:avLst/>
          </a:prstGeom>
          <a:solidFill>
            <a:srgbClr val="0E9F8E"/>
          </a:solidFill>
          <a:ln/>
        </p:spPr>
      </p:sp>
      <p:pic>
        <p:nvPicPr>
          <p:cNvPr id="33" name="Image 5" descr="iteration cw icon">    </p:cNvPr>
          <p:cNvPicPr>
            <a:picLocks noChangeAspect="1"/>
          </p:cNvPicPr>
          <p:nvPr/>
        </p:nvPicPr>
        <p:blipFill>
          <a:blip r:embed="rId6"/>
          <a:stretch>
            <a:fillRect/>
          </a:stretch>
        </p:blipFill>
        <p:spPr>
          <a:xfrm>
            <a:off x="3696233" y="4248760"/>
            <a:ext cx="271577" cy="271577"/>
          </a:xfrm>
          <a:prstGeom prst="rect">
            <a:avLst/>
          </a:prstGeom>
        </p:spPr>
      </p:pic>
      <p:sp>
        <p:nvSpPr>
          <p:cNvPr id="34" name="Text 26"/>
          <p:cNvSpPr txBox="1"/>
          <p:nvPr/>
        </p:nvSpPr>
        <p:spPr>
          <a:xfrm>
            <a:off x="3580562" y="4754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Iterative development</a:t>
            </a:r>
            <a:endParaRPr lang="en-US" sz="1700" dirty="0"/>
          </a:p>
        </p:txBody>
      </p:sp>
      <p:sp>
        <p:nvSpPr>
          <p:cNvPr id="35" name="Text 27"/>
          <p:cNvSpPr txBox="1"/>
          <p:nvPr/>
        </p:nvSpPr>
        <p:spPr>
          <a:xfrm>
            <a:off x="3580562" y="5102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The system is built in cycles: build, test, improve, then repeat.</a:t>
            </a:r>
            <a:endParaRPr lang="en-US" sz="1350" dirty="0"/>
          </a:p>
        </p:txBody>
      </p:sp>
      <p:sp>
        <p:nvSpPr>
          <p:cNvPr id="36" name="Shape 28"/>
          <p:cNvSpPr/>
          <p:nvPr/>
        </p:nvSpPr>
        <p:spPr>
          <a:xfrm>
            <a:off x="6210148" y="3931920"/>
            <a:ext cx="2602154" cy="2057400"/>
          </a:xfrm>
          <a:prstGeom prst="roundRect">
            <a:avLst>
              <a:gd name="adj" fmla="val 5333"/>
            </a:avLst>
          </a:prstGeom>
          <a:solidFill>
            <a:srgbClr val="F2F6F8"/>
          </a:solidFill>
          <a:ln/>
        </p:spPr>
      </p:sp>
      <p:sp>
        <p:nvSpPr>
          <p:cNvPr id="37" name="Shape 29"/>
          <p:cNvSpPr/>
          <p:nvPr/>
        </p:nvSpPr>
        <p:spPr>
          <a:xfrm>
            <a:off x="6411316" y="4133088"/>
            <a:ext cx="502920" cy="502920"/>
          </a:xfrm>
          <a:prstGeom prst="ellipse">
            <a:avLst/>
          </a:prstGeom>
          <a:solidFill>
            <a:srgbClr val="0E9F8E"/>
          </a:solidFill>
          <a:ln/>
        </p:spPr>
      </p:sp>
      <p:pic>
        <p:nvPicPr>
          <p:cNvPr id="38" name="Image 6" descr="handshake icon">    </p:cNvPr>
          <p:cNvPicPr>
            <a:picLocks noChangeAspect="1"/>
          </p:cNvPicPr>
          <p:nvPr/>
        </p:nvPicPr>
        <p:blipFill>
          <a:blip r:embed="rId7"/>
          <a:stretch>
            <a:fillRect/>
          </a:stretch>
        </p:blipFill>
        <p:spPr>
          <a:xfrm>
            <a:off x="6526987" y="4248760"/>
            <a:ext cx="271577" cy="271577"/>
          </a:xfrm>
          <a:prstGeom prst="rect">
            <a:avLst/>
          </a:prstGeom>
        </p:spPr>
      </p:pic>
      <p:sp>
        <p:nvSpPr>
          <p:cNvPr id="39" name="Text 30"/>
          <p:cNvSpPr txBox="1"/>
          <p:nvPr/>
        </p:nvSpPr>
        <p:spPr>
          <a:xfrm>
            <a:off x="6411316" y="4754880"/>
            <a:ext cx="2236394" cy="329184"/>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Teamwork</a:t>
            </a:r>
            <a:endParaRPr lang="en-US" sz="1700" dirty="0"/>
          </a:p>
        </p:txBody>
      </p:sp>
      <p:sp>
        <p:nvSpPr>
          <p:cNvPr id="40" name="Text 31"/>
          <p:cNvSpPr txBox="1"/>
          <p:nvPr/>
        </p:nvSpPr>
        <p:spPr>
          <a:xfrm>
            <a:off x="6411316" y="5102352"/>
            <a:ext cx="2236394" cy="777240"/>
          </a:xfrm>
          <a:prstGeom prst="rect">
            <a:avLst/>
          </a:prstGeom>
          <a:noFill/>
          <a:ln/>
        </p:spPr>
        <p:txBody>
          <a:bodyPr wrap="square" lIns="0" tIns="0" rIns="0" bIns="0" rtlCol="0" anchor="t"/>
          <a:lstStyle/>
          <a:p>
            <a:pPr indent="0" marL="0">
              <a:buNone/>
            </a:pPr>
            <a:r>
              <a:rPr lang="en-US" sz="1350" dirty="0">
                <a:solidFill>
                  <a:srgbClr val="1F2A37"/>
                </a:solidFill>
                <a:latin typeface="Calibri" pitchFamily="34" charset="0"/>
                <a:ea typeface="Calibri" pitchFamily="34" charset="-122"/>
                <a:cs typeface="Calibri" pitchFamily="34" charset="-120"/>
              </a:rPr>
              <a:t>Developers and users work closely as one team and talk to each other a lot.</a:t>
            </a:r>
            <a:endParaRPr lang="en-US" sz="1350" dirty="0"/>
          </a:p>
        </p:txBody>
      </p:sp>
      <p:sp>
        <p:nvSpPr>
          <p:cNvPr id="41" name="Shape 32"/>
          <p:cNvSpPr/>
          <p:nvPr/>
        </p:nvSpPr>
        <p:spPr>
          <a:xfrm>
            <a:off x="9040901" y="3931920"/>
            <a:ext cx="2602154" cy="2057400"/>
          </a:xfrm>
          <a:prstGeom prst="roundRect">
            <a:avLst>
              <a:gd name="adj" fmla="val 5333"/>
            </a:avLst>
          </a:prstGeom>
          <a:solidFill>
            <a:srgbClr val="0E1A2B"/>
          </a:solidFill>
          <a:ln/>
        </p:spPr>
      </p:sp>
      <p:sp>
        <p:nvSpPr>
          <p:cNvPr id="42" name="Text 33"/>
          <p:cNvSpPr txBox="1"/>
          <p:nvPr/>
        </p:nvSpPr>
        <p:spPr>
          <a:xfrm>
            <a:off x="9269501" y="4206240"/>
            <a:ext cx="2144954" cy="274320"/>
          </a:xfrm>
          <a:prstGeom prst="rect">
            <a:avLst/>
          </a:prstGeom>
          <a:noFill/>
          <a:ln/>
        </p:spPr>
        <p:txBody>
          <a:bodyPr wrap="square" lIns="0" tIns="0" rIns="0" bIns="0" rtlCol="0" anchor="t"/>
          <a:lstStyle/>
          <a:p>
            <a:pPr indent="0" marL="0">
              <a:buNone/>
            </a:pPr>
            <a:r>
              <a:rPr lang="en-US" sz="1300" b="1" spc="100" kern="0" dirty="0">
                <a:solidFill>
                  <a:srgbClr val="7FD8CC"/>
                </a:solidFill>
                <a:latin typeface="Calibri" pitchFamily="34" charset="0"/>
                <a:ea typeface="Calibri" pitchFamily="34" charset="-122"/>
                <a:cs typeface="Calibri" pitchFamily="34" charset="-120"/>
              </a:rPr>
              <a:t>In short</a:t>
            </a:r>
            <a:endParaRPr lang="en-US" sz="1300" dirty="0"/>
          </a:p>
        </p:txBody>
      </p:sp>
      <p:sp>
        <p:nvSpPr>
          <p:cNvPr id="43" name="Text 34"/>
          <p:cNvSpPr txBox="1"/>
          <p:nvPr/>
        </p:nvSpPr>
        <p:spPr>
          <a:xfrm>
            <a:off x="9269501" y="4572000"/>
            <a:ext cx="2144954" cy="11887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Build something quickly, show it to users and improve it together.</a:t>
            </a:r>
            <a:endParaRPr lang="en-US" sz="1700" dirty="0"/>
          </a:p>
        </p:txBody>
      </p:sp>
      <p:sp>
        <p:nvSpPr>
          <p:cNvPr id="44" name="Text 35"/>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Beynon-Davies et al. (1999); Lucidchart (no date); TechTarget (no date)</a:t>
            </a:r>
            <a:endParaRPr lang="en-US" sz="1000" dirty="0"/>
          </a:p>
        </p:txBody>
      </p:sp>
      <p:sp>
        <p:nvSpPr>
          <p:cNvPr id="45" name="Text 36"/>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ADVANTAGES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Advantages of RAD</a:t>
            </a:r>
            <a:endParaRPr lang="en-US" sz="3400" dirty="0"/>
          </a:p>
        </p:txBody>
      </p:sp>
      <p:sp>
        <p:nvSpPr>
          <p:cNvPr id="6" name="Shape 4"/>
          <p:cNvSpPr/>
          <p:nvPr/>
        </p:nvSpPr>
        <p:spPr>
          <a:xfrm>
            <a:off x="548640" y="1645920"/>
            <a:ext cx="5410048" cy="1965960"/>
          </a:xfrm>
          <a:prstGeom prst="roundRect">
            <a:avLst>
              <a:gd name="adj" fmla="val 5581"/>
            </a:avLst>
          </a:prstGeom>
          <a:solidFill>
            <a:srgbClr val="E3F4F1"/>
          </a:solidFill>
          <a:ln/>
        </p:spPr>
      </p:sp>
      <p:sp>
        <p:nvSpPr>
          <p:cNvPr id="7" name="Shape 5"/>
          <p:cNvSpPr/>
          <p:nvPr/>
        </p:nvSpPr>
        <p:spPr>
          <a:xfrm>
            <a:off x="822960" y="1920240"/>
            <a:ext cx="685800" cy="685800"/>
          </a:xfrm>
          <a:prstGeom prst="ellipse">
            <a:avLst/>
          </a:prstGeom>
          <a:solidFill>
            <a:srgbClr val="0E9F8E"/>
          </a:solidFill>
          <a:ln/>
        </p:spPr>
      </p:sp>
      <p:pic>
        <p:nvPicPr>
          <p:cNvPr id="8" name="Image 0" descr="gauge icon">    </p:cNvPr>
          <p:cNvPicPr>
            <a:picLocks noChangeAspect="1"/>
          </p:cNvPicPr>
          <p:nvPr/>
        </p:nvPicPr>
        <p:blipFill>
          <a:blip r:embed="rId1"/>
          <a:stretch>
            <a:fillRect/>
          </a:stretch>
        </p:blipFill>
        <p:spPr>
          <a:xfrm>
            <a:off x="980694" y="2077974"/>
            <a:ext cx="370332" cy="370332"/>
          </a:xfrm>
          <a:prstGeom prst="rect">
            <a:avLst/>
          </a:prstGeom>
        </p:spPr>
      </p:pic>
      <p:sp>
        <p:nvSpPr>
          <p:cNvPr id="9" name="Text 6"/>
          <p:cNvSpPr txBox="1"/>
          <p:nvPr/>
        </p:nvSpPr>
        <p:spPr>
          <a:xfrm>
            <a:off x="1737360"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Faster development</a:t>
            </a:r>
            <a:endParaRPr lang="en-US" sz="2000" dirty="0"/>
          </a:p>
        </p:txBody>
      </p:sp>
      <p:sp>
        <p:nvSpPr>
          <p:cNvPr id="10" name="Text 7"/>
          <p:cNvSpPr txBox="1"/>
          <p:nvPr/>
        </p:nvSpPr>
        <p:spPr>
          <a:xfrm>
            <a:off x="1737360" y="234086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11" name="Text 8"/>
          <p:cNvSpPr txBox="1"/>
          <p:nvPr/>
        </p:nvSpPr>
        <p:spPr>
          <a:xfrm>
            <a:off x="1737360"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Working versions are ready early. This means the business can start using the system, and getting the benefits, sooner.</a:t>
            </a:r>
            <a:endParaRPr lang="en-US" sz="1500" dirty="0"/>
          </a:p>
        </p:txBody>
      </p:sp>
      <p:sp>
        <p:nvSpPr>
          <p:cNvPr id="12" name="Shape 9"/>
          <p:cNvSpPr/>
          <p:nvPr/>
        </p:nvSpPr>
        <p:spPr>
          <a:xfrm>
            <a:off x="6233008" y="1645920"/>
            <a:ext cx="5410048" cy="1965960"/>
          </a:xfrm>
          <a:prstGeom prst="roundRect">
            <a:avLst>
              <a:gd name="adj" fmla="val 5581"/>
            </a:avLst>
          </a:prstGeom>
          <a:solidFill>
            <a:srgbClr val="E3F4F1"/>
          </a:solidFill>
          <a:ln/>
        </p:spPr>
      </p:sp>
      <p:sp>
        <p:nvSpPr>
          <p:cNvPr id="13" name="Shape 10"/>
          <p:cNvSpPr/>
          <p:nvPr/>
        </p:nvSpPr>
        <p:spPr>
          <a:xfrm>
            <a:off x="6507328" y="1920240"/>
            <a:ext cx="685800" cy="685800"/>
          </a:xfrm>
          <a:prstGeom prst="ellipse">
            <a:avLst/>
          </a:prstGeom>
          <a:solidFill>
            <a:srgbClr val="0E9F8E"/>
          </a:solidFill>
          <a:ln/>
        </p:spPr>
      </p:sp>
      <p:pic>
        <p:nvPicPr>
          <p:cNvPr id="14" name="Image 1" descr="user check icon">    </p:cNvPr>
          <p:cNvPicPr>
            <a:picLocks noChangeAspect="1"/>
          </p:cNvPicPr>
          <p:nvPr/>
        </p:nvPicPr>
        <p:blipFill>
          <a:blip r:embed="rId2"/>
          <a:stretch>
            <a:fillRect/>
          </a:stretch>
        </p:blipFill>
        <p:spPr>
          <a:xfrm>
            <a:off x="6665062" y="2077974"/>
            <a:ext cx="370332" cy="370332"/>
          </a:xfrm>
          <a:prstGeom prst="rect">
            <a:avLst/>
          </a:prstGeom>
        </p:spPr>
      </p:pic>
      <p:sp>
        <p:nvSpPr>
          <p:cNvPr id="15" name="Text 11"/>
          <p:cNvSpPr txBox="1"/>
          <p:nvPr/>
        </p:nvSpPr>
        <p:spPr>
          <a:xfrm>
            <a:off x="7421728"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More user involvement</a:t>
            </a:r>
            <a:endParaRPr lang="en-US" sz="2000" dirty="0"/>
          </a:p>
        </p:txBody>
      </p:sp>
      <p:sp>
        <p:nvSpPr>
          <p:cNvPr id="16" name="Text 12"/>
          <p:cNvSpPr txBox="1"/>
          <p:nvPr/>
        </p:nvSpPr>
        <p:spPr>
          <a:xfrm>
            <a:off x="7421728" y="234086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17" name="Text 13"/>
          <p:cNvSpPr txBox="1"/>
          <p:nvPr/>
        </p:nvSpPr>
        <p:spPr>
          <a:xfrm>
            <a:off x="7421728"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Users help to design the system, so it's more likely to do what they actually need. They're also more likely to be happy using it.</a:t>
            </a:r>
            <a:endParaRPr lang="en-US" sz="1500" dirty="0"/>
          </a:p>
        </p:txBody>
      </p:sp>
      <p:sp>
        <p:nvSpPr>
          <p:cNvPr id="18" name="Shape 14"/>
          <p:cNvSpPr/>
          <p:nvPr/>
        </p:nvSpPr>
        <p:spPr>
          <a:xfrm>
            <a:off x="548640" y="3886200"/>
            <a:ext cx="5410048" cy="1965960"/>
          </a:xfrm>
          <a:prstGeom prst="roundRect">
            <a:avLst>
              <a:gd name="adj" fmla="val 5581"/>
            </a:avLst>
          </a:prstGeom>
          <a:solidFill>
            <a:srgbClr val="E3F4F1"/>
          </a:solidFill>
          <a:ln/>
        </p:spPr>
      </p:sp>
      <p:sp>
        <p:nvSpPr>
          <p:cNvPr id="19" name="Shape 15"/>
          <p:cNvSpPr/>
          <p:nvPr/>
        </p:nvSpPr>
        <p:spPr>
          <a:xfrm>
            <a:off x="822960" y="4160520"/>
            <a:ext cx="685800" cy="685800"/>
          </a:xfrm>
          <a:prstGeom prst="ellipse">
            <a:avLst/>
          </a:prstGeom>
          <a:solidFill>
            <a:srgbClr val="0E9F8E"/>
          </a:solidFill>
          <a:ln/>
        </p:spPr>
      </p:sp>
      <p:pic>
        <p:nvPicPr>
          <p:cNvPr id="20" name="Image 2" descr="refresh cw icon">    </p:cNvPr>
          <p:cNvPicPr>
            <a:picLocks noChangeAspect="1"/>
          </p:cNvPicPr>
          <p:nvPr/>
        </p:nvPicPr>
        <p:blipFill>
          <a:blip r:embed="rId3"/>
          <a:stretch>
            <a:fillRect/>
          </a:stretch>
        </p:blipFill>
        <p:spPr>
          <a:xfrm>
            <a:off x="980694" y="4318254"/>
            <a:ext cx="370332" cy="370332"/>
          </a:xfrm>
          <a:prstGeom prst="rect">
            <a:avLst/>
          </a:prstGeom>
        </p:spPr>
      </p:pic>
      <p:sp>
        <p:nvSpPr>
          <p:cNvPr id="21" name="Text 16"/>
          <p:cNvSpPr txBox="1"/>
          <p:nvPr/>
        </p:nvSpPr>
        <p:spPr>
          <a:xfrm>
            <a:off x="1737360"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Easier to make changes</a:t>
            </a:r>
            <a:endParaRPr lang="en-US" sz="2000" dirty="0"/>
          </a:p>
        </p:txBody>
      </p:sp>
      <p:sp>
        <p:nvSpPr>
          <p:cNvPr id="22" name="Text 17"/>
          <p:cNvSpPr txBox="1"/>
          <p:nvPr/>
        </p:nvSpPr>
        <p:spPr>
          <a:xfrm>
            <a:off x="1737360" y="458114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23" name="Text 18"/>
          <p:cNvSpPr txBox="1"/>
          <p:nvPr/>
        </p:nvSpPr>
        <p:spPr>
          <a:xfrm>
            <a:off x="1737360"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system is built in small cycles, so changes can be made along the way instead of waiting until the end, when they're harder to make.</a:t>
            </a:r>
            <a:endParaRPr lang="en-US" sz="1500" dirty="0"/>
          </a:p>
        </p:txBody>
      </p:sp>
      <p:sp>
        <p:nvSpPr>
          <p:cNvPr id="24" name="Shape 19"/>
          <p:cNvSpPr/>
          <p:nvPr/>
        </p:nvSpPr>
        <p:spPr>
          <a:xfrm>
            <a:off x="6233008" y="3886200"/>
            <a:ext cx="5410048" cy="1965960"/>
          </a:xfrm>
          <a:prstGeom prst="roundRect">
            <a:avLst>
              <a:gd name="adj" fmla="val 5581"/>
            </a:avLst>
          </a:prstGeom>
          <a:solidFill>
            <a:srgbClr val="E3F4F1"/>
          </a:solidFill>
          <a:ln/>
        </p:spPr>
      </p:sp>
      <p:sp>
        <p:nvSpPr>
          <p:cNvPr id="25" name="Shape 20"/>
          <p:cNvSpPr/>
          <p:nvPr/>
        </p:nvSpPr>
        <p:spPr>
          <a:xfrm>
            <a:off x="6507328" y="4160520"/>
            <a:ext cx="685800" cy="685800"/>
          </a:xfrm>
          <a:prstGeom prst="ellipse">
            <a:avLst/>
          </a:prstGeom>
          <a:solidFill>
            <a:srgbClr val="0E9F8E"/>
          </a:solidFill>
          <a:ln/>
        </p:spPr>
      </p:sp>
      <p:pic>
        <p:nvPicPr>
          <p:cNvPr id="26" name="Image 3" descr="search check icon">    </p:cNvPr>
          <p:cNvPicPr>
            <a:picLocks noChangeAspect="1"/>
          </p:cNvPicPr>
          <p:nvPr/>
        </p:nvPicPr>
        <p:blipFill>
          <a:blip r:embed="rId4"/>
          <a:stretch>
            <a:fillRect/>
          </a:stretch>
        </p:blipFill>
        <p:spPr>
          <a:xfrm>
            <a:off x="6665062" y="4318254"/>
            <a:ext cx="370332" cy="370332"/>
          </a:xfrm>
          <a:prstGeom prst="rect">
            <a:avLst/>
          </a:prstGeom>
        </p:spPr>
      </p:pic>
      <p:sp>
        <p:nvSpPr>
          <p:cNvPr id="27" name="Text 21"/>
          <p:cNvSpPr txBox="1"/>
          <p:nvPr/>
        </p:nvSpPr>
        <p:spPr>
          <a:xfrm>
            <a:off x="7421728"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Problems are found earlier</a:t>
            </a:r>
            <a:endParaRPr lang="en-US" sz="2000" dirty="0"/>
          </a:p>
        </p:txBody>
      </p:sp>
      <p:sp>
        <p:nvSpPr>
          <p:cNvPr id="28" name="Text 22"/>
          <p:cNvSpPr txBox="1"/>
          <p:nvPr/>
        </p:nvSpPr>
        <p:spPr>
          <a:xfrm>
            <a:off x="7421728" y="4581144"/>
            <a:ext cx="3992728" cy="219456"/>
          </a:xfrm>
          <a:prstGeom prst="rect">
            <a:avLst/>
          </a:prstGeom>
          <a:noFill/>
          <a:ln/>
        </p:spPr>
        <p:txBody>
          <a:bodyPr wrap="square" lIns="0" tIns="0" rIns="0" bIns="0" rtlCol="0" anchor="ctr"/>
          <a:lstStyle/>
          <a:p>
            <a:pPr indent="0" marL="0">
              <a:buNone/>
            </a:pPr>
            <a:r>
              <a:rPr lang="en-US" sz="1100" b="1" spc="100" kern="0" dirty="0">
                <a:solidFill>
                  <a:srgbClr val="0B7A6E"/>
                </a:solidFill>
                <a:latin typeface="Calibri" pitchFamily="34" charset="0"/>
                <a:ea typeface="Calibri" pitchFamily="34" charset="-122"/>
                <a:cs typeface="Calibri" pitchFamily="34" charset="-120"/>
              </a:rPr>
              <a:t>WHY IT'S USEFUL</a:t>
            </a:r>
            <a:endParaRPr lang="en-US" sz="1100" dirty="0"/>
          </a:p>
        </p:txBody>
      </p:sp>
      <p:sp>
        <p:nvSpPr>
          <p:cNvPr id="29" name="Text 23"/>
          <p:cNvSpPr txBox="1"/>
          <p:nvPr/>
        </p:nvSpPr>
        <p:spPr>
          <a:xfrm>
            <a:off x="7421728"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Users test prototypes from the start, so mistakes and misunderstandings are caught before lots of time and money is wasted.</a:t>
            </a:r>
            <a:endParaRPr lang="en-US" sz="1500" dirty="0"/>
          </a:p>
        </p:txBody>
      </p:sp>
      <p:sp>
        <p:nvSpPr>
          <p:cNvPr id="30" name="Text 2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a:t>
            </a:r>
            <a:endParaRPr lang="en-US" sz="1000" dirty="0"/>
          </a:p>
        </p:txBody>
      </p:sp>
      <p:sp>
        <p:nvSpPr>
          <p:cNvPr id="31" name="Text 2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DISADVANTAGES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Disadvantages of RAD</a:t>
            </a:r>
            <a:endParaRPr lang="en-US" sz="3400" dirty="0"/>
          </a:p>
        </p:txBody>
      </p:sp>
      <p:sp>
        <p:nvSpPr>
          <p:cNvPr id="6" name="Shape 4"/>
          <p:cNvSpPr/>
          <p:nvPr/>
        </p:nvSpPr>
        <p:spPr>
          <a:xfrm>
            <a:off x="548640" y="1645920"/>
            <a:ext cx="5410048" cy="1965960"/>
          </a:xfrm>
          <a:prstGeom prst="roundRect">
            <a:avLst>
              <a:gd name="adj" fmla="val 5581"/>
            </a:avLst>
          </a:prstGeom>
          <a:solidFill>
            <a:srgbClr val="FDECE8"/>
          </a:solidFill>
          <a:ln/>
        </p:spPr>
      </p:sp>
      <p:sp>
        <p:nvSpPr>
          <p:cNvPr id="7" name="Shape 5"/>
          <p:cNvSpPr/>
          <p:nvPr/>
        </p:nvSpPr>
        <p:spPr>
          <a:xfrm>
            <a:off x="822960" y="1920240"/>
            <a:ext cx="685800" cy="685800"/>
          </a:xfrm>
          <a:prstGeom prst="ellipse">
            <a:avLst/>
          </a:prstGeom>
          <a:solidFill>
            <a:srgbClr val="E0533D"/>
          </a:solidFill>
          <a:ln/>
        </p:spPr>
      </p:sp>
      <p:pic>
        <p:nvPicPr>
          <p:cNvPr id="8" name="Image 0" descr="user x icon">    </p:cNvPr>
          <p:cNvPicPr>
            <a:picLocks noChangeAspect="1"/>
          </p:cNvPicPr>
          <p:nvPr/>
        </p:nvPicPr>
        <p:blipFill>
          <a:blip r:embed="rId1"/>
          <a:stretch>
            <a:fillRect/>
          </a:stretch>
        </p:blipFill>
        <p:spPr>
          <a:xfrm>
            <a:off x="980694" y="2077974"/>
            <a:ext cx="370332" cy="370332"/>
          </a:xfrm>
          <a:prstGeom prst="rect">
            <a:avLst/>
          </a:prstGeom>
        </p:spPr>
      </p:pic>
      <p:sp>
        <p:nvSpPr>
          <p:cNvPr id="9" name="Text 6"/>
          <p:cNvSpPr txBox="1"/>
          <p:nvPr/>
        </p:nvSpPr>
        <p:spPr>
          <a:xfrm>
            <a:off x="1737360"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Needs regular user involvement</a:t>
            </a:r>
            <a:endParaRPr lang="en-US" sz="2000" dirty="0"/>
          </a:p>
        </p:txBody>
      </p:sp>
      <p:sp>
        <p:nvSpPr>
          <p:cNvPr id="10" name="Text 7"/>
          <p:cNvSpPr txBox="1"/>
          <p:nvPr/>
        </p:nvSpPr>
        <p:spPr>
          <a:xfrm>
            <a:off x="1737360" y="234086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11" name="Text 8"/>
          <p:cNvSpPr txBox="1"/>
          <p:nvPr/>
        </p:nvSpPr>
        <p:spPr>
          <a:xfrm>
            <a:off x="1737360"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RAD depends on users giving feedback all the time. If they're too busy, the project can stall or end up with the wrong features.</a:t>
            </a:r>
            <a:endParaRPr lang="en-US" sz="1500" dirty="0"/>
          </a:p>
        </p:txBody>
      </p:sp>
      <p:sp>
        <p:nvSpPr>
          <p:cNvPr id="12" name="Shape 9"/>
          <p:cNvSpPr/>
          <p:nvPr/>
        </p:nvSpPr>
        <p:spPr>
          <a:xfrm>
            <a:off x="6233008" y="1645920"/>
            <a:ext cx="5410048" cy="1965960"/>
          </a:xfrm>
          <a:prstGeom prst="roundRect">
            <a:avLst>
              <a:gd name="adj" fmla="val 5581"/>
            </a:avLst>
          </a:prstGeom>
          <a:solidFill>
            <a:srgbClr val="FDECE8"/>
          </a:solidFill>
          <a:ln/>
        </p:spPr>
      </p:sp>
      <p:sp>
        <p:nvSpPr>
          <p:cNvPr id="13" name="Shape 10"/>
          <p:cNvSpPr/>
          <p:nvPr/>
        </p:nvSpPr>
        <p:spPr>
          <a:xfrm>
            <a:off x="6507328" y="1920240"/>
            <a:ext cx="685800" cy="685800"/>
          </a:xfrm>
          <a:prstGeom prst="ellipse">
            <a:avLst/>
          </a:prstGeom>
          <a:solidFill>
            <a:srgbClr val="E0533D"/>
          </a:solidFill>
          <a:ln/>
        </p:spPr>
      </p:sp>
      <p:pic>
        <p:nvPicPr>
          <p:cNvPr id="14" name="Image 1" descr="graduation cap icon">    </p:cNvPr>
          <p:cNvPicPr>
            <a:picLocks noChangeAspect="1"/>
          </p:cNvPicPr>
          <p:nvPr/>
        </p:nvPicPr>
        <p:blipFill>
          <a:blip r:embed="rId2"/>
          <a:stretch>
            <a:fillRect/>
          </a:stretch>
        </p:blipFill>
        <p:spPr>
          <a:xfrm>
            <a:off x="6665062" y="2077974"/>
            <a:ext cx="370332" cy="370332"/>
          </a:xfrm>
          <a:prstGeom prst="rect">
            <a:avLst/>
          </a:prstGeom>
        </p:spPr>
      </p:pic>
      <p:sp>
        <p:nvSpPr>
          <p:cNvPr id="15" name="Text 11"/>
          <p:cNvSpPr txBox="1"/>
          <p:nvPr/>
        </p:nvSpPr>
        <p:spPr>
          <a:xfrm>
            <a:off x="7421728" y="187452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Needs skilled developers</a:t>
            </a:r>
            <a:endParaRPr lang="en-US" sz="2000" dirty="0"/>
          </a:p>
        </p:txBody>
      </p:sp>
      <p:sp>
        <p:nvSpPr>
          <p:cNvPr id="16" name="Text 12"/>
          <p:cNvSpPr txBox="1"/>
          <p:nvPr/>
        </p:nvSpPr>
        <p:spPr>
          <a:xfrm>
            <a:off x="7421728" y="234086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17" name="Text 13"/>
          <p:cNvSpPr txBox="1"/>
          <p:nvPr/>
        </p:nvSpPr>
        <p:spPr>
          <a:xfrm>
            <a:off x="7421728" y="261518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The team has to work fast and change things quickly. An inexperienced team could miss deadlines, or rush and produce poor quality work.</a:t>
            </a:r>
            <a:endParaRPr lang="en-US" sz="1500" dirty="0"/>
          </a:p>
        </p:txBody>
      </p:sp>
      <p:sp>
        <p:nvSpPr>
          <p:cNvPr id="18" name="Shape 14"/>
          <p:cNvSpPr/>
          <p:nvPr/>
        </p:nvSpPr>
        <p:spPr>
          <a:xfrm>
            <a:off x="548640" y="3886200"/>
            <a:ext cx="5410048" cy="1965960"/>
          </a:xfrm>
          <a:prstGeom prst="roundRect">
            <a:avLst>
              <a:gd name="adj" fmla="val 5581"/>
            </a:avLst>
          </a:prstGeom>
          <a:solidFill>
            <a:srgbClr val="FDECE8"/>
          </a:solidFill>
          <a:ln/>
        </p:spPr>
      </p:sp>
      <p:sp>
        <p:nvSpPr>
          <p:cNvPr id="19" name="Shape 15"/>
          <p:cNvSpPr/>
          <p:nvPr/>
        </p:nvSpPr>
        <p:spPr>
          <a:xfrm>
            <a:off x="822960" y="4160520"/>
            <a:ext cx="685800" cy="685800"/>
          </a:xfrm>
          <a:prstGeom prst="ellipse">
            <a:avLst/>
          </a:prstGeom>
          <a:solidFill>
            <a:srgbClr val="E0533D"/>
          </a:solidFill>
          <a:ln/>
        </p:spPr>
      </p:sp>
      <p:pic>
        <p:nvPicPr>
          <p:cNvPr id="20" name="Image 2" descr="calendar clock icon">    </p:cNvPr>
          <p:cNvPicPr>
            <a:picLocks noChangeAspect="1"/>
          </p:cNvPicPr>
          <p:nvPr/>
        </p:nvPicPr>
        <p:blipFill>
          <a:blip r:embed="rId3"/>
          <a:stretch>
            <a:fillRect/>
          </a:stretch>
        </p:blipFill>
        <p:spPr>
          <a:xfrm>
            <a:off x="980694" y="4318254"/>
            <a:ext cx="370332" cy="370332"/>
          </a:xfrm>
          <a:prstGeom prst="rect">
            <a:avLst/>
          </a:prstGeom>
        </p:spPr>
      </p:pic>
      <p:sp>
        <p:nvSpPr>
          <p:cNvPr id="21" name="Text 16"/>
          <p:cNvSpPr txBox="1"/>
          <p:nvPr/>
        </p:nvSpPr>
        <p:spPr>
          <a:xfrm>
            <a:off x="1737360"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Can be hard to manage</a:t>
            </a:r>
            <a:endParaRPr lang="en-US" sz="2000" dirty="0"/>
          </a:p>
        </p:txBody>
      </p:sp>
      <p:sp>
        <p:nvSpPr>
          <p:cNvPr id="22" name="Text 17"/>
          <p:cNvSpPr txBox="1"/>
          <p:nvPr/>
        </p:nvSpPr>
        <p:spPr>
          <a:xfrm>
            <a:off x="1737360" y="458114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23" name="Text 18"/>
          <p:cNvSpPr txBox="1"/>
          <p:nvPr/>
        </p:nvSpPr>
        <p:spPr>
          <a:xfrm>
            <a:off x="1737360"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With lots of changes and repeated cycles, it's easy to lose track. New features keep getting added, so the project can go over time or budget.</a:t>
            </a:r>
            <a:endParaRPr lang="en-US" sz="1500" dirty="0"/>
          </a:p>
        </p:txBody>
      </p:sp>
      <p:sp>
        <p:nvSpPr>
          <p:cNvPr id="24" name="Shape 19"/>
          <p:cNvSpPr/>
          <p:nvPr/>
        </p:nvSpPr>
        <p:spPr>
          <a:xfrm>
            <a:off x="6233008" y="3886200"/>
            <a:ext cx="5410048" cy="1965960"/>
          </a:xfrm>
          <a:prstGeom prst="roundRect">
            <a:avLst>
              <a:gd name="adj" fmla="val 5581"/>
            </a:avLst>
          </a:prstGeom>
          <a:solidFill>
            <a:srgbClr val="FDECE8"/>
          </a:solidFill>
          <a:ln/>
        </p:spPr>
      </p:sp>
      <p:sp>
        <p:nvSpPr>
          <p:cNvPr id="25" name="Shape 20"/>
          <p:cNvSpPr/>
          <p:nvPr/>
        </p:nvSpPr>
        <p:spPr>
          <a:xfrm>
            <a:off x="6507328" y="4160520"/>
            <a:ext cx="685800" cy="685800"/>
          </a:xfrm>
          <a:prstGeom prst="ellipse">
            <a:avLst/>
          </a:prstGeom>
          <a:solidFill>
            <a:srgbClr val="E0533D"/>
          </a:solidFill>
          <a:ln/>
        </p:spPr>
      </p:sp>
      <p:pic>
        <p:nvPicPr>
          <p:cNvPr id="26" name="Image 3" descr="shield alert icon">    </p:cNvPr>
          <p:cNvPicPr>
            <a:picLocks noChangeAspect="1"/>
          </p:cNvPicPr>
          <p:nvPr/>
        </p:nvPicPr>
        <p:blipFill>
          <a:blip r:embed="rId4"/>
          <a:stretch>
            <a:fillRect/>
          </a:stretch>
        </p:blipFill>
        <p:spPr>
          <a:xfrm>
            <a:off x="6665062" y="4318254"/>
            <a:ext cx="370332" cy="370332"/>
          </a:xfrm>
          <a:prstGeom prst="rect">
            <a:avLst/>
          </a:prstGeom>
        </p:spPr>
      </p:pic>
      <p:sp>
        <p:nvSpPr>
          <p:cNvPr id="27" name="Text 21"/>
          <p:cNvSpPr txBox="1"/>
          <p:nvPr/>
        </p:nvSpPr>
        <p:spPr>
          <a:xfrm>
            <a:off x="7421728" y="4114800"/>
            <a:ext cx="3992728" cy="41148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Not suitable for every project</a:t>
            </a:r>
            <a:endParaRPr lang="en-US" sz="2000" dirty="0"/>
          </a:p>
        </p:txBody>
      </p:sp>
      <p:sp>
        <p:nvSpPr>
          <p:cNvPr id="28" name="Text 22"/>
          <p:cNvSpPr txBox="1"/>
          <p:nvPr/>
        </p:nvSpPr>
        <p:spPr>
          <a:xfrm>
            <a:off x="7421728" y="4581144"/>
            <a:ext cx="3992728" cy="219456"/>
          </a:xfrm>
          <a:prstGeom prst="rect">
            <a:avLst/>
          </a:prstGeom>
          <a:noFill/>
          <a:ln/>
        </p:spPr>
        <p:txBody>
          <a:bodyPr wrap="square" lIns="0" tIns="0" rIns="0" bIns="0" rtlCol="0" anchor="ctr"/>
          <a:lstStyle/>
          <a:p>
            <a:pPr indent="0" marL="0">
              <a:buNone/>
            </a:pPr>
            <a:r>
              <a:rPr lang="en-US" sz="1100" b="1" spc="100" kern="0" dirty="0">
                <a:solidFill>
                  <a:srgbClr val="B23A26"/>
                </a:solidFill>
                <a:latin typeface="Calibri" pitchFamily="34" charset="0"/>
                <a:ea typeface="Calibri" pitchFamily="34" charset="-122"/>
                <a:cs typeface="Calibri" pitchFamily="34" charset="-120"/>
              </a:rPr>
              <a:t>HOW IT COULD AFFECT A PROJECT</a:t>
            </a:r>
            <a:endParaRPr lang="en-US" sz="1100" dirty="0"/>
          </a:p>
        </p:txBody>
      </p:sp>
      <p:sp>
        <p:nvSpPr>
          <p:cNvPr id="29" name="Text 23"/>
          <p:cNvSpPr txBox="1"/>
          <p:nvPr/>
        </p:nvSpPr>
        <p:spPr>
          <a:xfrm>
            <a:off x="7421728" y="4855464"/>
            <a:ext cx="3947008" cy="86868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Very large, complex or safety-critical systems (like hospital software) need more detailed planning and documentation than RAD usually gives.</a:t>
            </a:r>
            <a:endParaRPr lang="en-US" sz="1500" dirty="0"/>
          </a:p>
        </p:txBody>
      </p:sp>
      <p:sp>
        <p:nvSpPr>
          <p:cNvPr id="30" name="Text 24"/>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 Lucidchart (no date)</a:t>
            </a:r>
            <a:endParaRPr lang="en-US" sz="1000" dirty="0"/>
          </a:p>
        </p:txBody>
      </p:sp>
      <p:sp>
        <p:nvSpPr>
          <p:cNvPr id="31" name="Text 2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SUITABLE SITUATIONS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When does RAD work best?</a:t>
            </a:r>
            <a:endParaRPr lang="en-US" sz="3400" dirty="0"/>
          </a:p>
        </p:txBody>
      </p:sp>
      <p:sp>
        <p:nvSpPr>
          <p:cNvPr id="6" name="Shape 4"/>
          <p:cNvSpPr/>
          <p:nvPr/>
        </p:nvSpPr>
        <p:spPr>
          <a:xfrm>
            <a:off x="548640" y="1645920"/>
            <a:ext cx="6309360" cy="4343400"/>
          </a:xfrm>
          <a:prstGeom prst="roundRect">
            <a:avLst>
              <a:gd name="adj" fmla="val 2526"/>
            </a:avLst>
          </a:prstGeom>
          <a:solidFill>
            <a:srgbClr val="E3F4F1"/>
          </a:solidFill>
          <a:ln/>
        </p:spPr>
      </p:sp>
      <p:sp>
        <p:nvSpPr>
          <p:cNvPr id="7" name="Shape 5"/>
          <p:cNvSpPr/>
          <p:nvPr/>
        </p:nvSpPr>
        <p:spPr>
          <a:xfrm>
            <a:off x="822960" y="1920240"/>
            <a:ext cx="548640" cy="548640"/>
          </a:xfrm>
          <a:prstGeom prst="ellipse">
            <a:avLst/>
          </a:prstGeom>
          <a:solidFill>
            <a:srgbClr val="0E9F8E"/>
          </a:solidFill>
          <a:ln/>
        </p:spPr>
      </p:sp>
      <p:pic>
        <p:nvPicPr>
          <p:cNvPr id="8" name="Image 0" descr="thumbs up icon">    </p:cNvPr>
          <p:cNvPicPr>
            <a:picLocks noChangeAspect="1"/>
          </p:cNvPicPr>
          <p:nvPr/>
        </p:nvPicPr>
        <p:blipFill>
          <a:blip r:embed="rId1"/>
          <a:stretch>
            <a:fillRect/>
          </a:stretch>
        </p:blipFill>
        <p:spPr>
          <a:xfrm>
            <a:off x="949147" y="2046427"/>
            <a:ext cx="296266" cy="296266"/>
          </a:xfrm>
          <a:prstGeom prst="rect">
            <a:avLst/>
          </a:prstGeom>
        </p:spPr>
      </p:pic>
      <p:sp>
        <p:nvSpPr>
          <p:cNvPr id="9" name="Text 6"/>
          <p:cNvSpPr txBox="1"/>
          <p:nvPr/>
        </p:nvSpPr>
        <p:spPr>
          <a:xfrm>
            <a:off x="1554480" y="1920240"/>
            <a:ext cx="5029200" cy="54864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RAD is a good fit when…</a:t>
            </a:r>
            <a:endParaRPr lang="en-US" sz="2000" dirty="0"/>
          </a:p>
        </p:txBody>
      </p:sp>
      <p:sp>
        <p:nvSpPr>
          <p:cNvPr id="10" name="Shape 7"/>
          <p:cNvSpPr/>
          <p:nvPr/>
        </p:nvSpPr>
        <p:spPr>
          <a:xfrm>
            <a:off x="868680" y="2834640"/>
            <a:ext cx="274320" cy="274320"/>
          </a:xfrm>
          <a:prstGeom prst="ellipse">
            <a:avLst/>
          </a:prstGeom>
          <a:solidFill>
            <a:srgbClr val="0E9F8E"/>
          </a:solidFill>
          <a:ln/>
        </p:spPr>
      </p:sp>
      <p:pic>
        <p:nvPicPr>
          <p:cNvPr id="11" name="Image 1" descr="check icon">    </p:cNvPr>
          <p:cNvPicPr>
            <a:picLocks noChangeAspect="1"/>
          </p:cNvPicPr>
          <p:nvPr/>
        </p:nvPicPr>
        <p:blipFill>
          <a:blip r:embed="rId2"/>
          <a:stretch>
            <a:fillRect/>
          </a:stretch>
        </p:blipFill>
        <p:spPr>
          <a:xfrm>
            <a:off x="920801" y="2886761"/>
            <a:ext cx="170078" cy="170078"/>
          </a:xfrm>
          <a:prstGeom prst="rect">
            <a:avLst/>
          </a:prstGeom>
        </p:spPr>
      </p:pic>
      <p:sp>
        <p:nvSpPr>
          <p:cNvPr id="12" name="Text 8"/>
          <p:cNvSpPr txBox="1"/>
          <p:nvPr/>
        </p:nvSpPr>
        <p:spPr>
          <a:xfrm>
            <a:off x="1325880" y="2743200"/>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project is small or medium-sized</a:t>
            </a:r>
            <a:endParaRPr lang="en-US" sz="1550" dirty="0"/>
          </a:p>
        </p:txBody>
      </p:sp>
      <p:sp>
        <p:nvSpPr>
          <p:cNvPr id="13" name="Shape 9"/>
          <p:cNvSpPr/>
          <p:nvPr/>
        </p:nvSpPr>
        <p:spPr>
          <a:xfrm>
            <a:off x="868680" y="3346704"/>
            <a:ext cx="274320" cy="274320"/>
          </a:xfrm>
          <a:prstGeom prst="ellipse">
            <a:avLst/>
          </a:prstGeom>
          <a:solidFill>
            <a:srgbClr val="0E9F8E"/>
          </a:solidFill>
          <a:ln/>
        </p:spPr>
      </p:sp>
      <p:pic>
        <p:nvPicPr>
          <p:cNvPr id="14" name="Image 2" descr="check icon">    </p:cNvPr>
          <p:cNvPicPr>
            <a:picLocks noChangeAspect="1"/>
          </p:cNvPicPr>
          <p:nvPr/>
        </p:nvPicPr>
        <p:blipFill>
          <a:blip r:embed="rId3"/>
          <a:stretch>
            <a:fillRect/>
          </a:stretch>
        </p:blipFill>
        <p:spPr>
          <a:xfrm>
            <a:off x="920801" y="3398825"/>
            <a:ext cx="170078" cy="170078"/>
          </a:xfrm>
          <a:prstGeom prst="rect">
            <a:avLst/>
          </a:prstGeom>
        </p:spPr>
      </p:pic>
      <p:sp>
        <p:nvSpPr>
          <p:cNvPr id="15" name="Text 10"/>
          <p:cNvSpPr txBox="1"/>
          <p:nvPr/>
        </p:nvSpPr>
        <p:spPr>
          <a:xfrm>
            <a:off x="1325880" y="3255264"/>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system is needed quickly</a:t>
            </a:r>
            <a:endParaRPr lang="en-US" sz="1550" dirty="0"/>
          </a:p>
        </p:txBody>
      </p:sp>
      <p:sp>
        <p:nvSpPr>
          <p:cNvPr id="16" name="Shape 11"/>
          <p:cNvSpPr/>
          <p:nvPr/>
        </p:nvSpPr>
        <p:spPr>
          <a:xfrm>
            <a:off x="868680" y="3858768"/>
            <a:ext cx="274320" cy="274320"/>
          </a:xfrm>
          <a:prstGeom prst="ellipse">
            <a:avLst/>
          </a:prstGeom>
          <a:solidFill>
            <a:srgbClr val="0E9F8E"/>
          </a:solidFill>
          <a:ln/>
        </p:spPr>
      </p:sp>
      <p:pic>
        <p:nvPicPr>
          <p:cNvPr id="17" name="Image 3" descr="check icon">    </p:cNvPr>
          <p:cNvPicPr>
            <a:picLocks noChangeAspect="1"/>
          </p:cNvPicPr>
          <p:nvPr/>
        </p:nvPicPr>
        <p:blipFill>
          <a:blip r:embed="rId4"/>
          <a:stretch>
            <a:fillRect/>
          </a:stretch>
        </p:blipFill>
        <p:spPr>
          <a:xfrm>
            <a:off x="920801" y="3910889"/>
            <a:ext cx="170078" cy="170078"/>
          </a:xfrm>
          <a:prstGeom prst="rect">
            <a:avLst/>
          </a:prstGeom>
        </p:spPr>
      </p:pic>
      <p:sp>
        <p:nvSpPr>
          <p:cNvPr id="18" name="Text 12"/>
          <p:cNvSpPr txBox="1"/>
          <p:nvPr/>
        </p:nvSpPr>
        <p:spPr>
          <a:xfrm>
            <a:off x="1325880" y="3767328"/>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users are available to give feedback regularly</a:t>
            </a:r>
            <a:endParaRPr lang="en-US" sz="1550" dirty="0"/>
          </a:p>
        </p:txBody>
      </p:sp>
      <p:sp>
        <p:nvSpPr>
          <p:cNvPr id="19" name="Shape 13"/>
          <p:cNvSpPr/>
          <p:nvPr/>
        </p:nvSpPr>
        <p:spPr>
          <a:xfrm>
            <a:off x="868680" y="4370832"/>
            <a:ext cx="274320" cy="274320"/>
          </a:xfrm>
          <a:prstGeom prst="ellipse">
            <a:avLst/>
          </a:prstGeom>
          <a:solidFill>
            <a:srgbClr val="0E9F8E"/>
          </a:solidFill>
          <a:ln/>
        </p:spPr>
      </p:sp>
      <p:pic>
        <p:nvPicPr>
          <p:cNvPr id="20" name="Image 4" descr="check icon">    </p:cNvPr>
          <p:cNvPicPr>
            <a:picLocks noChangeAspect="1"/>
          </p:cNvPicPr>
          <p:nvPr/>
        </p:nvPicPr>
        <p:blipFill>
          <a:blip r:embed="rId5"/>
          <a:stretch>
            <a:fillRect/>
          </a:stretch>
        </p:blipFill>
        <p:spPr>
          <a:xfrm>
            <a:off x="920801" y="4422953"/>
            <a:ext cx="170078" cy="170078"/>
          </a:xfrm>
          <a:prstGeom prst="rect">
            <a:avLst/>
          </a:prstGeom>
        </p:spPr>
      </p:pic>
      <p:sp>
        <p:nvSpPr>
          <p:cNvPr id="21" name="Text 14"/>
          <p:cNvSpPr txBox="1"/>
          <p:nvPr/>
        </p:nvSpPr>
        <p:spPr>
          <a:xfrm>
            <a:off x="1325880" y="4279392"/>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requirements aren't fully clear yet, or might change</a:t>
            </a:r>
            <a:endParaRPr lang="en-US" sz="1550" dirty="0"/>
          </a:p>
        </p:txBody>
      </p:sp>
      <p:sp>
        <p:nvSpPr>
          <p:cNvPr id="22" name="Shape 15"/>
          <p:cNvSpPr/>
          <p:nvPr/>
        </p:nvSpPr>
        <p:spPr>
          <a:xfrm>
            <a:off x="868680" y="4882896"/>
            <a:ext cx="274320" cy="274320"/>
          </a:xfrm>
          <a:prstGeom prst="ellipse">
            <a:avLst/>
          </a:prstGeom>
          <a:solidFill>
            <a:srgbClr val="0E9F8E"/>
          </a:solidFill>
          <a:ln/>
        </p:spPr>
      </p:sp>
      <p:pic>
        <p:nvPicPr>
          <p:cNvPr id="23" name="Image 5" descr="check icon">    </p:cNvPr>
          <p:cNvPicPr>
            <a:picLocks noChangeAspect="1"/>
          </p:cNvPicPr>
          <p:nvPr/>
        </p:nvPicPr>
        <p:blipFill>
          <a:blip r:embed="rId6"/>
          <a:stretch>
            <a:fillRect/>
          </a:stretch>
        </p:blipFill>
        <p:spPr>
          <a:xfrm>
            <a:off x="920801" y="4935017"/>
            <a:ext cx="170078" cy="170078"/>
          </a:xfrm>
          <a:prstGeom prst="rect">
            <a:avLst/>
          </a:prstGeom>
        </p:spPr>
      </p:pic>
      <p:sp>
        <p:nvSpPr>
          <p:cNvPr id="24" name="Text 16"/>
          <p:cNvSpPr txBox="1"/>
          <p:nvPr/>
        </p:nvSpPr>
        <p:spPr>
          <a:xfrm>
            <a:off x="1325880" y="4791456"/>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system has lots of screens that users interact with</a:t>
            </a:r>
            <a:endParaRPr lang="en-US" sz="1550" dirty="0"/>
          </a:p>
        </p:txBody>
      </p:sp>
      <p:sp>
        <p:nvSpPr>
          <p:cNvPr id="25" name="Shape 17"/>
          <p:cNvSpPr/>
          <p:nvPr/>
        </p:nvSpPr>
        <p:spPr>
          <a:xfrm>
            <a:off x="868680" y="5394960"/>
            <a:ext cx="274320" cy="274320"/>
          </a:xfrm>
          <a:prstGeom prst="ellipse">
            <a:avLst/>
          </a:prstGeom>
          <a:solidFill>
            <a:srgbClr val="0E9F8E"/>
          </a:solidFill>
          <a:ln/>
        </p:spPr>
      </p:sp>
      <p:pic>
        <p:nvPicPr>
          <p:cNvPr id="26" name="Image 6" descr="check icon">    </p:cNvPr>
          <p:cNvPicPr>
            <a:picLocks noChangeAspect="1"/>
          </p:cNvPicPr>
          <p:nvPr/>
        </p:nvPicPr>
        <p:blipFill>
          <a:blip r:embed="rId7"/>
          <a:stretch>
            <a:fillRect/>
          </a:stretch>
        </p:blipFill>
        <p:spPr>
          <a:xfrm>
            <a:off x="920801" y="5447081"/>
            <a:ext cx="170078" cy="170078"/>
          </a:xfrm>
          <a:prstGeom prst="rect">
            <a:avLst/>
          </a:prstGeom>
        </p:spPr>
      </p:pic>
      <p:sp>
        <p:nvSpPr>
          <p:cNvPr id="27" name="Text 18"/>
          <p:cNvSpPr txBox="1"/>
          <p:nvPr/>
        </p:nvSpPr>
        <p:spPr>
          <a:xfrm>
            <a:off x="1325880" y="5303520"/>
            <a:ext cx="5257800" cy="457200"/>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work can be split into smaller parts</a:t>
            </a:r>
            <a:endParaRPr lang="en-US" sz="1550" dirty="0"/>
          </a:p>
        </p:txBody>
      </p:sp>
      <p:sp>
        <p:nvSpPr>
          <p:cNvPr id="28" name="Shape 19"/>
          <p:cNvSpPr/>
          <p:nvPr/>
        </p:nvSpPr>
        <p:spPr>
          <a:xfrm>
            <a:off x="7132320" y="1645920"/>
            <a:ext cx="4510735" cy="4343400"/>
          </a:xfrm>
          <a:prstGeom prst="roundRect">
            <a:avLst>
              <a:gd name="adj" fmla="val 2526"/>
            </a:avLst>
          </a:prstGeom>
          <a:solidFill>
            <a:srgbClr val="FDECE8"/>
          </a:solidFill>
          <a:ln/>
        </p:spPr>
      </p:sp>
      <p:sp>
        <p:nvSpPr>
          <p:cNvPr id="29" name="Shape 20"/>
          <p:cNvSpPr/>
          <p:nvPr/>
        </p:nvSpPr>
        <p:spPr>
          <a:xfrm>
            <a:off x="7406640" y="1920240"/>
            <a:ext cx="548640" cy="548640"/>
          </a:xfrm>
          <a:prstGeom prst="ellipse">
            <a:avLst/>
          </a:prstGeom>
          <a:solidFill>
            <a:srgbClr val="E0533D"/>
          </a:solidFill>
          <a:ln/>
        </p:spPr>
      </p:sp>
      <p:pic>
        <p:nvPicPr>
          <p:cNvPr id="30" name="Image 7" descr="thumbs down icon">    </p:cNvPr>
          <p:cNvPicPr>
            <a:picLocks noChangeAspect="1"/>
          </p:cNvPicPr>
          <p:nvPr/>
        </p:nvPicPr>
        <p:blipFill>
          <a:blip r:embed="rId8"/>
          <a:stretch>
            <a:fillRect/>
          </a:stretch>
        </p:blipFill>
        <p:spPr>
          <a:xfrm>
            <a:off x="7532827" y="2046427"/>
            <a:ext cx="296266" cy="296266"/>
          </a:xfrm>
          <a:prstGeom prst="rect">
            <a:avLst/>
          </a:prstGeom>
        </p:spPr>
      </p:pic>
      <p:sp>
        <p:nvSpPr>
          <p:cNvPr id="31" name="Text 21"/>
          <p:cNvSpPr txBox="1"/>
          <p:nvPr/>
        </p:nvSpPr>
        <p:spPr>
          <a:xfrm>
            <a:off x="8138160" y="1920240"/>
            <a:ext cx="3322015" cy="54864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RAD is not a great fit when…</a:t>
            </a:r>
            <a:endParaRPr lang="en-US" sz="2000" dirty="0"/>
          </a:p>
        </p:txBody>
      </p:sp>
      <p:sp>
        <p:nvSpPr>
          <p:cNvPr id="32" name="Shape 22"/>
          <p:cNvSpPr/>
          <p:nvPr/>
        </p:nvSpPr>
        <p:spPr>
          <a:xfrm>
            <a:off x="7452360" y="2944368"/>
            <a:ext cx="274320" cy="274320"/>
          </a:xfrm>
          <a:prstGeom prst="ellipse">
            <a:avLst/>
          </a:prstGeom>
          <a:solidFill>
            <a:srgbClr val="E0533D"/>
          </a:solidFill>
          <a:ln/>
        </p:spPr>
      </p:sp>
      <p:pic>
        <p:nvPicPr>
          <p:cNvPr id="33" name="Image 8" descr="x icon">    </p:cNvPr>
          <p:cNvPicPr>
            <a:picLocks noChangeAspect="1"/>
          </p:cNvPicPr>
          <p:nvPr/>
        </p:nvPicPr>
        <p:blipFill>
          <a:blip r:embed="rId9"/>
          <a:stretch>
            <a:fillRect/>
          </a:stretch>
        </p:blipFill>
        <p:spPr>
          <a:xfrm>
            <a:off x="7504481" y="2996489"/>
            <a:ext cx="170078" cy="170078"/>
          </a:xfrm>
          <a:prstGeom prst="rect">
            <a:avLst/>
          </a:prstGeom>
        </p:spPr>
      </p:pic>
      <p:sp>
        <p:nvSpPr>
          <p:cNvPr id="34" name="Text 23"/>
          <p:cNvSpPr txBox="1"/>
          <p:nvPr/>
        </p:nvSpPr>
        <p:spPr>
          <a:xfrm>
            <a:off x="7909560" y="2743200"/>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system is very large or complex</a:t>
            </a:r>
            <a:endParaRPr lang="en-US" sz="1550" dirty="0"/>
          </a:p>
        </p:txBody>
      </p:sp>
      <p:sp>
        <p:nvSpPr>
          <p:cNvPr id="35" name="Shape 24"/>
          <p:cNvSpPr/>
          <p:nvPr/>
        </p:nvSpPr>
        <p:spPr>
          <a:xfrm>
            <a:off x="7452360" y="3712464"/>
            <a:ext cx="274320" cy="274320"/>
          </a:xfrm>
          <a:prstGeom prst="ellipse">
            <a:avLst/>
          </a:prstGeom>
          <a:solidFill>
            <a:srgbClr val="E0533D"/>
          </a:solidFill>
          <a:ln/>
        </p:spPr>
      </p:sp>
      <p:pic>
        <p:nvPicPr>
          <p:cNvPr id="36" name="Image 9" descr="x icon">    </p:cNvPr>
          <p:cNvPicPr>
            <a:picLocks noChangeAspect="1"/>
          </p:cNvPicPr>
          <p:nvPr/>
        </p:nvPicPr>
        <p:blipFill>
          <a:blip r:embed="rId10"/>
          <a:stretch>
            <a:fillRect/>
          </a:stretch>
        </p:blipFill>
        <p:spPr>
          <a:xfrm>
            <a:off x="7504481" y="3764585"/>
            <a:ext cx="170078" cy="170078"/>
          </a:xfrm>
          <a:prstGeom prst="rect">
            <a:avLst/>
          </a:prstGeom>
        </p:spPr>
      </p:pic>
      <p:sp>
        <p:nvSpPr>
          <p:cNvPr id="37" name="Text 25"/>
          <p:cNvSpPr txBox="1"/>
          <p:nvPr/>
        </p:nvSpPr>
        <p:spPr>
          <a:xfrm>
            <a:off x="7909560" y="3511296"/>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it's safety-critical and needs lots of documentation</a:t>
            </a:r>
            <a:endParaRPr lang="en-US" sz="1550" dirty="0"/>
          </a:p>
        </p:txBody>
      </p:sp>
      <p:sp>
        <p:nvSpPr>
          <p:cNvPr id="38" name="Shape 26"/>
          <p:cNvSpPr/>
          <p:nvPr/>
        </p:nvSpPr>
        <p:spPr>
          <a:xfrm>
            <a:off x="7452360" y="4480560"/>
            <a:ext cx="274320" cy="274320"/>
          </a:xfrm>
          <a:prstGeom prst="ellipse">
            <a:avLst/>
          </a:prstGeom>
          <a:solidFill>
            <a:srgbClr val="E0533D"/>
          </a:solidFill>
          <a:ln/>
        </p:spPr>
      </p:sp>
      <p:pic>
        <p:nvPicPr>
          <p:cNvPr id="39" name="Image 10" descr="x icon">    </p:cNvPr>
          <p:cNvPicPr>
            <a:picLocks noChangeAspect="1"/>
          </p:cNvPicPr>
          <p:nvPr/>
        </p:nvPicPr>
        <p:blipFill>
          <a:blip r:embed="rId11"/>
          <a:stretch>
            <a:fillRect/>
          </a:stretch>
        </p:blipFill>
        <p:spPr>
          <a:xfrm>
            <a:off x="7504481" y="4532681"/>
            <a:ext cx="170078" cy="170078"/>
          </a:xfrm>
          <a:prstGeom prst="rect">
            <a:avLst/>
          </a:prstGeom>
        </p:spPr>
      </p:pic>
      <p:sp>
        <p:nvSpPr>
          <p:cNvPr id="40" name="Text 27"/>
          <p:cNvSpPr txBox="1"/>
          <p:nvPr/>
        </p:nvSpPr>
        <p:spPr>
          <a:xfrm>
            <a:off x="7909560" y="4279392"/>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users can't be involved regularly</a:t>
            </a:r>
            <a:endParaRPr lang="en-US" sz="1550" dirty="0"/>
          </a:p>
        </p:txBody>
      </p:sp>
      <p:sp>
        <p:nvSpPr>
          <p:cNvPr id="41" name="Shape 28"/>
          <p:cNvSpPr/>
          <p:nvPr/>
        </p:nvSpPr>
        <p:spPr>
          <a:xfrm>
            <a:off x="7452360" y="5248656"/>
            <a:ext cx="274320" cy="274320"/>
          </a:xfrm>
          <a:prstGeom prst="ellipse">
            <a:avLst/>
          </a:prstGeom>
          <a:solidFill>
            <a:srgbClr val="E0533D"/>
          </a:solidFill>
          <a:ln/>
        </p:spPr>
      </p:sp>
      <p:pic>
        <p:nvPicPr>
          <p:cNvPr id="42" name="Image 11" descr="x icon">    </p:cNvPr>
          <p:cNvPicPr>
            <a:picLocks noChangeAspect="1"/>
          </p:cNvPicPr>
          <p:nvPr/>
        </p:nvPicPr>
        <p:blipFill>
          <a:blip r:embed="rId12"/>
          <a:stretch>
            <a:fillRect/>
          </a:stretch>
        </p:blipFill>
        <p:spPr>
          <a:xfrm>
            <a:off x="7504481" y="5300777"/>
            <a:ext cx="170078" cy="170078"/>
          </a:xfrm>
          <a:prstGeom prst="rect">
            <a:avLst/>
          </a:prstGeom>
        </p:spPr>
      </p:pic>
      <p:sp>
        <p:nvSpPr>
          <p:cNvPr id="43" name="Text 29"/>
          <p:cNvSpPr txBox="1"/>
          <p:nvPr/>
        </p:nvSpPr>
        <p:spPr>
          <a:xfrm>
            <a:off x="7909560" y="5047488"/>
            <a:ext cx="3504895" cy="676656"/>
          </a:xfrm>
          <a:prstGeom prst="rect">
            <a:avLst/>
          </a:prstGeom>
          <a:noFill/>
          <a:ln/>
        </p:spPr>
        <p:txBody>
          <a:bodyPr wrap="square" lIns="0" tIns="0" rIns="0" bIns="0" rtlCol="0" anchor="ctr"/>
          <a:lstStyle/>
          <a:p>
            <a:pPr indent="0" marL="0">
              <a:buNone/>
            </a:pPr>
            <a:r>
              <a:rPr lang="en-US" sz="1550" dirty="0">
                <a:solidFill>
                  <a:srgbClr val="1F2A37"/>
                </a:solidFill>
                <a:latin typeface="Calibri" pitchFamily="34" charset="0"/>
                <a:ea typeface="Calibri" pitchFamily="34" charset="-122"/>
                <a:cs typeface="Calibri" pitchFamily="34" charset="-120"/>
              </a:rPr>
              <a:t>the team doesn't have the skills or tools to work fast</a:t>
            </a:r>
            <a:endParaRPr lang="en-US" sz="1550" dirty="0"/>
          </a:p>
        </p:txBody>
      </p:sp>
      <p:sp>
        <p:nvSpPr>
          <p:cNvPr id="44" name="Text 30"/>
          <p:cNvSpPr txBox="1"/>
          <p:nvPr/>
        </p:nvSpPr>
        <p:spPr>
          <a:xfrm>
            <a:off x="548640" y="6400800"/>
            <a:ext cx="8046720" cy="228600"/>
          </a:xfrm>
          <a:prstGeom prst="rect">
            <a:avLst/>
          </a:prstGeom>
          <a:noFill/>
          <a:ln/>
        </p:spPr>
        <p:txBody>
          <a:bodyPr wrap="square" lIns="0" tIns="0" rIns="0" bIns="0" rtlCol="0" anchor="ctr"/>
          <a:lstStyle/>
          <a:p>
            <a:pPr indent="0" marL="0">
              <a:buNone/>
            </a:pPr>
            <a:r>
              <a:rPr lang="en-US" sz="1000" dirty="0">
                <a:solidFill>
                  <a:srgbClr val="5A6878"/>
                </a:solidFill>
                <a:latin typeface="Calibri" pitchFamily="34" charset="0"/>
                <a:ea typeface="Calibri" pitchFamily="34" charset="-122"/>
                <a:cs typeface="Calibri" pitchFamily="34" charset="-120"/>
              </a:rPr>
              <a:t>Sources: IBM (no date); Lucidchart (no date)</a:t>
            </a:r>
            <a:endParaRPr lang="en-US" sz="1000" dirty="0"/>
          </a:p>
        </p:txBody>
      </p:sp>
      <p:sp>
        <p:nvSpPr>
          <p:cNvPr id="45" name="Text 31"/>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SUITABLE SITUATIONS</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Example: a school attendance system</a:t>
            </a:r>
            <a:endParaRPr lang="en-US" sz="3400" dirty="0"/>
          </a:p>
        </p:txBody>
      </p:sp>
      <p:sp>
        <p:nvSpPr>
          <p:cNvPr id="6" name="Shape 4"/>
          <p:cNvSpPr/>
          <p:nvPr/>
        </p:nvSpPr>
        <p:spPr>
          <a:xfrm>
            <a:off x="548640" y="1645920"/>
            <a:ext cx="4846320" cy="3429000"/>
          </a:xfrm>
          <a:prstGeom prst="roundRect">
            <a:avLst>
              <a:gd name="adj" fmla="val 6667"/>
            </a:avLst>
          </a:prstGeom>
          <a:solidFill>
            <a:srgbClr val="1F2A37"/>
          </a:solidFill>
          <a:ln/>
          <a:effectLst>
            <a:outerShdw sx="100000" sy="100000" kx="0" ky="0" algn="bl" rotWithShape="0" blurRad="127000" dist="38100" dir="5400000">
              <a:srgbClr val="000000">
                <a:alpha val="16000"/>
              </a:srgbClr>
            </a:outerShdw>
          </a:effectLst>
        </p:spPr>
      </p:sp>
      <p:sp>
        <p:nvSpPr>
          <p:cNvPr id="7" name="Shape 5"/>
          <p:cNvSpPr/>
          <p:nvPr/>
        </p:nvSpPr>
        <p:spPr>
          <a:xfrm>
            <a:off x="731520" y="1828800"/>
            <a:ext cx="4480560" cy="3063240"/>
          </a:xfrm>
          <a:prstGeom prst="roundRect">
            <a:avLst>
              <a:gd name="adj" fmla="val 1791"/>
            </a:avLst>
          </a:prstGeom>
          <a:solidFill>
            <a:srgbClr val="FFFFFF"/>
          </a:solidFill>
          <a:ln/>
        </p:spPr>
      </p:sp>
      <p:sp>
        <p:nvSpPr>
          <p:cNvPr id="8" name="Shape 6"/>
          <p:cNvSpPr/>
          <p:nvPr/>
        </p:nvSpPr>
        <p:spPr>
          <a:xfrm>
            <a:off x="731520" y="1828800"/>
            <a:ext cx="4480560" cy="457200"/>
          </a:xfrm>
          <a:prstGeom prst="rect">
            <a:avLst/>
          </a:prstGeom>
          <a:solidFill>
            <a:srgbClr val="0E9F8E"/>
          </a:solidFill>
          <a:ln/>
        </p:spPr>
      </p:sp>
      <p:sp>
        <p:nvSpPr>
          <p:cNvPr id="9" name="Text 7"/>
          <p:cNvSpPr txBox="1"/>
          <p:nvPr/>
        </p:nvSpPr>
        <p:spPr>
          <a:xfrm>
            <a:off x="914400" y="1828800"/>
            <a:ext cx="41148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Register  ·  10B Computing  ·  Mon 09:00</a:t>
            </a:r>
            <a:endParaRPr lang="en-US" sz="1200" dirty="0"/>
          </a:p>
        </p:txBody>
      </p:sp>
      <p:sp>
        <p:nvSpPr>
          <p:cNvPr id="10" name="Text 8"/>
          <p:cNvSpPr txBox="1"/>
          <p:nvPr/>
        </p:nvSpPr>
        <p:spPr>
          <a:xfrm>
            <a:off x="914400" y="23957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Amira Patel</a:t>
            </a:r>
            <a:endParaRPr lang="en-US" sz="1300" dirty="0"/>
          </a:p>
        </p:txBody>
      </p:sp>
      <p:sp>
        <p:nvSpPr>
          <p:cNvPr id="11" name="Shape 9"/>
          <p:cNvSpPr/>
          <p:nvPr/>
        </p:nvSpPr>
        <p:spPr>
          <a:xfrm>
            <a:off x="2606040" y="2459736"/>
            <a:ext cx="676656" cy="274320"/>
          </a:xfrm>
          <a:prstGeom prst="roundRect">
            <a:avLst>
              <a:gd name="adj" fmla="val 50000"/>
            </a:avLst>
          </a:prstGeom>
          <a:solidFill>
            <a:srgbClr val="0E9F8E"/>
          </a:solidFill>
          <a:ln w="9525">
            <a:solidFill>
              <a:srgbClr val="0E9F8E"/>
            </a:solidFill>
            <a:prstDash val="solid"/>
          </a:ln>
        </p:spPr>
      </p:sp>
      <p:sp>
        <p:nvSpPr>
          <p:cNvPr id="12" name="Text 10"/>
          <p:cNvSpPr txBox="1"/>
          <p:nvPr/>
        </p:nvSpPr>
        <p:spPr>
          <a:xfrm>
            <a:off x="2606040" y="2459736"/>
            <a:ext cx="6766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Present</a:t>
            </a:r>
            <a:endParaRPr lang="en-US" sz="1000" dirty="0"/>
          </a:p>
        </p:txBody>
      </p:sp>
      <p:sp>
        <p:nvSpPr>
          <p:cNvPr id="13" name="Shape 11"/>
          <p:cNvSpPr/>
          <p:nvPr/>
        </p:nvSpPr>
        <p:spPr>
          <a:xfrm>
            <a:off x="3337560" y="2459736"/>
            <a:ext cx="676656" cy="274320"/>
          </a:xfrm>
          <a:prstGeom prst="roundRect">
            <a:avLst>
              <a:gd name="adj" fmla="val 50000"/>
            </a:avLst>
          </a:prstGeom>
          <a:solidFill>
            <a:srgbClr val="FFFFFF"/>
          </a:solidFill>
          <a:ln w="9525">
            <a:solidFill>
              <a:srgbClr val="CBD5E1"/>
            </a:solidFill>
            <a:prstDash val="solid"/>
          </a:ln>
        </p:spPr>
      </p:sp>
      <p:sp>
        <p:nvSpPr>
          <p:cNvPr id="14" name="Text 12"/>
          <p:cNvSpPr txBox="1"/>
          <p:nvPr/>
        </p:nvSpPr>
        <p:spPr>
          <a:xfrm>
            <a:off x="3337560" y="24597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Absent</a:t>
            </a:r>
            <a:endParaRPr lang="en-US" sz="1000" dirty="0"/>
          </a:p>
        </p:txBody>
      </p:sp>
      <p:sp>
        <p:nvSpPr>
          <p:cNvPr id="15" name="Shape 13"/>
          <p:cNvSpPr/>
          <p:nvPr/>
        </p:nvSpPr>
        <p:spPr>
          <a:xfrm>
            <a:off x="4069080" y="2459736"/>
            <a:ext cx="676656" cy="274320"/>
          </a:xfrm>
          <a:prstGeom prst="roundRect">
            <a:avLst>
              <a:gd name="adj" fmla="val 50000"/>
            </a:avLst>
          </a:prstGeom>
          <a:solidFill>
            <a:srgbClr val="FFFFFF"/>
          </a:solidFill>
          <a:ln w="9525">
            <a:solidFill>
              <a:srgbClr val="CBD5E1"/>
            </a:solidFill>
            <a:prstDash val="solid"/>
          </a:ln>
        </p:spPr>
      </p:sp>
      <p:sp>
        <p:nvSpPr>
          <p:cNvPr id="16" name="Text 14"/>
          <p:cNvSpPr txBox="1"/>
          <p:nvPr/>
        </p:nvSpPr>
        <p:spPr>
          <a:xfrm>
            <a:off x="4069080" y="24597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Late</a:t>
            </a:r>
            <a:endParaRPr lang="en-US" sz="1000" dirty="0"/>
          </a:p>
        </p:txBody>
      </p:sp>
      <p:sp>
        <p:nvSpPr>
          <p:cNvPr id="17" name="Shape 15"/>
          <p:cNvSpPr/>
          <p:nvPr/>
        </p:nvSpPr>
        <p:spPr>
          <a:xfrm>
            <a:off x="914400" y="2825496"/>
            <a:ext cx="4114800" cy="0"/>
          </a:xfrm>
          <a:prstGeom prst="line">
            <a:avLst/>
          </a:prstGeom>
          <a:noFill/>
          <a:ln w="9525">
            <a:solidFill>
              <a:srgbClr val="E5EAF0"/>
            </a:solidFill>
            <a:prstDash val="solid"/>
          </a:ln>
        </p:spPr>
      </p:sp>
      <p:sp>
        <p:nvSpPr>
          <p:cNvPr id="18" name="Text 16"/>
          <p:cNvSpPr txBox="1"/>
          <p:nvPr/>
        </p:nvSpPr>
        <p:spPr>
          <a:xfrm>
            <a:off x="914400" y="28529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Ben Carter</a:t>
            </a:r>
            <a:endParaRPr lang="en-US" sz="1300" dirty="0"/>
          </a:p>
        </p:txBody>
      </p:sp>
      <p:sp>
        <p:nvSpPr>
          <p:cNvPr id="19" name="Shape 17"/>
          <p:cNvSpPr/>
          <p:nvPr/>
        </p:nvSpPr>
        <p:spPr>
          <a:xfrm>
            <a:off x="2606040" y="2916936"/>
            <a:ext cx="676656" cy="274320"/>
          </a:xfrm>
          <a:prstGeom prst="roundRect">
            <a:avLst>
              <a:gd name="adj" fmla="val 50000"/>
            </a:avLst>
          </a:prstGeom>
          <a:solidFill>
            <a:srgbClr val="0E9F8E"/>
          </a:solidFill>
          <a:ln w="9525">
            <a:solidFill>
              <a:srgbClr val="0E9F8E"/>
            </a:solidFill>
            <a:prstDash val="solid"/>
          </a:ln>
        </p:spPr>
      </p:sp>
      <p:sp>
        <p:nvSpPr>
          <p:cNvPr id="20" name="Text 18"/>
          <p:cNvSpPr txBox="1"/>
          <p:nvPr/>
        </p:nvSpPr>
        <p:spPr>
          <a:xfrm>
            <a:off x="2606040" y="2916936"/>
            <a:ext cx="6766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Present</a:t>
            </a:r>
            <a:endParaRPr lang="en-US" sz="1000" dirty="0"/>
          </a:p>
        </p:txBody>
      </p:sp>
      <p:sp>
        <p:nvSpPr>
          <p:cNvPr id="21" name="Shape 19"/>
          <p:cNvSpPr/>
          <p:nvPr/>
        </p:nvSpPr>
        <p:spPr>
          <a:xfrm>
            <a:off x="3337560" y="2916936"/>
            <a:ext cx="676656" cy="274320"/>
          </a:xfrm>
          <a:prstGeom prst="roundRect">
            <a:avLst>
              <a:gd name="adj" fmla="val 50000"/>
            </a:avLst>
          </a:prstGeom>
          <a:solidFill>
            <a:srgbClr val="FFFFFF"/>
          </a:solidFill>
          <a:ln w="9525">
            <a:solidFill>
              <a:srgbClr val="CBD5E1"/>
            </a:solidFill>
            <a:prstDash val="solid"/>
          </a:ln>
        </p:spPr>
      </p:sp>
      <p:sp>
        <p:nvSpPr>
          <p:cNvPr id="22" name="Text 20"/>
          <p:cNvSpPr txBox="1"/>
          <p:nvPr/>
        </p:nvSpPr>
        <p:spPr>
          <a:xfrm>
            <a:off x="3337560" y="29169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Absent</a:t>
            </a:r>
            <a:endParaRPr lang="en-US" sz="1000" dirty="0"/>
          </a:p>
        </p:txBody>
      </p:sp>
      <p:sp>
        <p:nvSpPr>
          <p:cNvPr id="23" name="Shape 21"/>
          <p:cNvSpPr/>
          <p:nvPr/>
        </p:nvSpPr>
        <p:spPr>
          <a:xfrm>
            <a:off x="4069080" y="2916936"/>
            <a:ext cx="676656" cy="274320"/>
          </a:xfrm>
          <a:prstGeom prst="roundRect">
            <a:avLst>
              <a:gd name="adj" fmla="val 50000"/>
            </a:avLst>
          </a:prstGeom>
          <a:solidFill>
            <a:srgbClr val="FFFFFF"/>
          </a:solidFill>
          <a:ln w="9525">
            <a:solidFill>
              <a:srgbClr val="CBD5E1"/>
            </a:solidFill>
            <a:prstDash val="solid"/>
          </a:ln>
        </p:spPr>
      </p:sp>
      <p:sp>
        <p:nvSpPr>
          <p:cNvPr id="24" name="Text 22"/>
          <p:cNvSpPr txBox="1"/>
          <p:nvPr/>
        </p:nvSpPr>
        <p:spPr>
          <a:xfrm>
            <a:off x="4069080" y="29169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Late</a:t>
            </a:r>
            <a:endParaRPr lang="en-US" sz="1000" dirty="0"/>
          </a:p>
        </p:txBody>
      </p:sp>
      <p:sp>
        <p:nvSpPr>
          <p:cNvPr id="25" name="Shape 23"/>
          <p:cNvSpPr/>
          <p:nvPr/>
        </p:nvSpPr>
        <p:spPr>
          <a:xfrm>
            <a:off x="914400" y="3282696"/>
            <a:ext cx="4114800" cy="0"/>
          </a:xfrm>
          <a:prstGeom prst="line">
            <a:avLst/>
          </a:prstGeom>
          <a:noFill/>
          <a:ln w="9525">
            <a:solidFill>
              <a:srgbClr val="E5EAF0"/>
            </a:solidFill>
            <a:prstDash val="solid"/>
          </a:ln>
        </p:spPr>
      </p:sp>
      <p:sp>
        <p:nvSpPr>
          <p:cNvPr id="26" name="Text 24"/>
          <p:cNvSpPr txBox="1"/>
          <p:nvPr/>
        </p:nvSpPr>
        <p:spPr>
          <a:xfrm>
            <a:off x="914400" y="33101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Chloe Nowak</a:t>
            </a:r>
            <a:endParaRPr lang="en-US" sz="1300" dirty="0"/>
          </a:p>
        </p:txBody>
      </p:sp>
      <p:sp>
        <p:nvSpPr>
          <p:cNvPr id="27" name="Shape 25"/>
          <p:cNvSpPr/>
          <p:nvPr/>
        </p:nvSpPr>
        <p:spPr>
          <a:xfrm>
            <a:off x="2606040" y="3374136"/>
            <a:ext cx="676656" cy="274320"/>
          </a:xfrm>
          <a:prstGeom prst="roundRect">
            <a:avLst>
              <a:gd name="adj" fmla="val 50000"/>
            </a:avLst>
          </a:prstGeom>
          <a:solidFill>
            <a:srgbClr val="FFFFFF"/>
          </a:solidFill>
          <a:ln w="9525">
            <a:solidFill>
              <a:srgbClr val="CBD5E1"/>
            </a:solidFill>
            <a:prstDash val="solid"/>
          </a:ln>
        </p:spPr>
      </p:sp>
      <p:sp>
        <p:nvSpPr>
          <p:cNvPr id="28" name="Text 26"/>
          <p:cNvSpPr txBox="1"/>
          <p:nvPr/>
        </p:nvSpPr>
        <p:spPr>
          <a:xfrm>
            <a:off x="2606040" y="33741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Present</a:t>
            </a:r>
            <a:endParaRPr lang="en-US" sz="1000" dirty="0"/>
          </a:p>
        </p:txBody>
      </p:sp>
      <p:sp>
        <p:nvSpPr>
          <p:cNvPr id="29" name="Shape 27"/>
          <p:cNvSpPr/>
          <p:nvPr/>
        </p:nvSpPr>
        <p:spPr>
          <a:xfrm>
            <a:off x="3337560" y="3374136"/>
            <a:ext cx="676656" cy="274320"/>
          </a:xfrm>
          <a:prstGeom prst="roundRect">
            <a:avLst>
              <a:gd name="adj" fmla="val 50000"/>
            </a:avLst>
          </a:prstGeom>
          <a:solidFill>
            <a:srgbClr val="FFFFFF"/>
          </a:solidFill>
          <a:ln w="9525">
            <a:solidFill>
              <a:srgbClr val="CBD5E1"/>
            </a:solidFill>
            <a:prstDash val="solid"/>
          </a:ln>
        </p:spPr>
      </p:sp>
      <p:sp>
        <p:nvSpPr>
          <p:cNvPr id="30" name="Text 28"/>
          <p:cNvSpPr txBox="1"/>
          <p:nvPr/>
        </p:nvSpPr>
        <p:spPr>
          <a:xfrm>
            <a:off x="3337560" y="33741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Absent</a:t>
            </a:r>
            <a:endParaRPr lang="en-US" sz="1000" dirty="0"/>
          </a:p>
        </p:txBody>
      </p:sp>
      <p:sp>
        <p:nvSpPr>
          <p:cNvPr id="31" name="Shape 29"/>
          <p:cNvSpPr/>
          <p:nvPr/>
        </p:nvSpPr>
        <p:spPr>
          <a:xfrm>
            <a:off x="4069080" y="3374136"/>
            <a:ext cx="676656" cy="274320"/>
          </a:xfrm>
          <a:prstGeom prst="roundRect">
            <a:avLst>
              <a:gd name="adj" fmla="val 50000"/>
            </a:avLst>
          </a:prstGeom>
          <a:solidFill>
            <a:srgbClr val="F5A623"/>
          </a:solidFill>
          <a:ln w="9525">
            <a:solidFill>
              <a:srgbClr val="F5A623"/>
            </a:solidFill>
            <a:prstDash val="solid"/>
          </a:ln>
        </p:spPr>
      </p:sp>
      <p:sp>
        <p:nvSpPr>
          <p:cNvPr id="32" name="Text 30"/>
          <p:cNvSpPr txBox="1"/>
          <p:nvPr/>
        </p:nvSpPr>
        <p:spPr>
          <a:xfrm>
            <a:off x="4069080" y="3374136"/>
            <a:ext cx="676656" cy="274320"/>
          </a:xfrm>
          <a:prstGeom prst="rect">
            <a:avLst/>
          </a:prstGeom>
          <a:noFill/>
          <a:ln/>
        </p:spPr>
        <p:txBody>
          <a:bodyPr wrap="square" lIns="0" tIns="0" rIns="0" bIns="0" rtlCol="0" anchor="ctr"/>
          <a:lstStyle/>
          <a:p>
            <a:pPr algn="ctr" indent="0" marL="0">
              <a:buNone/>
            </a:pPr>
            <a:r>
              <a:rPr lang="en-US" sz="1000" b="1" dirty="0">
                <a:solidFill>
                  <a:srgbClr val="0E1A2B"/>
                </a:solidFill>
                <a:latin typeface="Calibri" pitchFamily="34" charset="0"/>
                <a:ea typeface="Calibri" pitchFamily="34" charset="-122"/>
                <a:cs typeface="Calibri" pitchFamily="34" charset="-120"/>
              </a:rPr>
              <a:t>Late</a:t>
            </a:r>
            <a:endParaRPr lang="en-US" sz="1000" dirty="0"/>
          </a:p>
        </p:txBody>
      </p:sp>
      <p:sp>
        <p:nvSpPr>
          <p:cNvPr id="33" name="Shape 31"/>
          <p:cNvSpPr/>
          <p:nvPr/>
        </p:nvSpPr>
        <p:spPr>
          <a:xfrm>
            <a:off x="914400" y="3739896"/>
            <a:ext cx="4114800" cy="0"/>
          </a:xfrm>
          <a:prstGeom prst="line">
            <a:avLst/>
          </a:prstGeom>
          <a:noFill/>
          <a:ln w="9525">
            <a:solidFill>
              <a:srgbClr val="E5EAF0"/>
            </a:solidFill>
            <a:prstDash val="solid"/>
          </a:ln>
        </p:spPr>
      </p:sp>
      <p:sp>
        <p:nvSpPr>
          <p:cNvPr id="34" name="Text 32"/>
          <p:cNvSpPr txBox="1"/>
          <p:nvPr/>
        </p:nvSpPr>
        <p:spPr>
          <a:xfrm>
            <a:off x="914400" y="3767328"/>
            <a:ext cx="1645920" cy="402336"/>
          </a:xfrm>
          <a:prstGeom prst="rect">
            <a:avLst/>
          </a:prstGeom>
          <a:noFill/>
          <a:ln/>
        </p:spPr>
        <p:txBody>
          <a:bodyPr wrap="square" lIns="0" tIns="0" rIns="0" bIns="0" rtlCol="0" anchor="ctr"/>
          <a:lstStyle/>
          <a:p>
            <a:pPr indent="0" marL="0">
              <a:buNone/>
            </a:pPr>
            <a:r>
              <a:rPr lang="en-US" sz="1300" dirty="0">
                <a:solidFill>
                  <a:srgbClr val="1F2A37"/>
                </a:solidFill>
                <a:latin typeface="Calibri" pitchFamily="34" charset="0"/>
                <a:ea typeface="Calibri" pitchFamily="34" charset="-122"/>
                <a:cs typeface="Calibri" pitchFamily="34" charset="-120"/>
              </a:rPr>
              <a:t>Daniel Osei</a:t>
            </a:r>
            <a:endParaRPr lang="en-US" sz="1300" dirty="0"/>
          </a:p>
        </p:txBody>
      </p:sp>
      <p:sp>
        <p:nvSpPr>
          <p:cNvPr id="35" name="Shape 33"/>
          <p:cNvSpPr/>
          <p:nvPr/>
        </p:nvSpPr>
        <p:spPr>
          <a:xfrm>
            <a:off x="2606040" y="3831336"/>
            <a:ext cx="676656" cy="274320"/>
          </a:xfrm>
          <a:prstGeom prst="roundRect">
            <a:avLst>
              <a:gd name="adj" fmla="val 50000"/>
            </a:avLst>
          </a:prstGeom>
          <a:solidFill>
            <a:srgbClr val="FFFFFF"/>
          </a:solidFill>
          <a:ln w="9525">
            <a:solidFill>
              <a:srgbClr val="CBD5E1"/>
            </a:solidFill>
            <a:prstDash val="solid"/>
          </a:ln>
        </p:spPr>
      </p:sp>
      <p:sp>
        <p:nvSpPr>
          <p:cNvPr id="36" name="Text 34"/>
          <p:cNvSpPr txBox="1"/>
          <p:nvPr/>
        </p:nvSpPr>
        <p:spPr>
          <a:xfrm>
            <a:off x="2606040" y="38313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Present</a:t>
            </a:r>
            <a:endParaRPr lang="en-US" sz="1000" dirty="0"/>
          </a:p>
        </p:txBody>
      </p:sp>
      <p:sp>
        <p:nvSpPr>
          <p:cNvPr id="37" name="Shape 35"/>
          <p:cNvSpPr/>
          <p:nvPr/>
        </p:nvSpPr>
        <p:spPr>
          <a:xfrm>
            <a:off x="3337560" y="3831336"/>
            <a:ext cx="676656" cy="274320"/>
          </a:xfrm>
          <a:prstGeom prst="roundRect">
            <a:avLst>
              <a:gd name="adj" fmla="val 50000"/>
            </a:avLst>
          </a:prstGeom>
          <a:solidFill>
            <a:srgbClr val="E0533D"/>
          </a:solidFill>
          <a:ln w="9525">
            <a:solidFill>
              <a:srgbClr val="E0533D"/>
            </a:solidFill>
            <a:prstDash val="solid"/>
          </a:ln>
        </p:spPr>
      </p:sp>
      <p:sp>
        <p:nvSpPr>
          <p:cNvPr id="38" name="Text 36"/>
          <p:cNvSpPr txBox="1"/>
          <p:nvPr/>
        </p:nvSpPr>
        <p:spPr>
          <a:xfrm>
            <a:off x="3337560" y="3831336"/>
            <a:ext cx="6766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Absent</a:t>
            </a:r>
            <a:endParaRPr lang="en-US" sz="1000" dirty="0"/>
          </a:p>
        </p:txBody>
      </p:sp>
      <p:sp>
        <p:nvSpPr>
          <p:cNvPr id="39" name="Shape 37"/>
          <p:cNvSpPr/>
          <p:nvPr/>
        </p:nvSpPr>
        <p:spPr>
          <a:xfrm>
            <a:off x="4069080" y="3831336"/>
            <a:ext cx="676656" cy="274320"/>
          </a:xfrm>
          <a:prstGeom prst="roundRect">
            <a:avLst>
              <a:gd name="adj" fmla="val 50000"/>
            </a:avLst>
          </a:prstGeom>
          <a:solidFill>
            <a:srgbClr val="FFFFFF"/>
          </a:solidFill>
          <a:ln w="9525">
            <a:solidFill>
              <a:srgbClr val="CBD5E1"/>
            </a:solidFill>
            <a:prstDash val="solid"/>
          </a:ln>
        </p:spPr>
      </p:sp>
      <p:sp>
        <p:nvSpPr>
          <p:cNvPr id="40" name="Text 38"/>
          <p:cNvSpPr txBox="1"/>
          <p:nvPr/>
        </p:nvSpPr>
        <p:spPr>
          <a:xfrm>
            <a:off x="4069080" y="3831336"/>
            <a:ext cx="676656" cy="274320"/>
          </a:xfrm>
          <a:prstGeom prst="rect">
            <a:avLst/>
          </a:prstGeom>
          <a:noFill/>
          <a:ln/>
        </p:spPr>
        <p:txBody>
          <a:bodyPr wrap="square" lIns="0" tIns="0" rIns="0" bIns="0" rtlCol="0" anchor="ctr"/>
          <a:lstStyle/>
          <a:p>
            <a:pPr algn="ctr" indent="0" marL="0">
              <a:buNone/>
            </a:pPr>
            <a:r>
              <a:rPr lang="en-US" sz="1000" dirty="0">
                <a:solidFill>
                  <a:srgbClr val="5A6878"/>
                </a:solidFill>
                <a:latin typeface="Calibri" pitchFamily="34" charset="0"/>
                <a:ea typeface="Calibri" pitchFamily="34" charset="-122"/>
                <a:cs typeface="Calibri" pitchFamily="34" charset="-120"/>
              </a:rPr>
              <a:t>Late</a:t>
            </a:r>
            <a:endParaRPr lang="en-US" sz="1000" dirty="0"/>
          </a:p>
        </p:txBody>
      </p:sp>
      <p:sp>
        <p:nvSpPr>
          <p:cNvPr id="41" name="Shape 39"/>
          <p:cNvSpPr/>
          <p:nvPr/>
        </p:nvSpPr>
        <p:spPr>
          <a:xfrm>
            <a:off x="914400" y="4389120"/>
            <a:ext cx="4114800" cy="347472"/>
          </a:xfrm>
          <a:prstGeom prst="roundRect">
            <a:avLst>
              <a:gd name="adj" fmla="val 21053"/>
            </a:avLst>
          </a:prstGeom>
          <a:solidFill>
            <a:srgbClr val="0E1A2B"/>
          </a:solidFill>
          <a:ln/>
        </p:spPr>
      </p:sp>
      <p:sp>
        <p:nvSpPr>
          <p:cNvPr id="42" name="Text 40"/>
          <p:cNvSpPr txBox="1"/>
          <p:nvPr/>
        </p:nvSpPr>
        <p:spPr>
          <a:xfrm>
            <a:off x="914400" y="4389120"/>
            <a:ext cx="41148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Submit register</a:t>
            </a:r>
            <a:endParaRPr lang="en-US" sz="1200" dirty="0"/>
          </a:p>
        </p:txBody>
      </p:sp>
      <p:sp>
        <p:nvSpPr>
          <p:cNvPr id="43" name="Shape 41"/>
          <p:cNvSpPr/>
          <p:nvPr/>
        </p:nvSpPr>
        <p:spPr>
          <a:xfrm>
            <a:off x="548640" y="5303520"/>
            <a:ext cx="4846320" cy="685800"/>
          </a:xfrm>
          <a:prstGeom prst="roundRect">
            <a:avLst>
              <a:gd name="adj" fmla="val 16000"/>
            </a:avLst>
          </a:prstGeom>
          <a:solidFill>
            <a:srgbClr val="FFF4DF"/>
          </a:solidFill>
          <a:ln/>
        </p:spPr>
      </p:sp>
      <p:sp>
        <p:nvSpPr>
          <p:cNvPr id="44" name="Shape 42"/>
          <p:cNvSpPr/>
          <p:nvPr/>
        </p:nvSpPr>
        <p:spPr>
          <a:xfrm>
            <a:off x="713232" y="5440680"/>
            <a:ext cx="411480" cy="411480"/>
          </a:xfrm>
          <a:prstGeom prst="ellipse">
            <a:avLst/>
          </a:prstGeom>
          <a:solidFill>
            <a:srgbClr val="F5A623"/>
          </a:solidFill>
          <a:ln/>
        </p:spPr>
      </p:sp>
      <p:pic>
        <p:nvPicPr>
          <p:cNvPr id="45" name="Image 0" descr="sticky note icon">    </p:cNvPr>
          <p:cNvPicPr>
            <a:picLocks noChangeAspect="1"/>
          </p:cNvPicPr>
          <p:nvPr/>
        </p:nvPicPr>
        <p:blipFill>
          <a:blip r:embed="rId1"/>
          <a:stretch>
            <a:fillRect/>
          </a:stretch>
        </p:blipFill>
        <p:spPr>
          <a:xfrm>
            <a:off x="807872" y="5535320"/>
            <a:ext cx="222199" cy="222199"/>
          </a:xfrm>
          <a:prstGeom prst="rect">
            <a:avLst/>
          </a:prstGeom>
        </p:spPr>
      </p:pic>
      <p:sp>
        <p:nvSpPr>
          <p:cNvPr id="46" name="Text 43"/>
          <p:cNvSpPr txBox="1"/>
          <p:nvPr/>
        </p:nvSpPr>
        <p:spPr>
          <a:xfrm>
            <a:off x="1261872" y="5303520"/>
            <a:ext cx="3977640" cy="685800"/>
          </a:xfrm>
          <a:prstGeom prst="rect">
            <a:avLst/>
          </a:prstGeom>
          <a:noFill/>
          <a:ln/>
        </p:spPr>
        <p:txBody>
          <a:bodyPr wrap="square" lIns="0" tIns="0" rIns="0" bIns="0" rtlCol="0" anchor="ctr"/>
          <a:lstStyle/>
          <a:p>
            <a:pPr indent="0" marL="0">
              <a:buNone/>
            </a:pPr>
            <a:r>
              <a:rPr lang="en-US" sz="1300" b="1" dirty="0">
                <a:solidFill>
                  <a:srgbClr val="8F5400"/>
                </a:solidFill>
                <a:latin typeface="Calibri" pitchFamily="34" charset="0"/>
                <a:ea typeface="Calibri" pitchFamily="34" charset="-122"/>
                <a:cs typeface="Calibri" pitchFamily="34" charset="-120"/>
              </a:rPr>
              <a:t>Prototype v2: </a:t>
            </a:r>
            <a:r>
              <a:rPr lang="en-US" sz="1300" dirty="0">
                <a:solidFill>
                  <a:srgbClr val="1F2A37"/>
                </a:solidFill>
                <a:latin typeface="Calibri" pitchFamily="34" charset="0"/>
                <a:ea typeface="Calibri" pitchFamily="34" charset="-122"/>
                <a:cs typeface="Calibri" pitchFamily="34" charset="-120"/>
              </a:rPr>
              <a:t>the "Late" option was added after teachers tried version 1.</a:t>
            </a:r>
            <a:endParaRPr lang="en-US" sz="1300" dirty="0"/>
          </a:p>
        </p:txBody>
      </p:sp>
      <p:sp>
        <p:nvSpPr>
          <p:cNvPr id="47" name="Text 44"/>
          <p:cNvSpPr txBox="1"/>
          <p:nvPr/>
        </p:nvSpPr>
        <p:spPr>
          <a:xfrm>
            <a:off x="5852160" y="1645920"/>
            <a:ext cx="5790895" cy="640080"/>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Imagine a school wants an app so teachers can take the register on a tablet, and the office can see who's absent straight away.</a:t>
            </a:r>
            <a:endParaRPr lang="en-US" sz="1600" dirty="0"/>
          </a:p>
        </p:txBody>
      </p:sp>
      <p:sp>
        <p:nvSpPr>
          <p:cNvPr id="48" name="Text 45"/>
          <p:cNvSpPr txBox="1"/>
          <p:nvPr/>
        </p:nvSpPr>
        <p:spPr>
          <a:xfrm>
            <a:off x="5852160" y="2450592"/>
            <a:ext cx="5790895" cy="329184"/>
          </a:xfrm>
          <a:prstGeom prst="rect">
            <a:avLst/>
          </a:prstGeom>
          <a:noFill/>
          <a:ln/>
        </p:spPr>
        <p:txBody>
          <a:bodyPr wrap="square" lIns="0" tIns="0" rIns="0" bIns="0" rtlCol="0" anchor="t"/>
          <a:lstStyle/>
          <a:p>
            <a:pPr indent="0" marL="0">
              <a:buNone/>
            </a:pPr>
            <a:r>
              <a:rPr lang="en-US" sz="1700" b="1" dirty="0">
                <a:solidFill>
                  <a:srgbClr val="0B7A6E"/>
                </a:solidFill>
                <a:latin typeface="Calibri" pitchFamily="34" charset="0"/>
                <a:ea typeface="Calibri" pitchFamily="34" charset="-122"/>
                <a:cs typeface="Calibri" pitchFamily="34" charset="-120"/>
              </a:rPr>
              <a:t>In this situation, RAD would work well because:</a:t>
            </a:r>
            <a:endParaRPr lang="en-US" sz="1700" dirty="0"/>
          </a:p>
        </p:txBody>
      </p:sp>
      <p:sp>
        <p:nvSpPr>
          <p:cNvPr id="49" name="Text 46"/>
          <p:cNvSpPr txBox="1"/>
          <p:nvPr/>
        </p:nvSpPr>
        <p:spPr>
          <a:xfrm>
            <a:off x="5852160" y="2880360"/>
            <a:ext cx="5790895" cy="310896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It isn't a huge project, and it has clear users: teachers and office staff</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Teachers are in school every day, so they can test prototypes and give feedback quickly</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The register screen is simple to prototype and test in a real lesson</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It probably needs to be ready fast, for example for the start of a new term</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Changes are likely once teachers try it, like adding a "Late" option</a:t>
            </a:r>
            <a:endParaRPr lang="en-US" sz="1550" dirty="0"/>
          </a:p>
        </p:txBody>
      </p:sp>
      <p:sp>
        <p:nvSpPr>
          <p:cNvPr id="50" name="Text 47"/>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APPLICATION: SCHOOL LIBRARY SYSTEM</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Library system: Requirements Planning</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0E9F8E"/>
          </a:solidFill>
          <a:ln w="15875">
            <a:solidFill>
              <a:srgbClr val="0E9F8E"/>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Text 19"/>
          <p:cNvSpPr txBox="1"/>
          <p:nvPr/>
        </p:nvSpPr>
        <p:spPr>
          <a:xfrm>
            <a:off x="548640" y="1572768"/>
            <a:ext cx="11094415" cy="566928"/>
          </a:xfrm>
          <a:prstGeom prst="rect">
            <a:avLst/>
          </a:prstGeom>
          <a:noFill/>
          <a:ln/>
        </p:spPr>
        <p:txBody>
          <a:bodyPr wrap="square" lIns="0" tIns="0" rIns="0" bIns="0" rtlCol="0" anchor="t"/>
          <a:lstStyle/>
          <a:p>
            <a:pPr indent="0" marL="0">
              <a:buNone/>
            </a:pPr>
            <a:r>
              <a:rPr lang="en-US" sz="1600" dirty="0">
                <a:solidFill>
                  <a:srgbClr val="1F2A37"/>
                </a:solidFill>
                <a:latin typeface="Calibri" pitchFamily="34" charset="0"/>
                <a:ea typeface="Calibri" pitchFamily="34" charset="-122"/>
                <a:cs typeface="Calibri" pitchFamily="34" charset="-120"/>
              </a:rPr>
              <a:t>The school library still uses paper records, so the school wants a computerised system. First, the team meets students and librarians to find out what they need.</a:t>
            </a:r>
            <a:endParaRPr lang="en-US" sz="1600" dirty="0"/>
          </a:p>
        </p:txBody>
      </p:sp>
      <p:sp>
        <p:nvSpPr>
          <p:cNvPr id="22" name="Shape 20"/>
          <p:cNvSpPr/>
          <p:nvPr/>
        </p:nvSpPr>
        <p:spPr>
          <a:xfrm>
            <a:off x="548640" y="2331720"/>
            <a:ext cx="3515258" cy="2743200"/>
          </a:xfrm>
          <a:prstGeom prst="roundRect">
            <a:avLst>
              <a:gd name="adj" fmla="val 4000"/>
            </a:avLst>
          </a:prstGeom>
          <a:solidFill>
            <a:srgbClr val="F2F6F8"/>
          </a:solidFill>
          <a:ln/>
        </p:spPr>
      </p:sp>
      <p:sp>
        <p:nvSpPr>
          <p:cNvPr id="23" name="Shape 21"/>
          <p:cNvSpPr/>
          <p:nvPr/>
        </p:nvSpPr>
        <p:spPr>
          <a:xfrm>
            <a:off x="777240" y="2560320"/>
            <a:ext cx="502920" cy="502920"/>
          </a:xfrm>
          <a:prstGeom prst="ellipse">
            <a:avLst/>
          </a:prstGeom>
          <a:solidFill>
            <a:srgbClr val="0E9F8E"/>
          </a:solidFill>
          <a:ln/>
        </p:spPr>
      </p:sp>
      <p:pic>
        <p:nvPicPr>
          <p:cNvPr id="24" name="Image 0" descr="graduation cap icon">    </p:cNvPr>
          <p:cNvPicPr>
            <a:picLocks noChangeAspect="1"/>
          </p:cNvPicPr>
          <p:nvPr/>
        </p:nvPicPr>
        <p:blipFill>
          <a:blip r:embed="rId1"/>
          <a:stretch>
            <a:fillRect/>
          </a:stretch>
        </p:blipFill>
        <p:spPr>
          <a:xfrm>
            <a:off x="892912" y="2675992"/>
            <a:ext cx="271577" cy="271577"/>
          </a:xfrm>
          <a:prstGeom prst="rect">
            <a:avLst/>
          </a:prstGeom>
        </p:spPr>
      </p:pic>
      <p:sp>
        <p:nvSpPr>
          <p:cNvPr id="25" name="Text 22"/>
          <p:cNvSpPr txBox="1"/>
          <p:nvPr/>
        </p:nvSpPr>
        <p:spPr>
          <a:xfrm>
            <a:off x="1417320" y="25603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Students need to…</a:t>
            </a:r>
            <a:endParaRPr lang="en-US" sz="1900" dirty="0"/>
          </a:p>
        </p:txBody>
      </p:sp>
      <p:sp>
        <p:nvSpPr>
          <p:cNvPr id="26" name="Text 23"/>
          <p:cNvSpPr txBox="1"/>
          <p:nvPr/>
        </p:nvSpPr>
        <p:spPr>
          <a:xfrm>
            <a:off x="768096" y="3246120"/>
            <a:ext cx="3112922" cy="164592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search for books by title, author or subject</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see if a book is available or on loan</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reserve a book that's already out</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check when their books are due back</a:t>
            </a:r>
            <a:endParaRPr lang="en-US" sz="1450" dirty="0"/>
          </a:p>
        </p:txBody>
      </p:sp>
      <p:sp>
        <p:nvSpPr>
          <p:cNvPr id="27" name="Shape 24"/>
          <p:cNvSpPr/>
          <p:nvPr/>
        </p:nvSpPr>
        <p:spPr>
          <a:xfrm>
            <a:off x="4338218" y="2331720"/>
            <a:ext cx="3515258" cy="2743200"/>
          </a:xfrm>
          <a:prstGeom prst="roundRect">
            <a:avLst>
              <a:gd name="adj" fmla="val 4000"/>
            </a:avLst>
          </a:prstGeom>
          <a:solidFill>
            <a:srgbClr val="F2F6F8"/>
          </a:solidFill>
          <a:ln/>
        </p:spPr>
      </p:sp>
      <p:sp>
        <p:nvSpPr>
          <p:cNvPr id="28" name="Shape 25"/>
          <p:cNvSpPr/>
          <p:nvPr/>
        </p:nvSpPr>
        <p:spPr>
          <a:xfrm>
            <a:off x="4566818" y="2560320"/>
            <a:ext cx="502920" cy="502920"/>
          </a:xfrm>
          <a:prstGeom prst="ellipse">
            <a:avLst/>
          </a:prstGeom>
          <a:solidFill>
            <a:srgbClr val="0E9F8E"/>
          </a:solidFill>
          <a:ln/>
        </p:spPr>
      </p:sp>
      <p:pic>
        <p:nvPicPr>
          <p:cNvPr id="29" name="Image 1" descr="library icon">    </p:cNvPr>
          <p:cNvPicPr>
            <a:picLocks noChangeAspect="1"/>
          </p:cNvPicPr>
          <p:nvPr/>
        </p:nvPicPr>
        <p:blipFill>
          <a:blip r:embed="rId2"/>
          <a:stretch>
            <a:fillRect/>
          </a:stretch>
        </p:blipFill>
        <p:spPr>
          <a:xfrm>
            <a:off x="4682490" y="2675992"/>
            <a:ext cx="271577" cy="271577"/>
          </a:xfrm>
          <a:prstGeom prst="rect">
            <a:avLst/>
          </a:prstGeom>
        </p:spPr>
      </p:pic>
      <p:sp>
        <p:nvSpPr>
          <p:cNvPr id="30" name="Text 26"/>
          <p:cNvSpPr txBox="1"/>
          <p:nvPr/>
        </p:nvSpPr>
        <p:spPr>
          <a:xfrm>
            <a:off x="5206898" y="2560320"/>
            <a:ext cx="2509418" cy="502920"/>
          </a:xfrm>
          <a:prstGeom prst="rect">
            <a:avLst/>
          </a:prstGeom>
          <a:noFill/>
          <a:ln/>
        </p:spPr>
        <p:txBody>
          <a:bodyPr wrap="square" lIns="0" tIns="0" rIns="0" bIns="0" rtlCol="0" anchor="ctr"/>
          <a:lstStyle/>
          <a:p>
            <a:pPr indent="0" marL="0">
              <a:buNone/>
            </a:pPr>
            <a:r>
              <a:rPr lang="en-US" sz="1900" b="1" dirty="0">
                <a:solidFill>
                  <a:srgbClr val="0E1A2B"/>
                </a:solidFill>
                <a:latin typeface="Calibri" pitchFamily="34" charset="0"/>
                <a:ea typeface="Calibri" pitchFamily="34" charset="-122"/>
                <a:cs typeface="Calibri" pitchFamily="34" charset="-120"/>
              </a:rPr>
              <a:t>Librarians need to…</a:t>
            </a:r>
            <a:endParaRPr lang="en-US" sz="1900" dirty="0"/>
          </a:p>
        </p:txBody>
      </p:sp>
      <p:sp>
        <p:nvSpPr>
          <p:cNvPr id="31" name="Text 27"/>
          <p:cNvSpPr txBox="1"/>
          <p:nvPr/>
        </p:nvSpPr>
        <p:spPr>
          <a:xfrm>
            <a:off x="4557674" y="3246120"/>
            <a:ext cx="3112922" cy="164592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issue and return books quickly by scanning barcodes</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add new books to the catalogue</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see which books are overdue</a:t>
            </a:r>
            <a:endParaRPr lang="en-US" sz="1450" dirty="0"/>
          </a:p>
          <a:p>
            <a:pPr marL="177800" indent="-177800">
              <a:spcAft>
                <a:spcPts val="800"/>
              </a:spcAft>
              <a:buSzPct val="100000"/>
              <a:buChar char="•"/>
            </a:pPr>
            <a:r>
              <a:rPr lang="en-US" sz="1450" dirty="0">
                <a:solidFill>
                  <a:srgbClr val="1F2A37"/>
                </a:solidFill>
                <a:latin typeface="Calibri" pitchFamily="34" charset="0"/>
                <a:ea typeface="Calibri" pitchFamily="34" charset="-122"/>
                <a:cs typeface="Calibri" pitchFamily="34" charset="-120"/>
              </a:rPr>
              <a:t>send reminders to students</a:t>
            </a:r>
            <a:endParaRPr lang="en-US" sz="1450" dirty="0"/>
          </a:p>
        </p:txBody>
      </p:sp>
      <p:sp>
        <p:nvSpPr>
          <p:cNvPr id="32" name="Shape 28"/>
          <p:cNvSpPr/>
          <p:nvPr/>
        </p:nvSpPr>
        <p:spPr>
          <a:xfrm>
            <a:off x="8127797" y="2331720"/>
            <a:ext cx="3515258" cy="2743200"/>
          </a:xfrm>
          <a:prstGeom prst="roundRect">
            <a:avLst>
              <a:gd name="adj" fmla="val 4000"/>
            </a:avLst>
          </a:prstGeom>
          <a:solidFill>
            <a:srgbClr val="0E1A2B"/>
          </a:solidFill>
          <a:ln/>
        </p:spPr>
      </p:sp>
      <p:sp>
        <p:nvSpPr>
          <p:cNvPr id="33" name="Shape 29"/>
          <p:cNvSpPr/>
          <p:nvPr/>
        </p:nvSpPr>
        <p:spPr>
          <a:xfrm>
            <a:off x="8356397" y="2560320"/>
            <a:ext cx="502920" cy="502920"/>
          </a:xfrm>
          <a:prstGeom prst="ellipse">
            <a:avLst/>
          </a:prstGeom>
          <a:solidFill>
            <a:srgbClr val="F5A623"/>
          </a:solidFill>
          <a:ln/>
        </p:spPr>
      </p:sp>
      <p:pic>
        <p:nvPicPr>
          <p:cNvPr id="34" name="Image 2" descr="list checks icon">    </p:cNvPr>
          <p:cNvPicPr>
            <a:picLocks noChangeAspect="1"/>
          </p:cNvPicPr>
          <p:nvPr/>
        </p:nvPicPr>
        <p:blipFill>
          <a:blip r:embed="rId3"/>
          <a:stretch>
            <a:fillRect/>
          </a:stretch>
        </p:blipFill>
        <p:spPr>
          <a:xfrm>
            <a:off x="8472068" y="2675992"/>
            <a:ext cx="271577" cy="271577"/>
          </a:xfrm>
          <a:prstGeom prst="rect">
            <a:avLst/>
          </a:prstGeom>
        </p:spPr>
      </p:pic>
      <p:sp>
        <p:nvSpPr>
          <p:cNvPr id="35" name="Text 30"/>
          <p:cNvSpPr txBox="1"/>
          <p:nvPr/>
        </p:nvSpPr>
        <p:spPr>
          <a:xfrm>
            <a:off x="8996477" y="25603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Agreed at the meeting</a:t>
            </a:r>
            <a:endParaRPr lang="en-US" sz="1900" dirty="0"/>
          </a:p>
        </p:txBody>
      </p:sp>
      <p:sp>
        <p:nvSpPr>
          <p:cNvPr id="36" name="Text 31"/>
          <p:cNvSpPr txBox="1"/>
          <p:nvPr/>
        </p:nvSpPr>
        <p:spPr>
          <a:xfrm>
            <a:off x="8347253" y="3246120"/>
            <a:ext cx="3112922" cy="1737360"/>
          </a:xfrm>
          <a:prstGeom prst="rect">
            <a:avLst/>
          </a:prstGeom>
          <a:noFill/>
          <a:ln/>
        </p:spPr>
        <p:txBody>
          <a:bodyPr wrap="square" lIns="0" tIns="0" rIns="0" bIns="0" rtlCol="0" anchor="t"/>
          <a:lstStyle/>
          <a:p>
            <a:pPr marL="177800" indent="-177800">
              <a:spcAft>
                <a:spcPts val="1000"/>
              </a:spcAft>
              <a:buSzPct val="100000"/>
              <a:buChar char="•"/>
            </a:pPr>
            <a:r>
              <a:rPr lang="en-US" sz="1450" b="1" dirty="0">
                <a:solidFill>
                  <a:srgbClr val="F5A623"/>
                </a:solidFill>
                <a:latin typeface="Calibri" pitchFamily="34" charset="0"/>
                <a:ea typeface="Calibri" pitchFamily="34" charset="-122"/>
                <a:cs typeface="Calibri" pitchFamily="34" charset="-120"/>
              </a:rPr>
              <a:t>Must-haves: </a:t>
            </a:r>
            <a:r>
              <a:rPr lang="en-US" sz="1450" dirty="0">
                <a:solidFill>
                  <a:srgbClr val="E2E8F0"/>
                </a:solidFill>
                <a:latin typeface="Calibri" pitchFamily="34" charset="0"/>
                <a:ea typeface="Calibri" pitchFamily="34" charset="-122"/>
                <a:cs typeface="Calibri" pitchFamily="34" charset="-120"/>
              </a:rPr>
              <a:t>search, borrowing, returns and an overdue list</a:t>
            </a:r>
            <a:endParaRPr lang="en-US" sz="1450" dirty="0"/>
          </a:p>
          <a:p>
            <a:pPr marL="177800" indent="-177800">
              <a:spcAft>
                <a:spcPts val="1000"/>
              </a:spcAft>
              <a:buSzPct val="100000"/>
              <a:buChar char="•"/>
            </a:pPr>
            <a:r>
              <a:rPr lang="en-US" sz="1450" b="1" dirty="0">
                <a:solidFill>
                  <a:srgbClr val="F5A623"/>
                </a:solidFill>
                <a:latin typeface="Calibri" pitchFamily="34" charset="0"/>
                <a:ea typeface="Calibri" pitchFamily="34" charset="-122"/>
                <a:cs typeface="Calibri" pitchFamily="34" charset="-120"/>
              </a:rPr>
              <a:t>Can wait until later: </a:t>
            </a:r>
            <a:r>
              <a:rPr lang="en-US" sz="1450" dirty="0">
                <a:solidFill>
                  <a:srgbClr val="E2E8F0"/>
                </a:solidFill>
                <a:latin typeface="Calibri" pitchFamily="34" charset="0"/>
                <a:ea typeface="Calibri" pitchFamily="34" charset="-122"/>
                <a:cs typeface="Calibri" pitchFamily="34" charset="-120"/>
              </a:rPr>
              <a:t>reservations and email reminders</a:t>
            </a:r>
            <a:endParaRPr lang="en-US" sz="1450" dirty="0"/>
          </a:p>
          <a:p>
            <a:pPr marL="177800" indent="-177800">
              <a:spcAft>
                <a:spcPts val="1000"/>
              </a:spcAft>
              <a:buSzPct val="100000"/>
              <a:buChar char="•"/>
            </a:pPr>
            <a:r>
              <a:rPr lang="en-US" sz="1450" b="1" dirty="0">
                <a:solidFill>
                  <a:srgbClr val="F5A623"/>
                </a:solidFill>
                <a:latin typeface="Calibri" pitchFamily="34" charset="0"/>
                <a:ea typeface="Calibri" pitchFamily="34" charset="-122"/>
                <a:cs typeface="Calibri" pitchFamily="34" charset="-120"/>
              </a:rPr>
              <a:t>Deadline: </a:t>
            </a:r>
            <a:r>
              <a:rPr lang="en-US" sz="1450" dirty="0">
                <a:solidFill>
                  <a:srgbClr val="E2E8F0"/>
                </a:solidFill>
                <a:latin typeface="Calibri" pitchFamily="34" charset="0"/>
                <a:ea typeface="Calibri" pitchFamily="34" charset="-122"/>
                <a:cs typeface="Calibri" pitchFamily="34" charset="-120"/>
              </a:rPr>
              <a:t>ready for the start of next term</a:t>
            </a:r>
            <a:endParaRPr lang="en-US" sz="1450" dirty="0"/>
          </a:p>
        </p:txBody>
      </p:sp>
      <p:sp>
        <p:nvSpPr>
          <p:cNvPr id="37" name="Shape 32"/>
          <p:cNvSpPr/>
          <p:nvPr/>
        </p:nvSpPr>
        <p:spPr>
          <a:xfrm>
            <a:off x="548640" y="5303520"/>
            <a:ext cx="11094415" cy="685800"/>
          </a:xfrm>
          <a:prstGeom prst="roundRect">
            <a:avLst>
              <a:gd name="adj" fmla="val 16000"/>
            </a:avLst>
          </a:prstGeom>
          <a:solidFill>
            <a:srgbClr val="E3F4F1"/>
          </a:solidFill>
          <a:ln/>
        </p:spPr>
      </p:sp>
      <p:sp>
        <p:nvSpPr>
          <p:cNvPr id="38" name="Shape 33"/>
          <p:cNvSpPr/>
          <p:nvPr/>
        </p:nvSpPr>
        <p:spPr>
          <a:xfrm>
            <a:off x="731520" y="5440680"/>
            <a:ext cx="411480" cy="411480"/>
          </a:xfrm>
          <a:prstGeom prst="ellipse">
            <a:avLst/>
          </a:prstGeom>
          <a:solidFill>
            <a:srgbClr val="0E9F8E"/>
          </a:solidFill>
          <a:ln/>
        </p:spPr>
      </p:sp>
      <p:pic>
        <p:nvPicPr>
          <p:cNvPr id="39" name="Image 3" descr="info icon">    </p:cNvPr>
          <p:cNvPicPr>
            <a:picLocks noChangeAspect="1"/>
          </p:cNvPicPr>
          <p:nvPr/>
        </p:nvPicPr>
        <p:blipFill>
          <a:blip r:embed="rId4"/>
          <a:stretch>
            <a:fillRect/>
          </a:stretch>
        </p:blipFill>
        <p:spPr>
          <a:xfrm>
            <a:off x="826160" y="5535320"/>
            <a:ext cx="222199" cy="222199"/>
          </a:xfrm>
          <a:prstGeom prst="rect">
            <a:avLst/>
          </a:prstGeom>
        </p:spPr>
      </p:pic>
      <p:sp>
        <p:nvSpPr>
          <p:cNvPr id="40" name="Text 34"/>
          <p:cNvSpPr txBox="1"/>
          <p:nvPr/>
        </p:nvSpPr>
        <p:spPr>
          <a:xfrm>
            <a:off x="1325880" y="5303520"/>
            <a:ext cx="10134295" cy="685800"/>
          </a:xfrm>
          <a:prstGeom prst="rect">
            <a:avLst/>
          </a:prstGeom>
          <a:noFill/>
          <a:ln/>
        </p:spPr>
        <p:txBody>
          <a:bodyPr wrap="square" lIns="0" tIns="0" rIns="0" bIns="0" rtlCol="0" anchor="ctr"/>
          <a:lstStyle/>
          <a:p>
            <a:pPr indent="0" marL="0">
              <a:buNone/>
            </a:pPr>
            <a:r>
              <a:rPr lang="en-US" sz="1500" b="1" dirty="0">
                <a:solidFill>
                  <a:srgbClr val="0B7A6E"/>
                </a:solidFill>
                <a:latin typeface="Calibri" pitchFamily="34" charset="0"/>
                <a:ea typeface="Calibri" pitchFamily="34" charset="-122"/>
                <a:cs typeface="Calibri" pitchFamily="34" charset="-120"/>
              </a:rPr>
              <a:t>In this situation, </a:t>
            </a:r>
            <a:r>
              <a:rPr lang="en-US" sz="1500" dirty="0">
                <a:solidFill>
                  <a:srgbClr val="1F2A37"/>
                </a:solidFill>
                <a:latin typeface="Calibri" pitchFamily="34" charset="0"/>
                <a:ea typeface="Calibri" pitchFamily="34" charset="-122"/>
                <a:cs typeface="Calibri" pitchFamily="34" charset="-120"/>
              </a:rPr>
              <a:t>the team only needs the main requirements for now. The details get worked out with prototypes in the next stage.</a:t>
            </a:r>
            <a:endParaRPr lang="en-US" sz="1500" dirty="0"/>
          </a:p>
        </p:txBody>
      </p:sp>
      <p:sp>
        <p:nvSpPr>
          <p:cNvPr id="41" name="Text 3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APPLICATION: SCHOOL LIBRARY SYSTEM</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Library system: User Design</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0E9F8E"/>
          </a:solidFill>
          <a:ln w="15875">
            <a:solidFill>
              <a:srgbClr val="0E9F8E"/>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FFFFFF"/>
          </a:solidFill>
          <a:ln w="15875">
            <a:solidFill>
              <a:srgbClr val="CBD5E1"/>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FFFFFF"/>
          </a:solidFill>
          <a:ln w="15875">
            <a:solidFill>
              <a:srgbClr val="CBD5E1"/>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5486400" cy="3931920"/>
          </a:xfrm>
          <a:prstGeom prst="roundRect">
            <a:avLst>
              <a:gd name="adj" fmla="val 2326"/>
            </a:avLst>
          </a:prstGeom>
          <a:solidFill>
            <a:srgbClr val="FFFFFF"/>
          </a:solidFill>
          <a:ln w="12700">
            <a:solidFill>
              <a:srgbClr val="CBD5E1"/>
            </a:solidFill>
            <a:prstDash val="solid"/>
          </a:ln>
          <a:effectLst>
            <a:outerShdw sx="100000" sy="100000" kx="0" ky="0" algn="bl" rotWithShape="0" blurRad="127000" dist="38100" dir="5400000">
              <a:srgbClr val="000000">
                <a:alpha val="16000"/>
              </a:srgbClr>
            </a:outerShdw>
          </a:effectLst>
        </p:spPr>
      </p:sp>
      <p:sp>
        <p:nvSpPr>
          <p:cNvPr id="22" name="Shape 20"/>
          <p:cNvSpPr/>
          <p:nvPr/>
        </p:nvSpPr>
        <p:spPr>
          <a:xfrm>
            <a:off x="548640" y="1645920"/>
            <a:ext cx="5486400" cy="384048"/>
          </a:xfrm>
          <a:prstGeom prst="roundRect">
            <a:avLst>
              <a:gd name="adj" fmla="val 23810"/>
            </a:avLst>
          </a:prstGeom>
          <a:solidFill>
            <a:srgbClr val="E2E8F0"/>
          </a:solidFill>
          <a:ln/>
        </p:spPr>
      </p:sp>
      <p:sp>
        <p:nvSpPr>
          <p:cNvPr id="23" name="Shape 21"/>
          <p:cNvSpPr/>
          <p:nvPr/>
        </p:nvSpPr>
        <p:spPr>
          <a:xfrm>
            <a:off x="548640" y="1901952"/>
            <a:ext cx="5486400" cy="128016"/>
          </a:xfrm>
          <a:prstGeom prst="rect">
            <a:avLst/>
          </a:prstGeom>
          <a:solidFill>
            <a:srgbClr val="E2E8F0"/>
          </a:solidFill>
          <a:ln/>
        </p:spPr>
      </p:sp>
      <p:sp>
        <p:nvSpPr>
          <p:cNvPr id="24" name="Shape 22"/>
          <p:cNvSpPr/>
          <p:nvPr/>
        </p:nvSpPr>
        <p:spPr>
          <a:xfrm>
            <a:off x="731520" y="1783080"/>
            <a:ext cx="109728" cy="109728"/>
          </a:xfrm>
          <a:prstGeom prst="ellipse">
            <a:avLst/>
          </a:prstGeom>
          <a:solidFill>
            <a:srgbClr val="E0533D"/>
          </a:solidFill>
          <a:ln/>
        </p:spPr>
      </p:sp>
      <p:sp>
        <p:nvSpPr>
          <p:cNvPr id="25" name="Shape 23"/>
          <p:cNvSpPr/>
          <p:nvPr/>
        </p:nvSpPr>
        <p:spPr>
          <a:xfrm>
            <a:off x="914400" y="1783080"/>
            <a:ext cx="109728" cy="109728"/>
          </a:xfrm>
          <a:prstGeom prst="ellipse">
            <a:avLst/>
          </a:prstGeom>
          <a:solidFill>
            <a:srgbClr val="F5A623"/>
          </a:solidFill>
          <a:ln/>
        </p:spPr>
      </p:sp>
      <p:sp>
        <p:nvSpPr>
          <p:cNvPr id="26" name="Shape 24"/>
          <p:cNvSpPr/>
          <p:nvPr/>
        </p:nvSpPr>
        <p:spPr>
          <a:xfrm>
            <a:off x="1097280" y="1783080"/>
            <a:ext cx="109728" cy="109728"/>
          </a:xfrm>
          <a:prstGeom prst="ellipse">
            <a:avLst/>
          </a:prstGeom>
          <a:solidFill>
            <a:srgbClr val="0E9F8E"/>
          </a:solidFill>
          <a:ln/>
        </p:spPr>
      </p:sp>
      <p:sp>
        <p:nvSpPr>
          <p:cNvPr id="27" name="Text 25"/>
          <p:cNvSpPr txBox="1"/>
          <p:nvPr/>
        </p:nvSpPr>
        <p:spPr>
          <a:xfrm>
            <a:off x="1371600" y="1700784"/>
            <a:ext cx="2743200" cy="274320"/>
          </a:xfrm>
          <a:prstGeom prst="rect">
            <a:avLst/>
          </a:prstGeom>
          <a:noFill/>
          <a:ln/>
        </p:spPr>
        <p:txBody>
          <a:bodyPr wrap="square" lIns="0" tIns="0" rIns="0" bIns="0" rtlCol="0" anchor="ctr"/>
          <a:lstStyle/>
          <a:p>
            <a:pPr indent="0" marL="0">
              <a:buNone/>
            </a:pPr>
            <a:r>
              <a:rPr lang="en-US" sz="1100" b="1" dirty="0">
                <a:solidFill>
                  <a:srgbClr val="5A6878"/>
                </a:solidFill>
                <a:latin typeface="Calibri" pitchFamily="34" charset="0"/>
                <a:ea typeface="Calibri" pitchFamily="34" charset="-122"/>
                <a:cs typeface="Calibri" pitchFamily="34" charset="-120"/>
              </a:rPr>
              <a:t>School Library</a:t>
            </a:r>
            <a:endParaRPr lang="en-US" sz="1100" dirty="0"/>
          </a:p>
        </p:txBody>
      </p:sp>
      <p:sp>
        <p:nvSpPr>
          <p:cNvPr id="28" name="Text 26"/>
          <p:cNvSpPr txBox="1"/>
          <p:nvPr/>
        </p:nvSpPr>
        <p:spPr>
          <a:xfrm>
            <a:off x="868680" y="2194560"/>
            <a:ext cx="2743200" cy="365760"/>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Find a book</a:t>
            </a:r>
            <a:endParaRPr lang="en-US" sz="1800" dirty="0"/>
          </a:p>
        </p:txBody>
      </p:sp>
      <p:sp>
        <p:nvSpPr>
          <p:cNvPr id="29" name="Shape 27"/>
          <p:cNvSpPr/>
          <p:nvPr/>
        </p:nvSpPr>
        <p:spPr>
          <a:xfrm>
            <a:off x="868680" y="2633472"/>
            <a:ext cx="4846320" cy="457200"/>
          </a:xfrm>
          <a:prstGeom prst="roundRect">
            <a:avLst>
              <a:gd name="adj" fmla="val 16000"/>
            </a:avLst>
          </a:prstGeom>
          <a:solidFill>
            <a:srgbClr val="FFFFFF"/>
          </a:solidFill>
          <a:ln w="12700">
            <a:solidFill>
              <a:srgbClr val="CBD5E1"/>
            </a:solidFill>
            <a:prstDash val="solid"/>
          </a:ln>
        </p:spPr>
      </p:sp>
      <p:sp>
        <p:nvSpPr>
          <p:cNvPr id="30" name="Text 28"/>
          <p:cNvSpPr txBox="1"/>
          <p:nvPr/>
        </p:nvSpPr>
        <p:spPr>
          <a:xfrm>
            <a:off x="1051560" y="2633472"/>
            <a:ext cx="2743200" cy="457200"/>
          </a:xfrm>
          <a:prstGeom prst="rect">
            <a:avLst/>
          </a:prstGeom>
          <a:noFill/>
          <a:ln/>
        </p:spPr>
        <p:txBody>
          <a:bodyPr wrap="square" lIns="0" tIns="0" rIns="0" bIns="0" rtlCol="0" anchor="ctr"/>
          <a:lstStyle/>
          <a:p>
            <a:pPr indent="0" marL="0">
              <a:buNone/>
            </a:pPr>
            <a:r>
              <a:rPr lang="en-US" sz="1400" dirty="0">
                <a:solidFill>
                  <a:srgbClr val="1F2A37"/>
                </a:solidFill>
                <a:latin typeface="Calibri" pitchFamily="34" charset="0"/>
                <a:ea typeface="Calibri" pitchFamily="34" charset="-122"/>
                <a:cs typeface="Calibri" pitchFamily="34" charset="-120"/>
              </a:rPr>
              <a:t>macbeth</a:t>
            </a:r>
            <a:endParaRPr lang="en-US" sz="1400" dirty="0"/>
          </a:p>
        </p:txBody>
      </p:sp>
      <p:pic>
        <p:nvPicPr>
          <p:cNvPr id="31" name="Image 0" descr="search icon">    </p:cNvPr>
          <p:cNvPicPr>
            <a:picLocks noChangeAspect="1"/>
          </p:cNvPicPr>
          <p:nvPr/>
        </p:nvPicPr>
        <p:blipFill>
          <a:blip r:embed="rId1"/>
          <a:stretch>
            <a:fillRect/>
          </a:stretch>
        </p:blipFill>
        <p:spPr>
          <a:xfrm>
            <a:off x="5376672" y="2743200"/>
            <a:ext cx="237744" cy="237744"/>
          </a:xfrm>
          <a:prstGeom prst="rect">
            <a:avLst/>
          </a:prstGeom>
        </p:spPr>
      </p:pic>
      <p:sp>
        <p:nvSpPr>
          <p:cNvPr id="32" name="Shape 29"/>
          <p:cNvSpPr/>
          <p:nvPr/>
        </p:nvSpPr>
        <p:spPr>
          <a:xfrm>
            <a:off x="868680" y="3310128"/>
            <a:ext cx="4846320" cy="603504"/>
          </a:xfrm>
          <a:prstGeom prst="roundRect">
            <a:avLst>
              <a:gd name="adj" fmla="val 12121"/>
            </a:avLst>
          </a:prstGeom>
          <a:solidFill>
            <a:srgbClr val="F8FAFC"/>
          </a:solidFill>
          <a:ln w="9525">
            <a:solidFill>
              <a:srgbClr val="E2E8F0"/>
            </a:solidFill>
            <a:prstDash val="solid"/>
          </a:ln>
        </p:spPr>
      </p:sp>
      <p:pic>
        <p:nvPicPr>
          <p:cNvPr id="33" name="Image 1" descr="book open icon">    </p:cNvPr>
          <p:cNvPicPr>
            <a:picLocks noChangeAspect="1"/>
          </p:cNvPicPr>
          <p:nvPr/>
        </p:nvPicPr>
        <p:blipFill>
          <a:blip r:embed="rId2"/>
          <a:stretch>
            <a:fillRect/>
          </a:stretch>
        </p:blipFill>
        <p:spPr>
          <a:xfrm>
            <a:off x="1024128" y="3474720"/>
            <a:ext cx="274320" cy="274320"/>
          </a:xfrm>
          <a:prstGeom prst="rect">
            <a:avLst/>
          </a:prstGeom>
        </p:spPr>
      </p:pic>
      <p:sp>
        <p:nvSpPr>
          <p:cNvPr id="34" name="Text 30"/>
          <p:cNvSpPr txBox="1"/>
          <p:nvPr/>
        </p:nvSpPr>
        <p:spPr>
          <a:xfrm>
            <a:off x="1444752" y="3383280"/>
            <a:ext cx="2651760" cy="256032"/>
          </a:xfrm>
          <a:prstGeom prst="rect">
            <a:avLst/>
          </a:prstGeom>
          <a:noFill/>
          <a:ln/>
        </p:spPr>
        <p:txBody>
          <a:bodyPr wrap="square" lIns="0" tIns="0" rIns="0" bIns="0" rtlCol="0" anchor="t"/>
          <a:lstStyle/>
          <a:p>
            <a:pPr indent="0" marL="0">
              <a:buNone/>
            </a:pPr>
            <a:r>
              <a:rPr lang="en-US" sz="1350" b="1" dirty="0">
                <a:solidFill>
                  <a:srgbClr val="0E1A2B"/>
                </a:solidFill>
                <a:latin typeface="Calibri" pitchFamily="34" charset="0"/>
                <a:ea typeface="Calibri" pitchFamily="34" charset="-122"/>
                <a:cs typeface="Calibri" pitchFamily="34" charset="-120"/>
              </a:rPr>
              <a:t>Macbeth</a:t>
            </a:r>
            <a:endParaRPr lang="en-US" sz="1350" dirty="0"/>
          </a:p>
        </p:txBody>
      </p:sp>
      <p:sp>
        <p:nvSpPr>
          <p:cNvPr id="35" name="Text 31"/>
          <p:cNvSpPr txBox="1"/>
          <p:nvPr/>
        </p:nvSpPr>
        <p:spPr>
          <a:xfrm>
            <a:off x="1444752" y="3639312"/>
            <a:ext cx="2651760" cy="219456"/>
          </a:xfrm>
          <a:prstGeom prst="rect">
            <a:avLst/>
          </a:prstGeom>
          <a:noFill/>
          <a:ln/>
        </p:spPr>
        <p:txBody>
          <a:bodyPr wrap="square" lIns="0" tIns="0" rIns="0" bIns="0" rtlCol="0" anchor="t"/>
          <a:lstStyle/>
          <a:p>
            <a:pPr indent="0" marL="0">
              <a:buNone/>
            </a:pPr>
            <a:r>
              <a:rPr lang="en-US" sz="1100" dirty="0">
                <a:solidFill>
                  <a:srgbClr val="5A6878"/>
                </a:solidFill>
                <a:latin typeface="Calibri" pitchFamily="34" charset="0"/>
                <a:ea typeface="Calibri" pitchFamily="34" charset="-122"/>
                <a:cs typeface="Calibri" pitchFamily="34" charset="-120"/>
              </a:rPr>
              <a:t>William Shakespeare</a:t>
            </a:r>
            <a:endParaRPr lang="en-US" sz="1100" dirty="0"/>
          </a:p>
        </p:txBody>
      </p:sp>
      <p:sp>
        <p:nvSpPr>
          <p:cNvPr id="36" name="Shape 32"/>
          <p:cNvSpPr/>
          <p:nvPr/>
        </p:nvSpPr>
        <p:spPr>
          <a:xfrm>
            <a:off x="4160520" y="3465576"/>
            <a:ext cx="1417320" cy="292608"/>
          </a:xfrm>
          <a:prstGeom prst="roundRect">
            <a:avLst>
              <a:gd name="adj" fmla="val 50000"/>
            </a:avLst>
          </a:prstGeom>
          <a:solidFill>
            <a:srgbClr val="E3F4F1"/>
          </a:solidFill>
          <a:ln/>
        </p:spPr>
      </p:sp>
      <p:sp>
        <p:nvSpPr>
          <p:cNvPr id="37" name="Text 33"/>
          <p:cNvSpPr txBox="1"/>
          <p:nvPr/>
        </p:nvSpPr>
        <p:spPr>
          <a:xfrm>
            <a:off x="4160520" y="3465576"/>
            <a:ext cx="1417320" cy="292608"/>
          </a:xfrm>
          <a:prstGeom prst="rect">
            <a:avLst/>
          </a:prstGeom>
          <a:noFill/>
          <a:ln/>
        </p:spPr>
        <p:txBody>
          <a:bodyPr wrap="square" lIns="0" tIns="0" rIns="0" bIns="0" rtlCol="0" anchor="ctr"/>
          <a:lstStyle/>
          <a:p>
            <a:pPr algn="ctr" indent="0" marL="0">
              <a:buNone/>
            </a:pPr>
            <a:r>
              <a:rPr lang="en-US" sz="1100" b="1" dirty="0">
                <a:solidFill>
                  <a:srgbClr val="0B7A6E"/>
                </a:solidFill>
                <a:latin typeface="Calibri" pitchFamily="34" charset="0"/>
                <a:ea typeface="Calibri" pitchFamily="34" charset="-122"/>
                <a:cs typeface="Calibri" pitchFamily="34" charset="-120"/>
              </a:rPr>
              <a:t>Available (3)</a:t>
            </a:r>
            <a:endParaRPr lang="en-US" sz="1100" dirty="0"/>
          </a:p>
        </p:txBody>
      </p:sp>
      <p:sp>
        <p:nvSpPr>
          <p:cNvPr id="38" name="Shape 34"/>
          <p:cNvSpPr/>
          <p:nvPr/>
        </p:nvSpPr>
        <p:spPr>
          <a:xfrm>
            <a:off x="868680" y="4023360"/>
            <a:ext cx="4846320" cy="603504"/>
          </a:xfrm>
          <a:prstGeom prst="roundRect">
            <a:avLst>
              <a:gd name="adj" fmla="val 12121"/>
            </a:avLst>
          </a:prstGeom>
          <a:solidFill>
            <a:srgbClr val="F8FAFC"/>
          </a:solidFill>
          <a:ln w="9525">
            <a:solidFill>
              <a:srgbClr val="E2E8F0"/>
            </a:solidFill>
            <a:prstDash val="solid"/>
          </a:ln>
        </p:spPr>
      </p:sp>
      <p:pic>
        <p:nvPicPr>
          <p:cNvPr id="39" name="Image 2" descr="book open icon">    </p:cNvPr>
          <p:cNvPicPr>
            <a:picLocks noChangeAspect="1"/>
          </p:cNvPicPr>
          <p:nvPr/>
        </p:nvPicPr>
        <p:blipFill>
          <a:blip r:embed="rId3"/>
          <a:stretch>
            <a:fillRect/>
          </a:stretch>
        </p:blipFill>
        <p:spPr>
          <a:xfrm>
            <a:off x="1024128" y="4187952"/>
            <a:ext cx="274320" cy="274320"/>
          </a:xfrm>
          <a:prstGeom prst="rect">
            <a:avLst/>
          </a:prstGeom>
        </p:spPr>
      </p:pic>
      <p:sp>
        <p:nvSpPr>
          <p:cNvPr id="40" name="Text 35"/>
          <p:cNvSpPr txBox="1"/>
          <p:nvPr/>
        </p:nvSpPr>
        <p:spPr>
          <a:xfrm>
            <a:off x="1444752" y="4096512"/>
            <a:ext cx="2651760" cy="256032"/>
          </a:xfrm>
          <a:prstGeom prst="rect">
            <a:avLst/>
          </a:prstGeom>
          <a:noFill/>
          <a:ln/>
        </p:spPr>
        <p:txBody>
          <a:bodyPr wrap="square" lIns="0" tIns="0" rIns="0" bIns="0" rtlCol="0" anchor="t"/>
          <a:lstStyle/>
          <a:p>
            <a:pPr indent="0" marL="0">
              <a:buNone/>
            </a:pPr>
            <a:r>
              <a:rPr lang="en-US" sz="1350" b="1" dirty="0">
                <a:solidFill>
                  <a:srgbClr val="0E1A2B"/>
                </a:solidFill>
                <a:latin typeface="Calibri" pitchFamily="34" charset="0"/>
                <a:ea typeface="Calibri" pitchFamily="34" charset="-122"/>
                <a:cs typeface="Calibri" pitchFamily="34" charset="-120"/>
              </a:rPr>
              <a:t>Macbeth: GCSE Revision Guide</a:t>
            </a:r>
            <a:endParaRPr lang="en-US" sz="1350" dirty="0"/>
          </a:p>
        </p:txBody>
      </p:sp>
      <p:sp>
        <p:nvSpPr>
          <p:cNvPr id="41" name="Text 36"/>
          <p:cNvSpPr txBox="1"/>
          <p:nvPr/>
        </p:nvSpPr>
        <p:spPr>
          <a:xfrm>
            <a:off x="1444752" y="4352544"/>
            <a:ext cx="2651760" cy="219456"/>
          </a:xfrm>
          <a:prstGeom prst="rect">
            <a:avLst/>
          </a:prstGeom>
          <a:noFill/>
          <a:ln/>
        </p:spPr>
        <p:txBody>
          <a:bodyPr wrap="square" lIns="0" tIns="0" rIns="0" bIns="0" rtlCol="0" anchor="t"/>
          <a:lstStyle/>
          <a:p>
            <a:pPr indent="0" marL="0">
              <a:buNone/>
            </a:pPr>
            <a:r>
              <a:rPr lang="en-US" sz="1100" dirty="0">
                <a:solidFill>
                  <a:srgbClr val="5A6878"/>
                </a:solidFill>
                <a:latin typeface="Calibri" pitchFamily="34" charset="0"/>
                <a:ea typeface="Calibri" pitchFamily="34" charset="-122"/>
                <a:cs typeface="Calibri" pitchFamily="34" charset="-120"/>
              </a:rPr>
              <a:t>Study guide</a:t>
            </a:r>
            <a:endParaRPr lang="en-US" sz="1100" dirty="0"/>
          </a:p>
        </p:txBody>
      </p:sp>
      <p:sp>
        <p:nvSpPr>
          <p:cNvPr id="42" name="Shape 37"/>
          <p:cNvSpPr/>
          <p:nvPr/>
        </p:nvSpPr>
        <p:spPr>
          <a:xfrm>
            <a:off x="4160520" y="4178808"/>
            <a:ext cx="1417320" cy="292608"/>
          </a:xfrm>
          <a:prstGeom prst="roundRect">
            <a:avLst>
              <a:gd name="adj" fmla="val 50000"/>
            </a:avLst>
          </a:prstGeom>
          <a:solidFill>
            <a:srgbClr val="FDECE8"/>
          </a:solidFill>
          <a:ln/>
        </p:spPr>
      </p:sp>
      <p:sp>
        <p:nvSpPr>
          <p:cNvPr id="43" name="Text 38"/>
          <p:cNvSpPr txBox="1"/>
          <p:nvPr/>
        </p:nvSpPr>
        <p:spPr>
          <a:xfrm>
            <a:off x="4160520" y="4178808"/>
            <a:ext cx="1417320" cy="292608"/>
          </a:xfrm>
          <a:prstGeom prst="rect">
            <a:avLst/>
          </a:prstGeom>
          <a:noFill/>
          <a:ln/>
        </p:spPr>
        <p:txBody>
          <a:bodyPr wrap="square" lIns="0" tIns="0" rIns="0" bIns="0" rtlCol="0" anchor="ctr"/>
          <a:lstStyle/>
          <a:p>
            <a:pPr algn="ctr" indent="0" marL="0">
              <a:buNone/>
            </a:pPr>
            <a:r>
              <a:rPr lang="en-US" sz="1100" b="1" dirty="0">
                <a:solidFill>
                  <a:srgbClr val="B23A26"/>
                </a:solidFill>
                <a:latin typeface="Calibri" pitchFamily="34" charset="0"/>
                <a:ea typeface="Calibri" pitchFamily="34" charset="-122"/>
                <a:cs typeface="Calibri" pitchFamily="34" charset="-120"/>
              </a:rPr>
              <a:t>On loan: due 14 Oct</a:t>
            </a:r>
            <a:endParaRPr lang="en-US" sz="1100" dirty="0"/>
          </a:p>
        </p:txBody>
      </p:sp>
      <p:sp>
        <p:nvSpPr>
          <p:cNvPr id="44" name="Shape 39"/>
          <p:cNvSpPr/>
          <p:nvPr/>
        </p:nvSpPr>
        <p:spPr>
          <a:xfrm>
            <a:off x="868680" y="4736592"/>
            <a:ext cx="4846320" cy="603504"/>
          </a:xfrm>
          <a:prstGeom prst="roundRect">
            <a:avLst>
              <a:gd name="adj" fmla="val 12121"/>
            </a:avLst>
          </a:prstGeom>
          <a:solidFill>
            <a:srgbClr val="F8FAFC"/>
          </a:solidFill>
          <a:ln w="9525">
            <a:solidFill>
              <a:srgbClr val="E2E8F0"/>
            </a:solidFill>
            <a:prstDash val="solid"/>
          </a:ln>
        </p:spPr>
      </p:sp>
      <p:pic>
        <p:nvPicPr>
          <p:cNvPr id="45" name="Image 3" descr="book open icon">    </p:cNvPr>
          <p:cNvPicPr>
            <a:picLocks noChangeAspect="1"/>
          </p:cNvPicPr>
          <p:nvPr/>
        </p:nvPicPr>
        <p:blipFill>
          <a:blip r:embed="rId4"/>
          <a:stretch>
            <a:fillRect/>
          </a:stretch>
        </p:blipFill>
        <p:spPr>
          <a:xfrm>
            <a:off x="1024128" y="4901184"/>
            <a:ext cx="274320" cy="274320"/>
          </a:xfrm>
          <a:prstGeom prst="rect">
            <a:avLst/>
          </a:prstGeom>
        </p:spPr>
      </p:pic>
      <p:sp>
        <p:nvSpPr>
          <p:cNvPr id="46" name="Text 40"/>
          <p:cNvSpPr txBox="1"/>
          <p:nvPr/>
        </p:nvSpPr>
        <p:spPr>
          <a:xfrm>
            <a:off x="1444752" y="4809744"/>
            <a:ext cx="2651760" cy="256032"/>
          </a:xfrm>
          <a:prstGeom prst="rect">
            <a:avLst/>
          </a:prstGeom>
          <a:noFill/>
          <a:ln/>
        </p:spPr>
        <p:txBody>
          <a:bodyPr wrap="square" lIns="0" tIns="0" rIns="0" bIns="0" rtlCol="0" anchor="t"/>
          <a:lstStyle/>
          <a:p>
            <a:pPr indent="0" marL="0">
              <a:buNone/>
            </a:pPr>
            <a:r>
              <a:rPr lang="en-US" sz="1350" b="1" dirty="0">
                <a:solidFill>
                  <a:srgbClr val="0E1A2B"/>
                </a:solidFill>
                <a:latin typeface="Calibri" pitchFamily="34" charset="0"/>
                <a:ea typeface="Calibri" pitchFamily="34" charset="-122"/>
                <a:cs typeface="Calibri" pitchFamily="34" charset="-120"/>
              </a:rPr>
              <a:t>Macbeth: The Graphic Novel</a:t>
            </a:r>
            <a:endParaRPr lang="en-US" sz="1350" dirty="0"/>
          </a:p>
        </p:txBody>
      </p:sp>
      <p:sp>
        <p:nvSpPr>
          <p:cNvPr id="47" name="Text 41"/>
          <p:cNvSpPr txBox="1"/>
          <p:nvPr/>
        </p:nvSpPr>
        <p:spPr>
          <a:xfrm>
            <a:off x="1444752" y="5065776"/>
            <a:ext cx="2651760" cy="219456"/>
          </a:xfrm>
          <a:prstGeom prst="rect">
            <a:avLst/>
          </a:prstGeom>
          <a:noFill/>
          <a:ln/>
        </p:spPr>
        <p:txBody>
          <a:bodyPr wrap="square" lIns="0" tIns="0" rIns="0" bIns="0" rtlCol="0" anchor="t"/>
          <a:lstStyle/>
          <a:p>
            <a:pPr indent="0" marL="0">
              <a:buNone/>
            </a:pPr>
            <a:r>
              <a:rPr lang="en-US" sz="1100" dirty="0">
                <a:solidFill>
                  <a:srgbClr val="5A6878"/>
                </a:solidFill>
                <a:latin typeface="Calibri" pitchFamily="34" charset="0"/>
                <a:ea typeface="Calibri" pitchFamily="34" charset="-122"/>
                <a:cs typeface="Calibri" pitchFamily="34" charset="-120"/>
              </a:rPr>
              <a:t>Graphic novel</a:t>
            </a:r>
            <a:endParaRPr lang="en-US" sz="1100" dirty="0"/>
          </a:p>
        </p:txBody>
      </p:sp>
      <p:sp>
        <p:nvSpPr>
          <p:cNvPr id="48" name="Shape 42"/>
          <p:cNvSpPr/>
          <p:nvPr/>
        </p:nvSpPr>
        <p:spPr>
          <a:xfrm>
            <a:off x="4160520" y="4892040"/>
            <a:ext cx="1417320" cy="292608"/>
          </a:xfrm>
          <a:prstGeom prst="roundRect">
            <a:avLst>
              <a:gd name="adj" fmla="val 50000"/>
            </a:avLst>
          </a:prstGeom>
          <a:solidFill>
            <a:srgbClr val="E3F4F1"/>
          </a:solidFill>
          <a:ln/>
        </p:spPr>
      </p:sp>
      <p:sp>
        <p:nvSpPr>
          <p:cNvPr id="49" name="Text 43"/>
          <p:cNvSpPr txBox="1"/>
          <p:nvPr/>
        </p:nvSpPr>
        <p:spPr>
          <a:xfrm>
            <a:off x="4160520" y="4892040"/>
            <a:ext cx="1417320" cy="292608"/>
          </a:xfrm>
          <a:prstGeom prst="rect">
            <a:avLst/>
          </a:prstGeom>
          <a:noFill/>
          <a:ln/>
        </p:spPr>
        <p:txBody>
          <a:bodyPr wrap="square" lIns="0" tIns="0" rIns="0" bIns="0" rtlCol="0" anchor="ctr"/>
          <a:lstStyle/>
          <a:p>
            <a:pPr algn="ctr" indent="0" marL="0">
              <a:buNone/>
            </a:pPr>
            <a:r>
              <a:rPr lang="en-US" sz="1100" b="1" dirty="0">
                <a:solidFill>
                  <a:srgbClr val="0B7A6E"/>
                </a:solidFill>
                <a:latin typeface="Calibri" pitchFamily="34" charset="0"/>
                <a:ea typeface="Calibri" pitchFamily="34" charset="-122"/>
                <a:cs typeface="Calibri" pitchFamily="34" charset="-120"/>
              </a:rPr>
              <a:t>Available (1)</a:t>
            </a:r>
            <a:endParaRPr lang="en-US" sz="1100" dirty="0"/>
          </a:p>
        </p:txBody>
      </p:sp>
      <p:sp>
        <p:nvSpPr>
          <p:cNvPr id="50" name="Text 44"/>
          <p:cNvSpPr txBox="1"/>
          <p:nvPr/>
        </p:nvSpPr>
        <p:spPr>
          <a:xfrm>
            <a:off x="548640" y="5687568"/>
            <a:ext cx="5486400" cy="237744"/>
          </a:xfrm>
          <a:prstGeom prst="rect">
            <a:avLst/>
          </a:prstGeom>
          <a:noFill/>
          <a:ln/>
        </p:spPr>
        <p:txBody>
          <a:bodyPr wrap="square" lIns="0" tIns="0" rIns="0" bIns="0" rtlCol="0" anchor="t"/>
          <a:lstStyle/>
          <a:p>
            <a:pPr algn="ctr" indent="0" marL="0">
              <a:buNone/>
            </a:pPr>
            <a:r>
              <a:rPr lang="en-US" sz="1150" i="1" dirty="0">
                <a:solidFill>
                  <a:srgbClr val="5A6878"/>
                </a:solidFill>
                <a:latin typeface="Calibri" pitchFamily="34" charset="0"/>
                <a:ea typeface="Calibri" pitchFamily="34" charset="-122"/>
                <a:cs typeface="Calibri" pitchFamily="34" charset="-120"/>
              </a:rPr>
              <a:t>Prototype of the search screen (version 2)</a:t>
            </a:r>
            <a:endParaRPr lang="en-US" sz="1150" dirty="0"/>
          </a:p>
        </p:txBody>
      </p:sp>
      <p:sp>
        <p:nvSpPr>
          <p:cNvPr id="51" name="Text 45"/>
          <p:cNvSpPr txBox="1"/>
          <p:nvPr/>
        </p:nvSpPr>
        <p:spPr>
          <a:xfrm>
            <a:off x="6400800" y="1645920"/>
            <a:ext cx="5242255" cy="329184"/>
          </a:xfrm>
          <a:prstGeom prst="rect">
            <a:avLst/>
          </a:prstGeom>
          <a:noFill/>
          <a:ln/>
        </p:spPr>
        <p:txBody>
          <a:bodyPr wrap="square" lIns="0" tIns="0" rIns="0" bIns="0" rtlCol="0" anchor="t"/>
          <a:lstStyle/>
          <a:p>
            <a:pPr indent="0" marL="0">
              <a:buNone/>
            </a:pPr>
            <a:r>
              <a:rPr lang="en-US" sz="1700" b="1" dirty="0">
                <a:solidFill>
                  <a:srgbClr val="0B7A6E"/>
                </a:solidFill>
                <a:latin typeface="Calibri" pitchFamily="34" charset="0"/>
                <a:ea typeface="Calibri" pitchFamily="34" charset="-122"/>
                <a:cs typeface="Calibri" pitchFamily="34" charset="-120"/>
              </a:rPr>
              <a:t>How it works</a:t>
            </a:r>
            <a:endParaRPr lang="en-US" sz="1700" dirty="0"/>
          </a:p>
        </p:txBody>
      </p:sp>
      <p:sp>
        <p:nvSpPr>
          <p:cNvPr id="52" name="Shape 46"/>
          <p:cNvSpPr/>
          <p:nvPr/>
        </p:nvSpPr>
        <p:spPr>
          <a:xfrm>
            <a:off x="6400800" y="2084832"/>
            <a:ext cx="329184" cy="329184"/>
          </a:xfrm>
          <a:prstGeom prst="ellipse">
            <a:avLst/>
          </a:prstGeom>
          <a:solidFill>
            <a:srgbClr val="0E9F8E"/>
          </a:solidFill>
          <a:ln/>
        </p:spPr>
      </p:sp>
      <p:sp>
        <p:nvSpPr>
          <p:cNvPr id="53" name="Text 47"/>
          <p:cNvSpPr txBox="1"/>
          <p:nvPr/>
        </p:nvSpPr>
        <p:spPr>
          <a:xfrm>
            <a:off x="6400800" y="20848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4" name="Text 48"/>
          <p:cNvSpPr txBox="1"/>
          <p:nvPr/>
        </p:nvSpPr>
        <p:spPr>
          <a:xfrm>
            <a:off x="6876288" y="20665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Developers make a quick prototype of the search screen</a:t>
            </a:r>
            <a:endParaRPr lang="en-US" sz="1450" dirty="0"/>
          </a:p>
        </p:txBody>
      </p:sp>
      <p:sp>
        <p:nvSpPr>
          <p:cNvPr id="55" name="Shape 49"/>
          <p:cNvSpPr/>
          <p:nvPr/>
        </p:nvSpPr>
        <p:spPr>
          <a:xfrm>
            <a:off x="6400800" y="2542032"/>
            <a:ext cx="329184" cy="329184"/>
          </a:xfrm>
          <a:prstGeom prst="ellipse">
            <a:avLst/>
          </a:prstGeom>
          <a:solidFill>
            <a:srgbClr val="0E9F8E"/>
          </a:solidFill>
          <a:ln/>
        </p:spPr>
      </p:sp>
      <p:sp>
        <p:nvSpPr>
          <p:cNvPr id="56" name="Text 50"/>
          <p:cNvSpPr txBox="1"/>
          <p:nvPr/>
        </p:nvSpPr>
        <p:spPr>
          <a:xfrm>
            <a:off x="6400800" y="25420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7" name="Text 51"/>
          <p:cNvSpPr txBox="1"/>
          <p:nvPr/>
        </p:nvSpPr>
        <p:spPr>
          <a:xfrm>
            <a:off x="6876288" y="25237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A group of students and the librarians try it out</a:t>
            </a:r>
            <a:endParaRPr lang="en-US" sz="1450" dirty="0"/>
          </a:p>
        </p:txBody>
      </p:sp>
      <p:sp>
        <p:nvSpPr>
          <p:cNvPr id="58" name="Shape 52"/>
          <p:cNvSpPr/>
          <p:nvPr/>
        </p:nvSpPr>
        <p:spPr>
          <a:xfrm>
            <a:off x="6400800" y="2999232"/>
            <a:ext cx="329184" cy="329184"/>
          </a:xfrm>
          <a:prstGeom prst="ellipse">
            <a:avLst/>
          </a:prstGeom>
          <a:solidFill>
            <a:srgbClr val="0E9F8E"/>
          </a:solidFill>
          <a:ln/>
        </p:spPr>
      </p:sp>
      <p:sp>
        <p:nvSpPr>
          <p:cNvPr id="59" name="Text 53"/>
          <p:cNvSpPr txBox="1"/>
          <p:nvPr/>
        </p:nvSpPr>
        <p:spPr>
          <a:xfrm>
            <a:off x="6400800" y="29992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0" name="Text 54"/>
          <p:cNvSpPr txBox="1"/>
          <p:nvPr/>
        </p:nvSpPr>
        <p:spPr>
          <a:xfrm>
            <a:off x="6876288" y="29809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They give feedback, and the prototype is changed</a:t>
            </a:r>
            <a:endParaRPr lang="en-US" sz="1450" dirty="0"/>
          </a:p>
        </p:txBody>
      </p:sp>
      <p:sp>
        <p:nvSpPr>
          <p:cNvPr id="61" name="Shape 55"/>
          <p:cNvSpPr/>
          <p:nvPr/>
        </p:nvSpPr>
        <p:spPr>
          <a:xfrm>
            <a:off x="6400800" y="3456432"/>
            <a:ext cx="329184" cy="329184"/>
          </a:xfrm>
          <a:prstGeom prst="ellipse">
            <a:avLst/>
          </a:prstGeom>
          <a:solidFill>
            <a:srgbClr val="0E9F8E"/>
          </a:solidFill>
          <a:ln/>
        </p:spPr>
      </p:sp>
      <p:sp>
        <p:nvSpPr>
          <p:cNvPr id="62" name="Text 56"/>
          <p:cNvSpPr txBox="1"/>
          <p:nvPr/>
        </p:nvSpPr>
        <p:spPr>
          <a:xfrm>
            <a:off x="6400800" y="34564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63" name="Text 57"/>
          <p:cNvSpPr txBox="1"/>
          <p:nvPr/>
        </p:nvSpPr>
        <p:spPr>
          <a:xfrm>
            <a:off x="6876288" y="3438144"/>
            <a:ext cx="4766767" cy="365760"/>
          </a:xfrm>
          <a:prstGeom prst="rect">
            <a:avLst/>
          </a:prstGeom>
          <a:noFill/>
          <a:ln/>
        </p:spPr>
        <p:txBody>
          <a:bodyPr wrap="square" lIns="0" tIns="0" rIns="0" bIns="0" rtlCol="0" anchor="ctr"/>
          <a:lstStyle/>
          <a:p>
            <a:pPr indent="0" marL="0">
              <a:buNone/>
            </a:pPr>
            <a:r>
              <a:rPr lang="en-US" sz="1450" dirty="0">
                <a:solidFill>
                  <a:srgbClr val="1F2A37"/>
                </a:solidFill>
                <a:latin typeface="Calibri" pitchFamily="34" charset="0"/>
                <a:ea typeface="Calibri" pitchFamily="34" charset="-122"/>
                <a:cs typeface="Calibri" pitchFamily="34" charset="-120"/>
              </a:rPr>
              <a:t>This repeats until everyone is happy with the design</a:t>
            </a:r>
            <a:endParaRPr lang="en-US" sz="1450" dirty="0"/>
          </a:p>
        </p:txBody>
      </p:sp>
      <p:sp>
        <p:nvSpPr>
          <p:cNvPr id="64" name="Text 58"/>
          <p:cNvSpPr txBox="1"/>
          <p:nvPr/>
        </p:nvSpPr>
        <p:spPr>
          <a:xfrm>
            <a:off x="6400800" y="4041648"/>
            <a:ext cx="5242255" cy="329184"/>
          </a:xfrm>
          <a:prstGeom prst="rect">
            <a:avLst/>
          </a:prstGeom>
          <a:noFill/>
          <a:ln/>
        </p:spPr>
        <p:txBody>
          <a:bodyPr wrap="square" lIns="0" tIns="0" rIns="0" bIns="0" rtlCol="0" anchor="t"/>
          <a:lstStyle/>
          <a:p>
            <a:pPr indent="0" marL="0">
              <a:buNone/>
            </a:pPr>
            <a:r>
              <a:rPr lang="en-US" sz="1700" b="1" dirty="0">
                <a:solidFill>
                  <a:srgbClr val="0B7A6E"/>
                </a:solidFill>
                <a:latin typeface="Calibri" pitchFamily="34" charset="0"/>
                <a:ea typeface="Calibri" pitchFamily="34" charset="-122"/>
                <a:cs typeface="Calibri" pitchFamily="34" charset="-120"/>
              </a:rPr>
              <a:t>What users said</a:t>
            </a:r>
            <a:endParaRPr lang="en-US" sz="1700" dirty="0"/>
          </a:p>
        </p:txBody>
      </p:sp>
      <p:sp>
        <p:nvSpPr>
          <p:cNvPr id="65" name="Shape 59"/>
          <p:cNvSpPr/>
          <p:nvPr/>
        </p:nvSpPr>
        <p:spPr>
          <a:xfrm>
            <a:off x="6400800" y="4462272"/>
            <a:ext cx="5242255" cy="694944"/>
          </a:xfrm>
          <a:prstGeom prst="roundRect">
            <a:avLst>
              <a:gd name="adj" fmla="val 15789"/>
            </a:avLst>
          </a:prstGeom>
          <a:solidFill>
            <a:srgbClr val="FFF4DF"/>
          </a:solidFill>
          <a:ln/>
        </p:spPr>
      </p:sp>
      <p:sp>
        <p:nvSpPr>
          <p:cNvPr id="66" name="Text 60"/>
          <p:cNvSpPr txBox="1"/>
          <p:nvPr/>
        </p:nvSpPr>
        <p:spPr>
          <a:xfrm>
            <a:off x="6583680" y="4535424"/>
            <a:ext cx="4922215" cy="274320"/>
          </a:xfrm>
          <a:prstGeom prst="rect">
            <a:avLst/>
          </a:prstGeom>
          <a:noFill/>
          <a:ln/>
        </p:spPr>
        <p:txBody>
          <a:bodyPr wrap="square" lIns="0" tIns="0" rIns="0" bIns="0" rtlCol="0" anchor="t"/>
          <a:lstStyle/>
          <a:p>
            <a:pPr indent="0" marL="0">
              <a:buNone/>
            </a:pPr>
            <a:r>
              <a:rPr lang="en-US" sz="1350" i="1" dirty="0">
                <a:solidFill>
                  <a:srgbClr val="1F2A37"/>
                </a:solidFill>
                <a:latin typeface="Calibri" pitchFamily="34" charset="0"/>
                <a:ea typeface="Calibri" pitchFamily="34" charset="-122"/>
                <a:cs typeface="Calibri" pitchFamily="34" charset="-120"/>
              </a:rPr>
              <a:t>"Can it show if a book is actually on the shelf?"</a:t>
            </a:r>
            <a:r>
              <a:rPr lang="en-US" sz="1350" dirty="0">
                <a:solidFill>
                  <a:srgbClr val="5A6878"/>
                </a:solidFill>
                <a:latin typeface="Calibri" pitchFamily="34" charset="0"/>
                <a:ea typeface="Calibri" pitchFamily="34" charset="-122"/>
                <a:cs typeface="Calibri" pitchFamily="34" charset="-120"/>
              </a:rPr>
              <a:t>  (student)</a:t>
            </a:r>
            <a:endParaRPr lang="en-US" sz="1350" dirty="0"/>
          </a:p>
        </p:txBody>
      </p:sp>
      <p:sp>
        <p:nvSpPr>
          <p:cNvPr id="67" name="Text 61"/>
          <p:cNvSpPr txBox="1"/>
          <p:nvPr/>
        </p:nvSpPr>
        <p:spPr>
          <a:xfrm>
            <a:off x="6583680" y="4828032"/>
            <a:ext cx="4922215" cy="256032"/>
          </a:xfrm>
          <a:prstGeom prst="rect">
            <a:avLst/>
          </a:prstGeom>
          <a:noFill/>
          <a:ln/>
        </p:spPr>
        <p:txBody>
          <a:bodyPr wrap="square" lIns="0" tIns="0" rIns="0" bIns="0" rtlCol="0" anchor="t"/>
          <a:lstStyle/>
          <a:p>
            <a:pPr indent="0" marL="0">
              <a:buNone/>
            </a:pPr>
            <a:r>
              <a:rPr lang="en-US" sz="1300" b="1" dirty="0">
                <a:solidFill>
                  <a:srgbClr val="0B7A6E"/>
                </a:solidFill>
                <a:latin typeface="Calibri" pitchFamily="34" charset="0"/>
                <a:ea typeface="Calibri" pitchFamily="34" charset="-122"/>
                <a:cs typeface="Calibri" pitchFamily="34" charset="-120"/>
              </a:rPr>
              <a:t>Change: added 'Available' and 'On loan' labels</a:t>
            </a:r>
            <a:endParaRPr lang="en-US" sz="1300" dirty="0"/>
          </a:p>
        </p:txBody>
      </p:sp>
      <p:sp>
        <p:nvSpPr>
          <p:cNvPr id="68" name="Shape 62"/>
          <p:cNvSpPr/>
          <p:nvPr/>
        </p:nvSpPr>
        <p:spPr>
          <a:xfrm>
            <a:off x="6400800" y="5248656"/>
            <a:ext cx="5242255" cy="694944"/>
          </a:xfrm>
          <a:prstGeom prst="roundRect">
            <a:avLst>
              <a:gd name="adj" fmla="val 15789"/>
            </a:avLst>
          </a:prstGeom>
          <a:solidFill>
            <a:srgbClr val="FFF4DF"/>
          </a:solidFill>
          <a:ln/>
        </p:spPr>
      </p:sp>
      <p:sp>
        <p:nvSpPr>
          <p:cNvPr id="69" name="Text 63"/>
          <p:cNvSpPr txBox="1"/>
          <p:nvPr/>
        </p:nvSpPr>
        <p:spPr>
          <a:xfrm>
            <a:off x="6583680" y="5321808"/>
            <a:ext cx="4922215" cy="274320"/>
          </a:xfrm>
          <a:prstGeom prst="rect">
            <a:avLst/>
          </a:prstGeom>
          <a:noFill/>
          <a:ln/>
        </p:spPr>
        <p:txBody>
          <a:bodyPr wrap="square" lIns="0" tIns="0" rIns="0" bIns="0" rtlCol="0" anchor="t"/>
          <a:lstStyle/>
          <a:p>
            <a:pPr indent="0" marL="0">
              <a:buNone/>
            </a:pPr>
            <a:r>
              <a:rPr lang="en-US" sz="1350" i="1" dirty="0">
                <a:solidFill>
                  <a:srgbClr val="1F2A37"/>
                </a:solidFill>
                <a:latin typeface="Calibri" pitchFamily="34" charset="0"/>
                <a:ea typeface="Calibri" pitchFamily="34" charset="-122"/>
                <a:cs typeface="Calibri" pitchFamily="34" charset="-120"/>
              </a:rPr>
              <a:t>"Scanning ID cards would be quicker than typing names."</a:t>
            </a:r>
            <a:r>
              <a:rPr lang="en-US" sz="1350" dirty="0">
                <a:solidFill>
                  <a:srgbClr val="5A6878"/>
                </a:solidFill>
                <a:latin typeface="Calibri" pitchFamily="34" charset="0"/>
                <a:ea typeface="Calibri" pitchFamily="34" charset="-122"/>
                <a:cs typeface="Calibri" pitchFamily="34" charset="-120"/>
              </a:rPr>
              <a:t>  (librarian)</a:t>
            </a:r>
            <a:endParaRPr lang="en-US" sz="1350" dirty="0"/>
          </a:p>
        </p:txBody>
      </p:sp>
      <p:sp>
        <p:nvSpPr>
          <p:cNvPr id="70" name="Text 64"/>
          <p:cNvSpPr txBox="1"/>
          <p:nvPr/>
        </p:nvSpPr>
        <p:spPr>
          <a:xfrm>
            <a:off x="6583680" y="5614416"/>
            <a:ext cx="4922215" cy="256032"/>
          </a:xfrm>
          <a:prstGeom prst="rect">
            <a:avLst/>
          </a:prstGeom>
          <a:noFill/>
          <a:ln/>
        </p:spPr>
        <p:txBody>
          <a:bodyPr wrap="square" lIns="0" tIns="0" rIns="0" bIns="0" rtlCol="0" anchor="t"/>
          <a:lstStyle/>
          <a:p>
            <a:pPr indent="0" marL="0">
              <a:buNone/>
            </a:pPr>
            <a:r>
              <a:rPr lang="en-US" sz="1300" b="1" dirty="0">
                <a:solidFill>
                  <a:srgbClr val="0B7A6E"/>
                </a:solidFill>
                <a:latin typeface="Calibri" pitchFamily="34" charset="0"/>
                <a:ea typeface="Calibri" pitchFamily="34" charset="-122"/>
                <a:cs typeface="Calibri" pitchFamily="34" charset="-120"/>
              </a:rPr>
              <a:t>Change: added card scanning to the borrowing screen</a:t>
            </a:r>
            <a:endParaRPr lang="en-US" sz="1300" dirty="0"/>
          </a:p>
        </p:txBody>
      </p:sp>
      <p:sp>
        <p:nvSpPr>
          <p:cNvPr id="71" name="Text 65"/>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0B7A6E"/>
                </a:solidFill>
                <a:latin typeface="Calibri" pitchFamily="34" charset="0"/>
                <a:ea typeface="Calibri" pitchFamily="34" charset="-122"/>
                <a:cs typeface="Calibri" pitchFamily="34" charset="-120"/>
              </a:rPr>
              <a:t>APPLICATION: SCHOOL LIBRARY SYSTEM</a:t>
            </a:r>
            <a:endParaRPr lang="en-US" sz="1200" dirty="0"/>
          </a:p>
        </p:txBody>
      </p:sp>
      <p:sp>
        <p:nvSpPr>
          <p:cNvPr id="5" name="Text 3"/>
          <p:cNvSpPr txBox="1"/>
          <p:nvPr/>
        </p:nvSpPr>
        <p:spPr>
          <a:xfrm>
            <a:off x="548640" y="731520"/>
            <a:ext cx="7589520" cy="658368"/>
          </a:xfrm>
          <a:prstGeom prst="rect">
            <a:avLst/>
          </a:prstGeom>
          <a:noFill/>
          <a:ln/>
        </p:spPr>
        <p:txBody>
          <a:bodyPr wrap="square" lIns="0" tIns="0" rIns="0" bIns="0" rtlCol="0" anchor="ctr"/>
          <a:lstStyle/>
          <a:p>
            <a:pPr indent="0" marL="0">
              <a:buNone/>
            </a:pPr>
            <a:r>
              <a:rPr lang="en-US" sz="3400" b="1" dirty="0">
                <a:solidFill>
                  <a:srgbClr val="0E1A2B"/>
                </a:solidFill>
                <a:latin typeface="Calibri" pitchFamily="34" charset="0"/>
                <a:ea typeface="Calibri" pitchFamily="34" charset="-122"/>
                <a:cs typeface="Calibri" pitchFamily="34" charset="-120"/>
              </a:rPr>
              <a:t>Library system: Construction and Cutover</a:t>
            </a:r>
            <a:endParaRPr lang="en-US" sz="3400" dirty="0"/>
          </a:p>
        </p:txBody>
      </p:sp>
      <p:sp>
        <p:nvSpPr>
          <p:cNvPr id="6" name="Shape 4"/>
          <p:cNvSpPr/>
          <p:nvPr/>
        </p:nvSpPr>
        <p:spPr>
          <a:xfrm>
            <a:off x="8803843" y="548640"/>
            <a:ext cx="466344" cy="0"/>
          </a:xfrm>
          <a:prstGeom prst="line">
            <a:avLst/>
          </a:prstGeom>
          <a:noFill/>
          <a:ln w="19050">
            <a:solidFill>
              <a:srgbClr val="CBD5E1"/>
            </a:solidFill>
            <a:prstDash val="solid"/>
          </a:ln>
        </p:spPr>
      </p:sp>
      <p:sp>
        <p:nvSpPr>
          <p:cNvPr id="7" name="Shape 5"/>
          <p:cNvSpPr/>
          <p:nvPr/>
        </p:nvSpPr>
        <p:spPr>
          <a:xfrm>
            <a:off x="8447227" y="393192"/>
            <a:ext cx="310896" cy="310896"/>
          </a:xfrm>
          <a:prstGeom prst="ellipse">
            <a:avLst/>
          </a:prstGeom>
          <a:solidFill>
            <a:srgbClr val="FFFFFF"/>
          </a:solidFill>
          <a:ln w="15875">
            <a:solidFill>
              <a:srgbClr val="CBD5E1"/>
            </a:solidFill>
            <a:prstDash val="solid"/>
          </a:ln>
        </p:spPr>
      </p:sp>
      <p:sp>
        <p:nvSpPr>
          <p:cNvPr id="8" name="Text 6"/>
          <p:cNvSpPr txBox="1"/>
          <p:nvPr/>
        </p:nvSpPr>
        <p:spPr>
          <a:xfrm>
            <a:off x="844722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816833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Planning</a:t>
            </a:r>
            <a:endParaRPr lang="en-US" sz="950" dirty="0"/>
          </a:p>
        </p:txBody>
      </p:sp>
      <p:sp>
        <p:nvSpPr>
          <p:cNvPr id="10" name="Shape 8"/>
          <p:cNvSpPr/>
          <p:nvPr/>
        </p:nvSpPr>
        <p:spPr>
          <a:xfrm>
            <a:off x="9672523" y="548640"/>
            <a:ext cx="466344" cy="0"/>
          </a:xfrm>
          <a:prstGeom prst="line">
            <a:avLst/>
          </a:prstGeom>
          <a:noFill/>
          <a:ln w="19050">
            <a:solidFill>
              <a:srgbClr val="CBD5E1"/>
            </a:solidFill>
            <a:prstDash val="solid"/>
          </a:ln>
        </p:spPr>
      </p:sp>
      <p:sp>
        <p:nvSpPr>
          <p:cNvPr id="11" name="Shape 9"/>
          <p:cNvSpPr/>
          <p:nvPr/>
        </p:nvSpPr>
        <p:spPr>
          <a:xfrm>
            <a:off x="9315907" y="393192"/>
            <a:ext cx="310896" cy="310896"/>
          </a:xfrm>
          <a:prstGeom prst="ellipse">
            <a:avLst/>
          </a:prstGeom>
          <a:solidFill>
            <a:srgbClr val="FFFFFF"/>
          </a:solidFill>
          <a:ln w="15875">
            <a:solidFill>
              <a:srgbClr val="CBD5E1"/>
            </a:solidFill>
            <a:prstDash val="solid"/>
          </a:ln>
        </p:spPr>
      </p:sp>
      <p:sp>
        <p:nvSpPr>
          <p:cNvPr id="12" name="Text 10"/>
          <p:cNvSpPr txBox="1"/>
          <p:nvPr/>
        </p:nvSpPr>
        <p:spPr>
          <a:xfrm>
            <a:off x="9315907" y="393192"/>
            <a:ext cx="310896" cy="310896"/>
          </a:xfrm>
          <a:prstGeom prst="rect">
            <a:avLst/>
          </a:prstGeom>
          <a:noFill/>
          <a:ln/>
        </p:spPr>
        <p:txBody>
          <a:bodyPr wrap="square" lIns="0" tIns="0" rIns="0" bIns="0" rtlCol="0" anchor="ctr"/>
          <a:lstStyle/>
          <a:p>
            <a:pPr algn="ctr" indent="0" marL="0">
              <a:buNone/>
            </a:pPr>
            <a:r>
              <a:rPr lang="en-US" sz="1200" b="1" dirty="0">
                <a:solidFill>
                  <a:srgbClr val="94A3B8"/>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9037015" y="758952"/>
            <a:ext cx="868680" cy="201168"/>
          </a:xfrm>
          <a:prstGeom prst="rect">
            <a:avLst/>
          </a:prstGeom>
          <a:noFill/>
          <a:ln/>
        </p:spPr>
        <p:txBody>
          <a:bodyPr wrap="square" lIns="0" tIns="0" rIns="0" bIns="0" rtlCol="0" anchor="t"/>
          <a:lstStyle/>
          <a:p>
            <a:pPr algn="ctr" indent="0" marL="0">
              <a:buNone/>
            </a:pPr>
            <a:r>
              <a:rPr lang="en-US" sz="950" dirty="0">
                <a:solidFill>
                  <a:srgbClr val="5A6878"/>
                </a:solidFill>
                <a:latin typeface="Calibri" pitchFamily="34" charset="0"/>
                <a:ea typeface="Calibri" pitchFamily="34" charset="-122"/>
                <a:cs typeface="Calibri" pitchFamily="34" charset="-120"/>
              </a:rPr>
              <a:t>Design</a:t>
            </a:r>
            <a:endParaRPr lang="en-US" sz="950" dirty="0"/>
          </a:p>
        </p:txBody>
      </p:sp>
      <p:sp>
        <p:nvSpPr>
          <p:cNvPr id="14" name="Shape 12"/>
          <p:cNvSpPr/>
          <p:nvPr/>
        </p:nvSpPr>
        <p:spPr>
          <a:xfrm>
            <a:off x="10541203" y="548640"/>
            <a:ext cx="466344" cy="0"/>
          </a:xfrm>
          <a:prstGeom prst="line">
            <a:avLst/>
          </a:prstGeom>
          <a:noFill/>
          <a:ln w="19050">
            <a:solidFill>
              <a:srgbClr val="CBD5E1"/>
            </a:solidFill>
            <a:prstDash val="solid"/>
          </a:ln>
        </p:spPr>
      </p:sp>
      <p:sp>
        <p:nvSpPr>
          <p:cNvPr id="15" name="Shape 13"/>
          <p:cNvSpPr/>
          <p:nvPr/>
        </p:nvSpPr>
        <p:spPr>
          <a:xfrm>
            <a:off x="10184587" y="393192"/>
            <a:ext cx="310896" cy="310896"/>
          </a:xfrm>
          <a:prstGeom prst="ellipse">
            <a:avLst/>
          </a:prstGeom>
          <a:solidFill>
            <a:srgbClr val="0E9F8E"/>
          </a:solidFill>
          <a:ln w="15875">
            <a:solidFill>
              <a:srgbClr val="0E9F8E"/>
            </a:solidFill>
            <a:prstDash val="solid"/>
          </a:ln>
        </p:spPr>
      </p:sp>
      <p:sp>
        <p:nvSpPr>
          <p:cNvPr id="16" name="Text 14"/>
          <p:cNvSpPr txBox="1"/>
          <p:nvPr/>
        </p:nvSpPr>
        <p:spPr>
          <a:xfrm>
            <a:off x="1018458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990569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Construction</a:t>
            </a:r>
            <a:endParaRPr lang="en-US" sz="950" dirty="0"/>
          </a:p>
        </p:txBody>
      </p:sp>
      <p:sp>
        <p:nvSpPr>
          <p:cNvPr id="18" name="Shape 16"/>
          <p:cNvSpPr/>
          <p:nvPr/>
        </p:nvSpPr>
        <p:spPr>
          <a:xfrm>
            <a:off x="11053267" y="393192"/>
            <a:ext cx="310896" cy="310896"/>
          </a:xfrm>
          <a:prstGeom prst="ellipse">
            <a:avLst/>
          </a:prstGeom>
          <a:solidFill>
            <a:srgbClr val="0E9F8E"/>
          </a:solidFill>
          <a:ln w="15875">
            <a:solidFill>
              <a:srgbClr val="0E9F8E"/>
            </a:solidFill>
            <a:prstDash val="solid"/>
          </a:ln>
        </p:spPr>
      </p:sp>
      <p:sp>
        <p:nvSpPr>
          <p:cNvPr id="19" name="Text 17"/>
          <p:cNvSpPr txBox="1"/>
          <p:nvPr/>
        </p:nvSpPr>
        <p:spPr>
          <a:xfrm>
            <a:off x="11053267" y="393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10774375" y="758952"/>
            <a:ext cx="868680" cy="201168"/>
          </a:xfrm>
          <a:prstGeom prst="rect">
            <a:avLst/>
          </a:prstGeom>
          <a:noFill/>
          <a:ln/>
        </p:spPr>
        <p:txBody>
          <a:bodyPr wrap="square" lIns="0" tIns="0" rIns="0" bIns="0" rtlCol="0" anchor="t"/>
          <a:lstStyle/>
          <a:p>
            <a:pPr algn="ctr" indent="0" marL="0">
              <a:buNone/>
            </a:pPr>
            <a:r>
              <a:rPr lang="en-US" sz="950" b="1" dirty="0">
                <a:solidFill>
                  <a:srgbClr val="0B7A6E"/>
                </a:solidFill>
                <a:latin typeface="Calibri" pitchFamily="34" charset="0"/>
                <a:ea typeface="Calibri" pitchFamily="34" charset="-122"/>
                <a:cs typeface="Calibri" pitchFamily="34" charset="-120"/>
              </a:rPr>
              <a:t>Cutover</a:t>
            </a:r>
            <a:endParaRPr lang="en-US" sz="950" dirty="0"/>
          </a:p>
        </p:txBody>
      </p:sp>
      <p:sp>
        <p:nvSpPr>
          <p:cNvPr id="21" name="Shape 19"/>
          <p:cNvSpPr/>
          <p:nvPr/>
        </p:nvSpPr>
        <p:spPr>
          <a:xfrm>
            <a:off x="548640" y="1645920"/>
            <a:ext cx="5410048" cy="4343400"/>
          </a:xfrm>
          <a:prstGeom prst="roundRect">
            <a:avLst>
              <a:gd name="adj" fmla="val 2526"/>
            </a:avLst>
          </a:prstGeom>
          <a:solidFill>
            <a:srgbClr val="F2F6F8"/>
          </a:solidFill>
          <a:ln/>
        </p:spPr>
      </p:sp>
      <p:sp>
        <p:nvSpPr>
          <p:cNvPr id="22" name="Shape 20"/>
          <p:cNvSpPr/>
          <p:nvPr/>
        </p:nvSpPr>
        <p:spPr>
          <a:xfrm>
            <a:off x="804672" y="1874520"/>
            <a:ext cx="457200" cy="457200"/>
          </a:xfrm>
          <a:prstGeom prst="ellipse">
            <a:avLst/>
          </a:prstGeom>
          <a:solidFill>
            <a:srgbClr val="0E9F8E"/>
          </a:solidFill>
          <a:ln/>
        </p:spPr>
      </p:sp>
      <p:sp>
        <p:nvSpPr>
          <p:cNvPr id="23" name="Text 21"/>
          <p:cNvSpPr txBox="1"/>
          <p:nvPr/>
        </p:nvSpPr>
        <p:spPr>
          <a:xfrm>
            <a:off x="804672"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txBox="1"/>
          <p:nvPr/>
        </p:nvSpPr>
        <p:spPr>
          <a:xfrm>
            <a:off x="1417320" y="1874520"/>
            <a:ext cx="3657600" cy="45720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Construction</a:t>
            </a:r>
            <a:endParaRPr lang="en-US" sz="2000" dirty="0"/>
          </a:p>
        </p:txBody>
      </p:sp>
      <p:sp>
        <p:nvSpPr>
          <p:cNvPr id="25" name="Shape 23"/>
          <p:cNvSpPr/>
          <p:nvPr/>
        </p:nvSpPr>
        <p:spPr>
          <a:xfrm>
            <a:off x="804672" y="2514600"/>
            <a:ext cx="1417320" cy="1097280"/>
          </a:xfrm>
          <a:prstGeom prst="roundRect">
            <a:avLst>
              <a:gd name="adj" fmla="val 5000"/>
            </a:avLst>
          </a:prstGeom>
          <a:solidFill>
            <a:srgbClr val="FFFFFF"/>
          </a:solidFill>
          <a:ln w="12700">
            <a:solidFill>
              <a:srgbClr val="CBD5E1"/>
            </a:solidFill>
            <a:prstDash val="solid"/>
          </a:ln>
        </p:spPr>
      </p:sp>
      <p:sp>
        <p:nvSpPr>
          <p:cNvPr id="26" name="Shape 24"/>
          <p:cNvSpPr/>
          <p:nvPr/>
        </p:nvSpPr>
        <p:spPr>
          <a:xfrm>
            <a:off x="804672" y="2514600"/>
            <a:ext cx="1417320" cy="310896"/>
          </a:xfrm>
          <a:prstGeom prst="rect">
            <a:avLst/>
          </a:prstGeom>
          <a:solidFill>
            <a:srgbClr val="0E9F8E"/>
          </a:solidFill>
          <a:ln/>
        </p:spPr>
      </p:sp>
      <p:sp>
        <p:nvSpPr>
          <p:cNvPr id="27" name="Text 25"/>
          <p:cNvSpPr txBox="1"/>
          <p:nvPr/>
        </p:nvSpPr>
        <p:spPr>
          <a:xfrm>
            <a:off x="804672" y="2514600"/>
            <a:ext cx="14173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Books</a:t>
            </a:r>
            <a:endParaRPr lang="en-US" sz="1250" dirty="0"/>
          </a:p>
        </p:txBody>
      </p:sp>
      <p:sp>
        <p:nvSpPr>
          <p:cNvPr id="28" name="Text 26"/>
          <p:cNvSpPr txBox="1"/>
          <p:nvPr/>
        </p:nvSpPr>
        <p:spPr>
          <a:xfrm>
            <a:off x="914400" y="2898648"/>
            <a:ext cx="1234440" cy="658368"/>
          </a:xfrm>
          <a:prstGeom prst="rect">
            <a:avLst/>
          </a:prstGeom>
          <a:noFill/>
          <a:ln/>
        </p:spPr>
        <p:txBody>
          <a:bodyPr wrap="square" lIns="0" tIns="0" rIns="0" bIns="0" rtlCol="0" anchor="t"/>
          <a:lstStyle/>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BookID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Title</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Author</a:t>
            </a:r>
            <a:endParaRPr lang="en-US" sz="1100" dirty="0"/>
          </a:p>
        </p:txBody>
      </p:sp>
      <p:sp>
        <p:nvSpPr>
          <p:cNvPr id="29" name="Shape 27"/>
          <p:cNvSpPr/>
          <p:nvPr/>
        </p:nvSpPr>
        <p:spPr>
          <a:xfrm>
            <a:off x="2221992" y="3218688"/>
            <a:ext cx="320040" cy="0"/>
          </a:xfrm>
          <a:prstGeom prst="line">
            <a:avLst/>
          </a:prstGeom>
          <a:noFill/>
          <a:ln w="19050">
            <a:solidFill>
              <a:srgbClr val="0B7A6E"/>
            </a:solidFill>
            <a:prstDash val="solid"/>
          </a:ln>
        </p:spPr>
      </p:sp>
      <p:sp>
        <p:nvSpPr>
          <p:cNvPr id="30" name="Shape 28"/>
          <p:cNvSpPr/>
          <p:nvPr/>
        </p:nvSpPr>
        <p:spPr>
          <a:xfrm>
            <a:off x="2542032" y="2514600"/>
            <a:ext cx="1417320" cy="1097280"/>
          </a:xfrm>
          <a:prstGeom prst="roundRect">
            <a:avLst>
              <a:gd name="adj" fmla="val 5000"/>
            </a:avLst>
          </a:prstGeom>
          <a:solidFill>
            <a:srgbClr val="FFFFFF"/>
          </a:solidFill>
          <a:ln w="12700">
            <a:solidFill>
              <a:srgbClr val="CBD5E1"/>
            </a:solidFill>
            <a:prstDash val="solid"/>
          </a:ln>
        </p:spPr>
      </p:sp>
      <p:sp>
        <p:nvSpPr>
          <p:cNvPr id="31" name="Shape 29"/>
          <p:cNvSpPr/>
          <p:nvPr/>
        </p:nvSpPr>
        <p:spPr>
          <a:xfrm>
            <a:off x="2542032" y="2514600"/>
            <a:ext cx="1417320" cy="310896"/>
          </a:xfrm>
          <a:prstGeom prst="rect">
            <a:avLst/>
          </a:prstGeom>
          <a:solidFill>
            <a:srgbClr val="0E9F8E"/>
          </a:solidFill>
          <a:ln/>
        </p:spPr>
      </p:sp>
      <p:sp>
        <p:nvSpPr>
          <p:cNvPr id="32" name="Text 30"/>
          <p:cNvSpPr txBox="1"/>
          <p:nvPr/>
        </p:nvSpPr>
        <p:spPr>
          <a:xfrm>
            <a:off x="2542032" y="2514600"/>
            <a:ext cx="14173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Loans</a:t>
            </a:r>
            <a:endParaRPr lang="en-US" sz="1250" dirty="0"/>
          </a:p>
        </p:txBody>
      </p:sp>
      <p:sp>
        <p:nvSpPr>
          <p:cNvPr id="33" name="Text 31"/>
          <p:cNvSpPr txBox="1"/>
          <p:nvPr/>
        </p:nvSpPr>
        <p:spPr>
          <a:xfrm>
            <a:off x="2651760" y="2898648"/>
            <a:ext cx="1234440" cy="658368"/>
          </a:xfrm>
          <a:prstGeom prst="rect">
            <a:avLst/>
          </a:prstGeom>
          <a:noFill/>
          <a:ln/>
        </p:spPr>
        <p:txBody>
          <a:bodyPr wrap="square" lIns="0" tIns="0" rIns="0" bIns="0" rtlCol="0" anchor="t"/>
          <a:lstStyle/>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LoanID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BookID · StudentID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Due date</a:t>
            </a:r>
            <a:endParaRPr lang="en-US" sz="1100" dirty="0"/>
          </a:p>
        </p:txBody>
      </p:sp>
      <p:sp>
        <p:nvSpPr>
          <p:cNvPr id="34" name="Shape 32"/>
          <p:cNvSpPr/>
          <p:nvPr/>
        </p:nvSpPr>
        <p:spPr>
          <a:xfrm>
            <a:off x="3959352" y="3218688"/>
            <a:ext cx="320040" cy="0"/>
          </a:xfrm>
          <a:prstGeom prst="line">
            <a:avLst/>
          </a:prstGeom>
          <a:noFill/>
          <a:ln w="19050">
            <a:solidFill>
              <a:srgbClr val="0B7A6E"/>
            </a:solidFill>
            <a:prstDash val="solid"/>
          </a:ln>
        </p:spPr>
      </p:sp>
      <p:sp>
        <p:nvSpPr>
          <p:cNvPr id="35" name="Shape 33"/>
          <p:cNvSpPr/>
          <p:nvPr/>
        </p:nvSpPr>
        <p:spPr>
          <a:xfrm>
            <a:off x="4279392" y="2514600"/>
            <a:ext cx="1417320" cy="1097280"/>
          </a:xfrm>
          <a:prstGeom prst="roundRect">
            <a:avLst>
              <a:gd name="adj" fmla="val 5000"/>
            </a:avLst>
          </a:prstGeom>
          <a:solidFill>
            <a:srgbClr val="FFFFFF"/>
          </a:solidFill>
          <a:ln w="12700">
            <a:solidFill>
              <a:srgbClr val="CBD5E1"/>
            </a:solidFill>
            <a:prstDash val="solid"/>
          </a:ln>
        </p:spPr>
      </p:sp>
      <p:sp>
        <p:nvSpPr>
          <p:cNvPr id="36" name="Shape 34"/>
          <p:cNvSpPr/>
          <p:nvPr/>
        </p:nvSpPr>
        <p:spPr>
          <a:xfrm>
            <a:off x="4279392" y="2514600"/>
            <a:ext cx="1417320" cy="310896"/>
          </a:xfrm>
          <a:prstGeom prst="rect">
            <a:avLst/>
          </a:prstGeom>
          <a:solidFill>
            <a:srgbClr val="0E9F8E"/>
          </a:solidFill>
          <a:ln/>
        </p:spPr>
      </p:sp>
      <p:sp>
        <p:nvSpPr>
          <p:cNvPr id="37" name="Text 35"/>
          <p:cNvSpPr txBox="1"/>
          <p:nvPr/>
        </p:nvSpPr>
        <p:spPr>
          <a:xfrm>
            <a:off x="4279392" y="2514600"/>
            <a:ext cx="141732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Students</a:t>
            </a:r>
            <a:endParaRPr lang="en-US" sz="1250" dirty="0"/>
          </a:p>
        </p:txBody>
      </p:sp>
      <p:sp>
        <p:nvSpPr>
          <p:cNvPr id="38" name="Text 36"/>
          <p:cNvSpPr txBox="1"/>
          <p:nvPr/>
        </p:nvSpPr>
        <p:spPr>
          <a:xfrm>
            <a:off x="4389120" y="2898648"/>
            <a:ext cx="1234440" cy="658368"/>
          </a:xfrm>
          <a:prstGeom prst="rect">
            <a:avLst/>
          </a:prstGeom>
          <a:noFill/>
          <a:ln/>
        </p:spPr>
        <p:txBody>
          <a:bodyPr wrap="square" lIns="0" tIns="0" rIns="0" bIns="0" rtlCol="0" anchor="t"/>
          <a:lstStyle/>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StudentID</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Name</a:t>
            </a:r>
            <a:endParaRPr lang="en-US" sz="1100" dirty="0"/>
          </a:p>
          <a:p>
            <a:pPr indent="0" marL="0">
              <a:lnSpc>
                <a:spcPct val="105000"/>
              </a:lnSpc>
              <a:buNone/>
            </a:pPr>
            <a:r>
              <a:rPr lang="en-US" sz="1100" dirty="0">
                <a:solidFill>
                  <a:srgbClr val="1F2A37"/>
                </a:solidFill>
                <a:latin typeface="Calibri" pitchFamily="34" charset="0"/>
                <a:ea typeface="Calibri" pitchFamily="34" charset="-122"/>
                <a:cs typeface="Calibri" pitchFamily="34" charset="-120"/>
              </a:rPr>
              <a:t>Tutor group</a:t>
            </a:r>
            <a:endParaRPr lang="en-US" sz="1100" dirty="0"/>
          </a:p>
        </p:txBody>
      </p:sp>
      <p:sp>
        <p:nvSpPr>
          <p:cNvPr id="39" name="Text 37"/>
          <p:cNvSpPr txBox="1"/>
          <p:nvPr/>
        </p:nvSpPr>
        <p:spPr>
          <a:xfrm>
            <a:off x="804672" y="3675888"/>
            <a:ext cx="4897984" cy="228600"/>
          </a:xfrm>
          <a:prstGeom prst="rect">
            <a:avLst/>
          </a:prstGeom>
          <a:noFill/>
          <a:ln/>
        </p:spPr>
        <p:txBody>
          <a:bodyPr wrap="square" lIns="0" tIns="0" rIns="0" bIns="0" rtlCol="0" anchor="t"/>
          <a:lstStyle/>
          <a:p>
            <a:pPr algn="ctr" indent="0" marL="0">
              <a:buNone/>
            </a:pPr>
            <a:r>
              <a:rPr lang="en-US" sz="1100" i="1" dirty="0">
                <a:solidFill>
                  <a:srgbClr val="5A6878"/>
                </a:solidFill>
                <a:latin typeface="Calibri" pitchFamily="34" charset="0"/>
                <a:ea typeface="Calibri" pitchFamily="34" charset="-122"/>
                <a:cs typeface="Calibri" pitchFamily="34" charset="-120"/>
              </a:rPr>
              <a:t>The database: three linked tables</a:t>
            </a:r>
            <a:endParaRPr lang="en-US" sz="1100" dirty="0"/>
          </a:p>
        </p:txBody>
      </p:sp>
      <p:sp>
        <p:nvSpPr>
          <p:cNvPr id="40" name="Text 38"/>
          <p:cNvSpPr txBox="1"/>
          <p:nvPr/>
        </p:nvSpPr>
        <p:spPr>
          <a:xfrm>
            <a:off x="786384" y="4041648"/>
            <a:ext cx="4952848"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Build the database, with tables for books, students and loans</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Build the search system (by title, author or subject)</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Build the borrowing features: issuing, returns, due dates and the overdue list</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Test each part with the librarians as soon as it's finished</a:t>
            </a:r>
            <a:endParaRPr lang="en-US" sz="1500" dirty="0"/>
          </a:p>
        </p:txBody>
      </p:sp>
      <p:sp>
        <p:nvSpPr>
          <p:cNvPr id="41" name="Shape 39"/>
          <p:cNvSpPr/>
          <p:nvPr/>
        </p:nvSpPr>
        <p:spPr>
          <a:xfrm>
            <a:off x="6233008" y="1645920"/>
            <a:ext cx="5410048" cy="4343400"/>
          </a:xfrm>
          <a:prstGeom prst="roundRect">
            <a:avLst>
              <a:gd name="adj" fmla="val 2526"/>
            </a:avLst>
          </a:prstGeom>
          <a:solidFill>
            <a:srgbClr val="F2F6F8"/>
          </a:solidFill>
          <a:ln/>
        </p:spPr>
      </p:sp>
      <p:sp>
        <p:nvSpPr>
          <p:cNvPr id="42" name="Shape 40"/>
          <p:cNvSpPr/>
          <p:nvPr/>
        </p:nvSpPr>
        <p:spPr>
          <a:xfrm>
            <a:off x="6489040" y="1874520"/>
            <a:ext cx="457200" cy="457200"/>
          </a:xfrm>
          <a:prstGeom prst="ellipse">
            <a:avLst/>
          </a:prstGeom>
          <a:solidFill>
            <a:srgbClr val="0E9F8E"/>
          </a:solidFill>
          <a:ln/>
        </p:spPr>
      </p:sp>
      <p:sp>
        <p:nvSpPr>
          <p:cNvPr id="43" name="Text 41"/>
          <p:cNvSpPr txBox="1"/>
          <p:nvPr/>
        </p:nvSpPr>
        <p:spPr>
          <a:xfrm>
            <a:off x="648904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4" name="Text 42"/>
          <p:cNvSpPr txBox="1"/>
          <p:nvPr/>
        </p:nvSpPr>
        <p:spPr>
          <a:xfrm>
            <a:off x="7101688" y="1874520"/>
            <a:ext cx="3657600" cy="45720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Cutover</a:t>
            </a:r>
            <a:endParaRPr lang="en-US" sz="2000" dirty="0"/>
          </a:p>
        </p:txBody>
      </p:sp>
      <p:sp>
        <p:nvSpPr>
          <p:cNvPr id="45" name="Shape 43"/>
          <p:cNvSpPr/>
          <p:nvPr/>
        </p:nvSpPr>
        <p:spPr>
          <a:xfrm>
            <a:off x="6850228" y="2606040"/>
            <a:ext cx="685800" cy="685800"/>
          </a:xfrm>
          <a:prstGeom prst="ellipse">
            <a:avLst/>
          </a:prstGeom>
          <a:solidFill>
            <a:srgbClr val="0E9F8E"/>
          </a:solidFill>
          <a:ln/>
        </p:spPr>
      </p:sp>
      <p:pic>
        <p:nvPicPr>
          <p:cNvPr id="46" name="Image 0" descr="database icon">    </p:cNvPr>
          <p:cNvPicPr>
            <a:picLocks noChangeAspect="1"/>
          </p:cNvPicPr>
          <p:nvPr/>
        </p:nvPicPr>
        <p:blipFill>
          <a:blip r:embed="rId1"/>
          <a:stretch>
            <a:fillRect/>
          </a:stretch>
        </p:blipFill>
        <p:spPr>
          <a:xfrm>
            <a:off x="7007962" y="2763774"/>
            <a:ext cx="370332" cy="370332"/>
          </a:xfrm>
          <a:prstGeom prst="rect">
            <a:avLst/>
          </a:prstGeom>
        </p:spPr>
      </p:pic>
      <p:sp>
        <p:nvSpPr>
          <p:cNvPr id="47" name="Text 44"/>
          <p:cNvSpPr txBox="1"/>
          <p:nvPr/>
        </p:nvSpPr>
        <p:spPr>
          <a:xfrm>
            <a:off x="6370168" y="3383280"/>
            <a:ext cx="1645920" cy="274320"/>
          </a:xfrm>
          <a:prstGeom prst="rect">
            <a:avLst/>
          </a:prstGeom>
          <a:noFill/>
          <a:ln/>
        </p:spPr>
        <p:txBody>
          <a:bodyPr wrap="square" lIns="0" tIns="0" rIns="0" bIns="0" rtlCol="0" anchor="t"/>
          <a:lstStyle/>
          <a:p>
            <a:pPr algn="ctr" indent="0" marL="0">
              <a:buNone/>
            </a:pPr>
            <a:r>
              <a:rPr lang="en-US" sz="1300" b="1" dirty="0">
                <a:solidFill>
                  <a:srgbClr val="0E1A2B"/>
                </a:solidFill>
                <a:latin typeface="Calibri" pitchFamily="34" charset="0"/>
                <a:ea typeface="Calibri" pitchFamily="34" charset="-122"/>
                <a:cs typeface="Calibri" pitchFamily="34" charset="-120"/>
              </a:rPr>
              <a:t>Transfer data</a:t>
            </a:r>
            <a:endParaRPr lang="en-US" sz="1300" dirty="0"/>
          </a:p>
        </p:txBody>
      </p:sp>
      <p:sp>
        <p:nvSpPr>
          <p:cNvPr id="48" name="Shape 45"/>
          <p:cNvSpPr/>
          <p:nvPr/>
        </p:nvSpPr>
        <p:spPr>
          <a:xfrm>
            <a:off x="7645756" y="2948940"/>
            <a:ext cx="839648" cy="0"/>
          </a:xfrm>
          <a:prstGeom prst="line">
            <a:avLst/>
          </a:prstGeom>
          <a:noFill/>
          <a:ln w="22225">
            <a:solidFill>
              <a:srgbClr val="94A3B8"/>
            </a:solidFill>
            <a:prstDash val="solid"/>
            <a:tailEnd type="triangle"/>
          </a:ln>
        </p:spPr>
      </p:sp>
      <p:sp>
        <p:nvSpPr>
          <p:cNvPr id="49" name="Shape 46"/>
          <p:cNvSpPr/>
          <p:nvPr/>
        </p:nvSpPr>
        <p:spPr>
          <a:xfrm>
            <a:off x="8595131" y="2606040"/>
            <a:ext cx="685800" cy="685800"/>
          </a:xfrm>
          <a:prstGeom prst="ellipse">
            <a:avLst/>
          </a:prstGeom>
          <a:solidFill>
            <a:srgbClr val="0E9F8E"/>
          </a:solidFill>
          <a:ln/>
        </p:spPr>
      </p:sp>
      <p:pic>
        <p:nvPicPr>
          <p:cNvPr id="50" name="Image 1" descr="presentation icon">    </p:cNvPr>
          <p:cNvPicPr>
            <a:picLocks noChangeAspect="1"/>
          </p:cNvPicPr>
          <p:nvPr/>
        </p:nvPicPr>
        <p:blipFill>
          <a:blip r:embed="rId2"/>
          <a:stretch>
            <a:fillRect/>
          </a:stretch>
        </p:blipFill>
        <p:spPr>
          <a:xfrm>
            <a:off x="8752865" y="2763774"/>
            <a:ext cx="370332" cy="370332"/>
          </a:xfrm>
          <a:prstGeom prst="rect">
            <a:avLst/>
          </a:prstGeom>
        </p:spPr>
      </p:pic>
      <p:sp>
        <p:nvSpPr>
          <p:cNvPr id="51" name="Text 47"/>
          <p:cNvSpPr txBox="1"/>
          <p:nvPr/>
        </p:nvSpPr>
        <p:spPr>
          <a:xfrm>
            <a:off x="8115071" y="3383280"/>
            <a:ext cx="1645920" cy="274320"/>
          </a:xfrm>
          <a:prstGeom prst="rect">
            <a:avLst/>
          </a:prstGeom>
          <a:noFill/>
          <a:ln/>
        </p:spPr>
        <p:txBody>
          <a:bodyPr wrap="square" lIns="0" tIns="0" rIns="0" bIns="0" rtlCol="0" anchor="t"/>
          <a:lstStyle/>
          <a:p>
            <a:pPr algn="ctr" indent="0" marL="0">
              <a:buNone/>
            </a:pPr>
            <a:r>
              <a:rPr lang="en-US" sz="1300" b="1" dirty="0">
                <a:solidFill>
                  <a:srgbClr val="0E1A2B"/>
                </a:solidFill>
                <a:latin typeface="Calibri" pitchFamily="34" charset="0"/>
                <a:ea typeface="Calibri" pitchFamily="34" charset="-122"/>
                <a:cs typeface="Calibri" pitchFamily="34" charset="-120"/>
              </a:rPr>
              <a:t>Train staff</a:t>
            </a:r>
            <a:endParaRPr lang="en-US" sz="1300" dirty="0"/>
          </a:p>
        </p:txBody>
      </p:sp>
      <p:sp>
        <p:nvSpPr>
          <p:cNvPr id="52" name="Shape 48"/>
          <p:cNvSpPr/>
          <p:nvPr/>
        </p:nvSpPr>
        <p:spPr>
          <a:xfrm>
            <a:off x="9390659" y="2948940"/>
            <a:ext cx="839648" cy="0"/>
          </a:xfrm>
          <a:prstGeom prst="line">
            <a:avLst/>
          </a:prstGeom>
          <a:noFill/>
          <a:ln w="22225">
            <a:solidFill>
              <a:srgbClr val="94A3B8"/>
            </a:solidFill>
            <a:prstDash val="solid"/>
            <a:tailEnd type="triangle"/>
          </a:ln>
        </p:spPr>
      </p:sp>
      <p:sp>
        <p:nvSpPr>
          <p:cNvPr id="53" name="Shape 49"/>
          <p:cNvSpPr/>
          <p:nvPr/>
        </p:nvSpPr>
        <p:spPr>
          <a:xfrm>
            <a:off x="10340035" y="2606040"/>
            <a:ext cx="685800" cy="685800"/>
          </a:xfrm>
          <a:prstGeom prst="ellipse">
            <a:avLst/>
          </a:prstGeom>
          <a:solidFill>
            <a:srgbClr val="F5A623"/>
          </a:solidFill>
          <a:ln/>
        </p:spPr>
      </p:sp>
      <p:pic>
        <p:nvPicPr>
          <p:cNvPr id="54" name="Image 2" descr="rocket icon">    </p:cNvPr>
          <p:cNvPicPr>
            <a:picLocks noChangeAspect="1"/>
          </p:cNvPicPr>
          <p:nvPr/>
        </p:nvPicPr>
        <p:blipFill>
          <a:blip r:embed="rId3"/>
          <a:stretch>
            <a:fillRect/>
          </a:stretch>
        </p:blipFill>
        <p:spPr>
          <a:xfrm>
            <a:off x="10497769" y="2763774"/>
            <a:ext cx="370332" cy="370332"/>
          </a:xfrm>
          <a:prstGeom prst="rect">
            <a:avLst/>
          </a:prstGeom>
        </p:spPr>
      </p:pic>
      <p:sp>
        <p:nvSpPr>
          <p:cNvPr id="55" name="Text 50"/>
          <p:cNvSpPr txBox="1"/>
          <p:nvPr/>
        </p:nvSpPr>
        <p:spPr>
          <a:xfrm>
            <a:off x="9859975" y="3383280"/>
            <a:ext cx="1645920" cy="274320"/>
          </a:xfrm>
          <a:prstGeom prst="rect">
            <a:avLst/>
          </a:prstGeom>
          <a:noFill/>
          <a:ln/>
        </p:spPr>
        <p:txBody>
          <a:bodyPr wrap="square" lIns="0" tIns="0" rIns="0" bIns="0" rtlCol="0" anchor="t"/>
          <a:lstStyle/>
          <a:p>
            <a:pPr algn="ctr" indent="0" marL="0">
              <a:buNone/>
            </a:pPr>
            <a:r>
              <a:rPr lang="en-US" sz="1300" b="1" dirty="0">
                <a:solidFill>
                  <a:srgbClr val="0E1A2B"/>
                </a:solidFill>
                <a:latin typeface="Calibri" pitchFamily="34" charset="0"/>
                <a:ea typeface="Calibri" pitchFamily="34" charset="-122"/>
                <a:cs typeface="Calibri" pitchFamily="34" charset="-120"/>
              </a:rPr>
              <a:t>Launch</a:t>
            </a:r>
            <a:endParaRPr lang="en-US" sz="1300" dirty="0"/>
          </a:p>
        </p:txBody>
      </p:sp>
      <p:sp>
        <p:nvSpPr>
          <p:cNvPr id="56" name="Text 51"/>
          <p:cNvSpPr txBox="1"/>
          <p:nvPr/>
        </p:nvSpPr>
        <p:spPr>
          <a:xfrm>
            <a:off x="6470752" y="4041648"/>
            <a:ext cx="4952848" cy="18288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Transfer the existing book records and student details into the new database</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Train the librarians, and show students how to search</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Launch the system, for example at the start of a new term</a:t>
            </a:r>
            <a:endParaRPr lang="en-US" sz="1500" dirty="0"/>
          </a:p>
          <a:p>
            <a:pPr marL="177800" indent="-177800">
              <a:spcAft>
                <a:spcPts val="800"/>
              </a:spcAft>
              <a:buSzPct val="100000"/>
              <a:buChar char="•"/>
            </a:pPr>
            <a:r>
              <a:rPr lang="en-US" sz="1500" dirty="0">
                <a:solidFill>
                  <a:srgbClr val="1F2A37"/>
                </a:solidFill>
                <a:latin typeface="Calibri" pitchFamily="34" charset="0"/>
                <a:ea typeface="Calibri" pitchFamily="34" charset="-122"/>
                <a:cs typeface="Calibri" pitchFamily="34" charset="-120"/>
              </a:rPr>
              <a:t>Keep the old records for a few weeks, just in case</a:t>
            </a:r>
            <a:endParaRPr lang="en-US" sz="1500" dirty="0"/>
          </a:p>
        </p:txBody>
      </p:sp>
      <p:sp>
        <p:nvSpPr>
          <p:cNvPr id="57" name="Text 52"/>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5A687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384048"/>
            <a:ext cx="329184" cy="274320"/>
          </a:xfrm>
          <a:prstGeom prst="roundRect">
            <a:avLst>
              <a:gd name="adj" fmla="val 20000"/>
            </a:avLst>
          </a:prstGeom>
          <a:solidFill>
            <a:srgbClr val="0E9F8E"/>
          </a:solidFill>
          <a:ln/>
        </p:spPr>
      </p:sp>
      <p:sp>
        <p:nvSpPr>
          <p:cNvPr id="3" name="Text 1"/>
          <p:cNvSpPr txBox="1"/>
          <p:nvPr/>
        </p:nvSpPr>
        <p:spPr>
          <a:xfrm>
            <a:off x="548640" y="384048"/>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 name="Text 2"/>
          <p:cNvSpPr txBox="1"/>
          <p:nvPr/>
        </p:nvSpPr>
        <p:spPr>
          <a:xfrm>
            <a:off x="1005840" y="384048"/>
            <a:ext cx="6400800" cy="274320"/>
          </a:xfrm>
          <a:prstGeom prst="rect">
            <a:avLst/>
          </a:prstGeom>
          <a:noFill/>
          <a:ln/>
        </p:spPr>
        <p:txBody>
          <a:bodyPr wrap="square" lIns="0" tIns="0" rIns="0" bIns="0" rtlCol="0" anchor="ctr"/>
          <a:lstStyle/>
          <a:p>
            <a:pPr indent="0" marL="0">
              <a:buNone/>
            </a:pPr>
            <a:r>
              <a:rPr lang="en-US" sz="1200" b="1" spc="150" kern="0" dirty="0">
                <a:solidFill>
                  <a:srgbClr val="7FD8CC"/>
                </a:solidFill>
                <a:latin typeface="Calibri" pitchFamily="34" charset="0"/>
                <a:ea typeface="Calibri" pitchFamily="34" charset="-122"/>
                <a:cs typeface="Calibri" pitchFamily="34" charset="-120"/>
              </a:rPr>
              <a:t>CONCLUSION</a:t>
            </a:r>
            <a:endParaRPr lang="en-US" sz="1200" dirty="0"/>
          </a:p>
        </p:txBody>
      </p:sp>
      <p:sp>
        <p:nvSpPr>
          <p:cNvPr id="5" name="Text 3"/>
          <p:cNvSpPr txBox="1"/>
          <p:nvPr/>
        </p:nvSpPr>
        <p:spPr>
          <a:xfrm>
            <a:off x="548640" y="731520"/>
            <a:ext cx="11094415"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To sum up</a:t>
            </a:r>
            <a:endParaRPr lang="en-US" sz="3400" dirty="0"/>
          </a:p>
        </p:txBody>
      </p:sp>
      <p:sp>
        <p:nvSpPr>
          <p:cNvPr id="6" name="Shape 4"/>
          <p:cNvSpPr/>
          <p:nvPr/>
        </p:nvSpPr>
        <p:spPr>
          <a:xfrm>
            <a:off x="548640" y="1645920"/>
            <a:ext cx="3515258" cy="3154680"/>
          </a:xfrm>
          <a:prstGeom prst="roundRect">
            <a:avLst>
              <a:gd name="adj" fmla="val 3478"/>
            </a:avLst>
          </a:prstGeom>
          <a:solidFill>
            <a:srgbClr val="1A2D45"/>
          </a:solidFill>
          <a:ln/>
        </p:spPr>
      </p:sp>
      <p:sp>
        <p:nvSpPr>
          <p:cNvPr id="7" name="Shape 5"/>
          <p:cNvSpPr/>
          <p:nvPr/>
        </p:nvSpPr>
        <p:spPr>
          <a:xfrm>
            <a:off x="777240" y="1874520"/>
            <a:ext cx="502920" cy="502920"/>
          </a:xfrm>
          <a:prstGeom prst="ellipse">
            <a:avLst/>
          </a:prstGeom>
          <a:solidFill>
            <a:srgbClr val="0E9F8E"/>
          </a:solidFill>
          <a:ln/>
        </p:spPr>
      </p:sp>
      <p:pic>
        <p:nvPicPr>
          <p:cNvPr id="8" name="Image 0" descr="lightbulb icon">    </p:cNvPr>
          <p:cNvPicPr>
            <a:picLocks noChangeAspect="1"/>
          </p:cNvPicPr>
          <p:nvPr/>
        </p:nvPicPr>
        <p:blipFill>
          <a:blip r:embed="rId2"/>
          <a:stretch>
            <a:fillRect/>
          </a:stretch>
        </p:blipFill>
        <p:spPr>
          <a:xfrm>
            <a:off x="892912" y="1990192"/>
            <a:ext cx="271577" cy="271577"/>
          </a:xfrm>
          <a:prstGeom prst="rect">
            <a:avLst/>
          </a:prstGeom>
        </p:spPr>
      </p:pic>
      <p:sp>
        <p:nvSpPr>
          <p:cNvPr id="9" name="Text 6"/>
          <p:cNvSpPr txBox="1"/>
          <p:nvPr/>
        </p:nvSpPr>
        <p:spPr>
          <a:xfrm>
            <a:off x="1417320" y="18745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RAD in a nutshell</a:t>
            </a:r>
            <a:endParaRPr lang="en-US" sz="1900" dirty="0"/>
          </a:p>
        </p:txBody>
      </p:sp>
      <p:sp>
        <p:nvSpPr>
          <p:cNvPr id="10" name="Text 7"/>
          <p:cNvSpPr txBox="1"/>
          <p:nvPr/>
        </p:nvSpPr>
        <p:spPr>
          <a:xfrm>
            <a:off x="768096" y="2560320"/>
            <a:ext cx="3112922" cy="210312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Build quickly, test with users, improve and repeat</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4 stages: Requirements Planning, User Design, Construction and Cutover</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Users are involved all the way through</a:t>
            </a:r>
            <a:endParaRPr lang="en-US" sz="1550" dirty="0"/>
          </a:p>
        </p:txBody>
      </p:sp>
      <p:sp>
        <p:nvSpPr>
          <p:cNvPr id="11" name="Shape 8"/>
          <p:cNvSpPr/>
          <p:nvPr/>
        </p:nvSpPr>
        <p:spPr>
          <a:xfrm>
            <a:off x="4338218" y="1645920"/>
            <a:ext cx="3515258" cy="3154680"/>
          </a:xfrm>
          <a:prstGeom prst="roundRect">
            <a:avLst>
              <a:gd name="adj" fmla="val 3478"/>
            </a:avLst>
          </a:prstGeom>
          <a:solidFill>
            <a:srgbClr val="1A2D45"/>
          </a:solidFill>
          <a:ln/>
        </p:spPr>
      </p:sp>
      <p:sp>
        <p:nvSpPr>
          <p:cNvPr id="12" name="Shape 9"/>
          <p:cNvSpPr/>
          <p:nvPr/>
        </p:nvSpPr>
        <p:spPr>
          <a:xfrm>
            <a:off x="4566818" y="1874520"/>
            <a:ext cx="502920" cy="502920"/>
          </a:xfrm>
          <a:prstGeom prst="ellipse">
            <a:avLst/>
          </a:prstGeom>
          <a:solidFill>
            <a:srgbClr val="0E9F8E"/>
          </a:solidFill>
          <a:ln/>
        </p:spPr>
      </p:sp>
      <p:pic>
        <p:nvPicPr>
          <p:cNvPr id="13" name="Image 1" descr="thumbs up icon">    </p:cNvPr>
          <p:cNvPicPr>
            <a:picLocks noChangeAspect="1"/>
          </p:cNvPicPr>
          <p:nvPr/>
        </p:nvPicPr>
        <p:blipFill>
          <a:blip r:embed="rId3"/>
          <a:stretch>
            <a:fillRect/>
          </a:stretch>
        </p:blipFill>
        <p:spPr>
          <a:xfrm>
            <a:off x="4682490" y="1990192"/>
            <a:ext cx="271577" cy="271577"/>
          </a:xfrm>
          <a:prstGeom prst="rect">
            <a:avLst/>
          </a:prstGeom>
        </p:spPr>
      </p:pic>
      <p:sp>
        <p:nvSpPr>
          <p:cNvPr id="14" name="Text 10"/>
          <p:cNvSpPr txBox="1"/>
          <p:nvPr/>
        </p:nvSpPr>
        <p:spPr>
          <a:xfrm>
            <a:off x="5206898" y="18745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Main strengths</a:t>
            </a:r>
            <a:endParaRPr lang="en-US" sz="1900" dirty="0"/>
          </a:p>
        </p:txBody>
      </p:sp>
      <p:sp>
        <p:nvSpPr>
          <p:cNvPr id="15" name="Text 11"/>
          <p:cNvSpPr txBox="1"/>
          <p:nvPr/>
        </p:nvSpPr>
        <p:spPr>
          <a:xfrm>
            <a:off x="4557674" y="2560320"/>
            <a:ext cx="3112922" cy="210312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A working system is delivered quickly</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It's more likely to meet the users' needs</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Changes are easier and problems are found early</a:t>
            </a:r>
            <a:endParaRPr lang="en-US" sz="1550" dirty="0"/>
          </a:p>
        </p:txBody>
      </p:sp>
      <p:sp>
        <p:nvSpPr>
          <p:cNvPr id="16" name="Shape 12"/>
          <p:cNvSpPr/>
          <p:nvPr/>
        </p:nvSpPr>
        <p:spPr>
          <a:xfrm>
            <a:off x="8127797" y="1645920"/>
            <a:ext cx="3515258" cy="3154680"/>
          </a:xfrm>
          <a:prstGeom prst="roundRect">
            <a:avLst>
              <a:gd name="adj" fmla="val 3478"/>
            </a:avLst>
          </a:prstGeom>
          <a:solidFill>
            <a:srgbClr val="1A2D45"/>
          </a:solidFill>
          <a:ln/>
        </p:spPr>
      </p:sp>
      <p:sp>
        <p:nvSpPr>
          <p:cNvPr id="17" name="Shape 13"/>
          <p:cNvSpPr/>
          <p:nvPr/>
        </p:nvSpPr>
        <p:spPr>
          <a:xfrm>
            <a:off x="8356397" y="1874520"/>
            <a:ext cx="502920" cy="502920"/>
          </a:xfrm>
          <a:prstGeom prst="ellipse">
            <a:avLst/>
          </a:prstGeom>
          <a:solidFill>
            <a:srgbClr val="E0533D"/>
          </a:solidFill>
          <a:ln/>
        </p:spPr>
      </p:sp>
      <p:pic>
        <p:nvPicPr>
          <p:cNvPr id="18" name="Image 2" descr="triangle alert icon">    </p:cNvPr>
          <p:cNvPicPr>
            <a:picLocks noChangeAspect="1"/>
          </p:cNvPicPr>
          <p:nvPr/>
        </p:nvPicPr>
        <p:blipFill>
          <a:blip r:embed="rId4"/>
          <a:stretch>
            <a:fillRect/>
          </a:stretch>
        </p:blipFill>
        <p:spPr>
          <a:xfrm>
            <a:off x="8472068" y="1990192"/>
            <a:ext cx="271577" cy="271577"/>
          </a:xfrm>
          <a:prstGeom prst="rect">
            <a:avLst/>
          </a:prstGeom>
        </p:spPr>
      </p:pic>
      <p:sp>
        <p:nvSpPr>
          <p:cNvPr id="19" name="Text 14"/>
          <p:cNvSpPr txBox="1"/>
          <p:nvPr/>
        </p:nvSpPr>
        <p:spPr>
          <a:xfrm>
            <a:off x="8996477" y="1874520"/>
            <a:ext cx="2509418" cy="5029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Main limitations</a:t>
            </a:r>
            <a:endParaRPr lang="en-US" sz="1900" dirty="0"/>
          </a:p>
        </p:txBody>
      </p:sp>
      <p:sp>
        <p:nvSpPr>
          <p:cNvPr id="20" name="Text 15"/>
          <p:cNvSpPr txBox="1"/>
          <p:nvPr/>
        </p:nvSpPr>
        <p:spPr>
          <a:xfrm>
            <a:off x="8347253" y="2560320"/>
            <a:ext cx="3112922" cy="210312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Users need to be available a lot</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It needs a skilled team</a:t>
            </a:r>
            <a:endParaRPr lang="en-US" sz="1550" dirty="0"/>
          </a:p>
          <a:p>
            <a:pPr marL="177800" indent="-177800">
              <a:spcAft>
                <a:spcPts val="800"/>
              </a:spcAft>
              <a:buSzPct val="100000"/>
              <a:buChar char="•"/>
            </a:pPr>
            <a:r>
              <a:rPr lang="en-US" sz="1550" dirty="0">
                <a:solidFill>
                  <a:srgbClr val="D5DEE8"/>
                </a:solidFill>
                <a:latin typeface="Calibri" pitchFamily="34" charset="0"/>
                <a:ea typeface="Calibri" pitchFamily="34" charset="-122"/>
                <a:cs typeface="Calibri" pitchFamily="34" charset="-120"/>
              </a:rPr>
              <a:t>It isn't right for big, complex or safety-critical systems</a:t>
            </a:r>
            <a:endParaRPr lang="en-US" sz="1550" dirty="0"/>
          </a:p>
        </p:txBody>
      </p:sp>
      <p:sp>
        <p:nvSpPr>
          <p:cNvPr id="21" name="Shape 16"/>
          <p:cNvSpPr/>
          <p:nvPr/>
        </p:nvSpPr>
        <p:spPr>
          <a:xfrm>
            <a:off x="548640" y="5074920"/>
            <a:ext cx="11094415" cy="914400"/>
          </a:xfrm>
          <a:prstGeom prst="roundRect">
            <a:avLst>
              <a:gd name="adj" fmla="val 12000"/>
            </a:avLst>
          </a:prstGeom>
          <a:solidFill>
            <a:srgbClr val="F5A623"/>
          </a:solidFill>
          <a:ln/>
        </p:spPr>
      </p:sp>
      <p:sp>
        <p:nvSpPr>
          <p:cNvPr id="22" name="Shape 17"/>
          <p:cNvSpPr/>
          <p:nvPr/>
        </p:nvSpPr>
        <p:spPr>
          <a:xfrm>
            <a:off x="777240" y="5257800"/>
            <a:ext cx="548640" cy="548640"/>
          </a:xfrm>
          <a:prstGeom prst="ellipse">
            <a:avLst/>
          </a:prstGeom>
          <a:solidFill>
            <a:srgbClr val="0E1A2B"/>
          </a:solidFill>
          <a:ln/>
        </p:spPr>
      </p:sp>
      <p:pic>
        <p:nvPicPr>
          <p:cNvPr id="23" name="Image 3" descr="target icon">    </p:cNvPr>
          <p:cNvPicPr>
            <a:picLocks noChangeAspect="1"/>
          </p:cNvPicPr>
          <p:nvPr/>
        </p:nvPicPr>
        <p:blipFill>
          <a:blip r:embed="rId5"/>
          <a:stretch>
            <a:fillRect/>
          </a:stretch>
        </p:blipFill>
        <p:spPr>
          <a:xfrm>
            <a:off x="903427" y="5383987"/>
            <a:ext cx="296266" cy="296266"/>
          </a:xfrm>
          <a:prstGeom prst="rect">
            <a:avLst/>
          </a:prstGeom>
        </p:spPr>
      </p:pic>
      <p:sp>
        <p:nvSpPr>
          <p:cNvPr id="24" name="Text 18"/>
          <p:cNvSpPr txBox="1"/>
          <p:nvPr/>
        </p:nvSpPr>
        <p:spPr>
          <a:xfrm>
            <a:off x="1554480" y="5074920"/>
            <a:ext cx="9859975" cy="91440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When is RAD most suitable? </a:t>
            </a:r>
            <a:r>
              <a:rPr lang="en-US" sz="1600" dirty="0">
                <a:solidFill>
                  <a:srgbClr val="0E1A2B"/>
                </a:solidFill>
                <a:latin typeface="Calibri" pitchFamily="34" charset="0"/>
                <a:ea typeface="Calibri" pitchFamily="34" charset="-122"/>
                <a:cs typeface="Calibri" pitchFamily="34" charset="-120"/>
              </a:rPr>
              <a:t>I think it's best for small to medium projects that are needed quickly, where users can give regular feedback and the requirements might change, like the school library system.</a:t>
            </a:r>
            <a:endParaRPr lang="en-US" sz="1600" dirty="0"/>
          </a:p>
        </p:txBody>
      </p:sp>
      <p:sp>
        <p:nvSpPr>
          <p:cNvPr id="25" name="Text 19"/>
          <p:cNvSpPr txBox="1"/>
          <p:nvPr/>
        </p:nvSpPr>
        <p:spPr>
          <a:xfrm>
            <a:off x="8595360" y="6400800"/>
            <a:ext cx="2560320" cy="228600"/>
          </a:xfrm>
          <a:prstGeom prst="rect">
            <a:avLst/>
          </a:prstGeom>
          <a:noFill/>
          <a:ln/>
        </p:spPr>
        <p:txBody>
          <a:bodyPr wrap="square" lIns="0" tIns="0" rIns="0" bIns="0" rtlCol="0" anchor="ctr"/>
          <a:lstStyle/>
          <a:p>
            <a:pPr algn="r" indent="0" marL="0">
              <a:buNone/>
            </a:pPr>
            <a:r>
              <a:rPr lang="en-US" sz="1000" dirty="0">
                <a:solidFill>
                  <a:srgbClr val="8FA3B8"/>
                </a:solidFill>
                <a:latin typeface="Calibri" pitchFamily="34" charset="0"/>
                <a:ea typeface="Calibri" pitchFamily="34" charset="-122"/>
                <a:cs typeface="Calibri" pitchFamily="34" charset="-120"/>
              </a:rPr>
              <a:t>Alexandra Ioan</a:t>
            </a:r>
            <a:endParaRPr lang="en-US" sz="10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FD8C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0E1A2B"/>
          </a:solidFill>
          <a:ln/>
        </p:spPr>
      </p:sp>
      <p:sp>
        <p:nvSpPr>
          <p:cNvPr id="3" name="Shape 1"/>
          <p:cNvSpPr/>
          <p:nvPr/>
        </p:nvSpPr>
        <p:spPr>
          <a:xfrm>
            <a:off x="548640" y="384048"/>
            <a:ext cx="420624" cy="274320"/>
          </a:xfrm>
          <a:prstGeom prst="roundRect">
            <a:avLst>
              <a:gd name="adj" fmla="val 20000"/>
            </a:avLst>
          </a:prstGeom>
          <a:solidFill>
            <a:srgbClr val="0E9F8E"/>
          </a:solidFill>
          <a:ln/>
        </p:spPr>
      </p:sp>
      <p:sp>
        <p:nvSpPr>
          <p:cNvPr id="4" name="Text 2"/>
          <p:cNvSpPr txBox="1"/>
          <p:nvPr/>
        </p:nvSpPr>
        <p:spPr>
          <a:xfrm>
            <a:off x="548640" y="384048"/>
            <a:ext cx="42062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 name="Text 3"/>
          <p:cNvSpPr txBox="1"/>
          <p:nvPr/>
        </p:nvSpPr>
        <p:spPr>
          <a:xfrm>
            <a:off x="1097280" y="384048"/>
            <a:ext cx="6400800" cy="274320"/>
          </a:xfrm>
          <a:prstGeom prst="rect">
            <a:avLst/>
          </a:prstGeom>
          <a:noFill/>
          <a:ln/>
        </p:spPr>
        <p:txBody>
          <a:bodyPr wrap="square" lIns="0" tIns="0" rIns="0" bIns="0" rtlCol="0" anchor="ctr"/>
          <a:lstStyle/>
          <a:p>
            <a:pPr indent="0" marL="0">
              <a:buNone/>
            </a:pPr>
            <a:r>
              <a:rPr lang="en-US" sz="1200" b="1" spc="150" kern="0" dirty="0">
                <a:solidFill>
                  <a:srgbClr val="7FD8CC"/>
                </a:solidFill>
                <a:latin typeface="Calibri" pitchFamily="34" charset="0"/>
                <a:ea typeface="Calibri" pitchFamily="34" charset="-122"/>
                <a:cs typeface="Calibri" pitchFamily="34" charset="-120"/>
              </a:rPr>
              <a:t>REFERENCES</a:t>
            </a:r>
            <a:endParaRPr lang="en-US" sz="1200" dirty="0"/>
          </a:p>
        </p:txBody>
      </p:sp>
      <p:sp>
        <p:nvSpPr>
          <p:cNvPr id="6" name="Text 4"/>
          <p:cNvSpPr txBox="1"/>
          <p:nvPr/>
        </p:nvSpPr>
        <p:spPr>
          <a:xfrm>
            <a:off x="548640" y="731520"/>
            <a:ext cx="3108960" cy="65836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References</a:t>
            </a:r>
            <a:endParaRPr lang="en-US" sz="3400" dirty="0"/>
          </a:p>
        </p:txBody>
      </p:sp>
      <p:sp>
        <p:nvSpPr>
          <p:cNvPr id="7" name="Text 5"/>
          <p:cNvSpPr txBox="1"/>
          <p:nvPr/>
        </p:nvSpPr>
        <p:spPr>
          <a:xfrm>
            <a:off x="548640" y="1554480"/>
            <a:ext cx="3017520" cy="731520"/>
          </a:xfrm>
          <a:prstGeom prst="rect">
            <a:avLst/>
          </a:prstGeom>
          <a:noFill/>
          <a:ln/>
        </p:spPr>
        <p:txBody>
          <a:bodyPr wrap="square" lIns="0" tIns="0" rIns="0" bIns="0" rtlCol="0" anchor="t"/>
          <a:lstStyle/>
          <a:p>
            <a:pPr indent="0" marL="0">
              <a:buNone/>
            </a:pPr>
            <a:r>
              <a:rPr lang="en-US" sz="1300" dirty="0">
                <a:solidFill>
                  <a:srgbClr val="C9D6E3"/>
                </a:solidFill>
                <a:latin typeface="Calibri" pitchFamily="34" charset="0"/>
                <a:ea typeface="Calibri" pitchFamily="34" charset="-122"/>
                <a:cs typeface="Calibri" pitchFamily="34" charset="-120"/>
              </a:rPr>
              <a:t>Harvard style. The citations on the slides, like (Martin, 1991), point to this list.</a:t>
            </a:r>
            <a:endParaRPr lang="en-US" sz="1300" dirty="0"/>
          </a:p>
        </p:txBody>
      </p:sp>
      <p:sp>
        <p:nvSpPr>
          <p:cNvPr id="8" name="Shape 6"/>
          <p:cNvSpPr/>
          <p:nvPr/>
        </p:nvSpPr>
        <p:spPr>
          <a:xfrm>
            <a:off x="548640" y="4434840"/>
            <a:ext cx="566928" cy="566928"/>
          </a:xfrm>
          <a:prstGeom prst="ellipse">
            <a:avLst/>
          </a:prstGeom>
          <a:solidFill>
            <a:srgbClr val="F5A623"/>
          </a:solidFill>
          <a:ln/>
        </p:spPr>
      </p:sp>
      <p:pic>
        <p:nvPicPr>
          <p:cNvPr id="9" name="Image 0" descr="message circle question icon">    </p:cNvPr>
          <p:cNvPicPr>
            <a:picLocks noChangeAspect="1"/>
          </p:cNvPicPr>
          <p:nvPr/>
        </p:nvPicPr>
        <p:blipFill>
          <a:blip r:embed="rId1"/>
          <a:stretch>
            <a:fillRect/>
          </a:stretch>
        </p:blipFill>
        <p:spPr>
          <a:xfrm>
            <a:off x="679033" y="4565233"/>
            <a:ext cx="306141" cy="306141"/>
          </a:xfrm>
          <a:prstGeom prst="rect">
            <a:avLst/>
          </a:prstGeom>
        </p:spPr>
      </p:pic>
      <p:sp>
        <p:nvSpPr>
          <p:cNvPr id="10" name="Text 7"/>
          <p:cNvSpPr txBox="1"/>
          <p:nvPr/>
        </p:nvSpPr>
        <p:spPr>
          <a:xfrm>
            <a:off x="548640" y="5138928"/>
            <a:ext cx="3200400" cy="41148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Thanks for listening!</a:t>
            </a:r>
            <a:endParaRPr lang="en-US" sz="2400" dirty="0"/>
          </a:p>
        </p:txBody>
      </p:sp>
      <p:sp>
        <p:nvSpPr>
          <p:cNvPr id="11" name="Text 8"/>
          <p:cNvSpPr txBox="1"/>
          <p:nvPr/>
        </p:nvSpPr>
        <p:spPr>
          <a:xfrm>
            <a:off x="548640" y="5559552"/>
            <a:ext cx="3200400" cy="347472"/>
          </a:xfrm>
          <a:prstGeom prst="rect">
            <a:avLst/>
          </a:prstGeom>
          <a:noFill/>
          <a:ln/>
        </p:spPr>
        <p:txBody>
          <a:bodyPr wrap="square" lIns="0" tIns="0" rIns="0" bIns="0" rtlCol="0" anchor="t"/>
          <a:lstStyle/>
          <a:p>
            <a:pPr indent="0" marL="0">
              <a:buNone/>
            </a:pPr>
            <a:r>
              <a:rPr lang="en-US" sz="1800" dirty="0">
                <a:solidFill>
                  <a:srgbClr val="F5A623"/>
                </a:solidFill>
                <a:latin typeface="Calibri" pitchFamily="34" charset="0"/>
                <a:ea typeface="Calibri" pitchFamily="34" charset="-122"/>
                <a:cs typeface="Calibri" pitchFamily="34" charset="-120"/>
              </a:rPr>
              <a:t>Any questions?</a:t>
            </a:r>
            <a:endParaRPr lang="en-US" sz="1800" dirty="0"/>
          </a:p>
        </p:txBody>
      </p:sp>
      <p:sp>
        <p:nvSpPr>
          <p:cNvPr id="12" name="Text 9"/>
          <p:cNvSpPr txBox="1"/>
          <p:nvPr/>
        </p:nvSpPr>
        <p:spPr>
          <a:xfrm>
            <a:off x="548640" y="6355080"/>
            <a:ext cx="3200400" cy="274320"/>
          </a:xfrm>
          <a:prstGeom prst="rect">
            <a:avLst/>
          </a:prstGeom>
          <a:noFill/>
          <a:ln/>
        </p:spPr>
        <p:txBody>
          <a:bodyPr wrap="square" lIns="0" tIns="0" rIns="0" bIns="0" rtlCol="0" anchor="ctr"/>
          <a:lstStyle/>
          <a:p>
            <a:pPr indent="0" marL="0">
              <a:buNone/>
            </a:pPr>
            <a:r>
              <a:rPr lang="en-US" sz="1100" dirty="0">
                <a:solidFill>
                  <a:srgbClr val="9FB3C8"/>
                </a:solidFill>
                <a:latin typeface="Calibri" pitchFamily="34" charset="0"/>
                <a:ea typeface="Calibri" pitchFamily="34" charset="-122"/>
                <a:cs typeface="Calibri" pitchFamily="34" charset="-120"/>
              </a:rPr>
              <a:t>Alexandra Ioan  ·  Student ID 25002954</a:t>
            </a:r>
            <a:endParaRPr lang="en-US" sz="1100" dirty="0"/>
          </a:p>
        </p:txBody>
      </p:sp>
      <p:sp>
        <p:nvSpPr>
          <p:cNvPr id="13" name="Text 10"/>
          <p:cNvSpPr txBox="1"/>
          <p:nvPr/>
        </p:nvSpPr>
        <p:spPr>
          <a:xfrm>
            <a:off x="4480560" y="685800"/>
            <a:ext cx="7162495" cy="5486400"/>
          </a:xfrm>
          <a:prstGeom prst="rect">
            <a:avLst/>
          </a:prstGeom>
          <a:noFill/>
          <a:ln/>
        </p:spPr>
        <p:txBody>
          <a:bodyPr wrap="square" lIns="0" tIns="0" rIns="0" bIns="0" rtlCol="0" anchor="ctr"/>
          <a:lstStyle/>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Beynon-Davies, P., Carne, C., Mackay, H. and Tudhope, D. (1999) ‘Rapid application development (RAD): an empirical review’, </a:t>
            </a:r>
            <a:r>
              <a:rPr lang="en-US" sz="1300" i="1" dirty="0">
                <a:solidFill>
                  <a:srgbClr val="1F2A37"/>
                </a:solidFill>
                <a:latin typeface="Calibri" pitchFamily="34" charset="0"/>
                <a:ea typeface="Calibri" pitchFamily="34" charset="-122"/>
                <a:cs typeface="Calibri" pitchFamily="34" charset="-120"/>
              </a:rPr>
              <a:t>European Journal of Information Systems</a:t>
            </a:r>
            <a:r>
              <a:rPr lang="en-US" sz="1300" dirty="0">
                <a:solidFill>
                  <a:srgbClr val="1F2A37"/>
                </a:solidFill>
                <a:latin typeface="Calibri" pitchFamily="34" charset="0"/>
                <a:ea typeface="Calibri" pitchFamily="34" charset="-122"/>
                <a:cs typeface="Calibri" pitchFamily="34" charset="-120"/>
              </a:rPr>
              <a:t>, 8(3), pp. 211–223. Available at: </a:t>
            </a:r>
            <a:r>
              <a:rPr lang="en-US" sz="1300" u="sng" dirty="0">
                <a:solidFill>
                  <a:srgbClr val="0B7A6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https://doi.org/10.1057/palgrave.ejis.3000325</a:t>
            </a:r>
            <a:r>
              <a:rPr lang="en-US" sz="1300" dirty="0">
                <a:solidFill>
                  <a:srgbClr val="1F2A37"/>
                </a:solidFill>
                <a:latin typeface="Calibri" pitchFamily="34" charset="0"/>
                <a:ea typeface="Calibri" pitchFamily="34" charset="-122"/>
                <a:cs typeface="Calibri" pitchFamily="34" charset="-120"/>
              </a:rPr>
              <a:t>.</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IBM (no date) </a:t>
            </a:r>
            <a:r>
              <a:rPr lang="en-US" sz="1300" i="1" dirty="0">
                <a:solidFill>
                  <a:srgbClr val="1F2A37"/>
                </a:solidFill>
                <a:latin typeface="Calibri" pitchFamily="34" charset="0"/>
                <a:ea typeface="Calibri" pitchFamily="34" charset="-122"/>
                <a:cs typeface="Calibri" pitchFamily="34" charset="-120"/>
              </a:rPr>
              <a:t>What is rapid application development?</a:t>
            </a:r>
            <a:r>
              <a:rPr lang="en-US" sz="1300" dirty="0">
                <a:solidFill>
                  <a:srgbClr val="1F2A37"/>
                </a:solidFill>
                <a:latin typeface="Calibri" pitchFamily="34" charset="0"/>
                <a:ea typeface="Calibri" pitchFamily="34" charset="-122"/>
                <a:cs typeface="Calibri" pitchFamily="34" charset="-120"/>
              </a:rPr>
              <a:t> Available at: </a:t>
            </a:r>
            <a:r>
              <a:rPr lang="en-US" sz="1300" u="sng" dirty="0">
                <a:solidFill>
                  <a:srgbClr val="0B7A6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https://www.ibm.com/think/topics/rapid-application-development</a:t>
            </a:r>
            <a:r>
              <a:rPr lang="en-US" sz="1300" dirty="0">
                <a:solidFill>
                  <a:srgbClr val="1F2A37"/>
                </a:solidFill>
                <a:latin typeface="Calibri" pitchFamily="34" charset="0"/>
                <a:ea typeface="Calibri" pitchFamily="34" charset="-122"/>
                <a:cs typeface="Calibri" pitchFamily="34" charset="-120"/>
              </a:rPr>
              <a:t> (Accessed: 30 September 2026).</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Lucidchart (no date) </a:t>
            </a:r>
            <a:r>
              <a:rPr lang="en-US" sz="1300" i="1" dirty="0">
                <a:solidFill>
                  <a:srgbClr val="1F2A37"/>
                </a:solidFill>
                <a:latin typeface="Calibri" pitchFamily="34" charset="0"/>
                <a:ea typeface="Calibri" pitchFamily="34" charset="-122"/>
                <a:cs typeface="Calibri" pitchFamily="34" charset="-120"/>
              </a:rPr>
              <a:t>4 phases of rapid application development methodology</a:t>
            </a:r>
            <a:r>
              <a:rPr lang="en-US" sz="1300" dirty="0">
                <a:solidFill>
                  <a:srgbClr val="1F2A37"/>
                </a:solidFill>
                <a:latin typeface="Calibri" pitchFamily="34" charset="0"/>
                <a:ea typeface="Calibri" pitchFamily="34" charset="-122"/>
                <a:cs typeface="Calibri" pitchFamily="34" charset="-120"/>
              </a:rPr>
              <a:t>. Available at: </a:t>
            </a:r>
            <a:r>
              <a:rPr lang="en-US" sz="1300" u="sng" dirty="0">
                <a:solidFill>
                  <a:srgbClr val="0B7A6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https://www.lucidchart.com/blog/rapid-application-development-methodology</a:t>
            </a:r>
            <a:r>
              <a:rPr lang="en-US" sz="1300" dirty="0">
                <a:solidFill>
                  <a:srgbClr val="1F2A37"/>
                </a:solidFill>
                <a:latin typeface="Calibri" pitchFamily="34" charset="0"/>
                <a:ea typeface="Calibri" pitchFamily="34" charset="-122"/>
                <a:cs typeface="Calibri" pitchFamily="34" charset="-120"/>
              </a:rPr>
              <a:t> (Accessed: 30 September 2026).</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Martin, J. (1991) </a:t>
            </a:r>
            <a:r>
              <a:rPr lang="en-US" sz="1300" i="1" dirty="0">
                <a:solidFill>
                  <a:srgbClr val="1F2A37"/>
                </a:solidFill>
                <a:latin typeface="Calibri" pitchFamily="34" charset="0"/>
                <a:ea typeface="Calibri" pitchFamily="34" charset="-122"/>
                <a:cs typeface="Calibri" pitchFamily="34" charset="-120"/>
              </a:rPr>
              <a:t>Rapid application development</a:t>
            </a:r>
            <a:r>
              <a:rPr lang="en-US" sz="1300" dirty="0">
                <a:solidFill>
                  <a:srgbClr val="1F2A37"/>
                </a:solidFill>
                <a:latin typeface="Calibri" pitchFamily="34" charset="0"/>
                <a:ea typeface="Calibri" pitchFamily="34" charset="-122"/>
                <a:cs typeface="Calibri" pitchFamily="34" charset="-120"/>
              </a:rPr>
              <a:t>. New York: Macmillan.</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Sommerville, I. (2016) </a:t>
            </a:r>
            <a:r>
              <a:rPr lang="en-US" sz="1300" i="1" dirty="0">
                <a:solidFill>
                  <a:srgbClr val="1F2A37"/>
                </a:solidFill>
                <a:latin typeface="Calibri" pitchFamily="34" charset="0"/>
                <a:ea typeface="Calibri" pitchFamily="34" charset="-122"/>
                <a:cs typeface="Calibri" pitchFamily="34" charset="-120"/>
              </a:rPr>
              <a:t>Software engineering</a:t>
            </a:r>
            <a:r>
              <a:rPr lang="en-US" sz="1300" dirty="0">
                <a:solidFill>
                  <a:srgbClr val="1F2A37"/>
                </a:solidFill>
                <a:latin typeface="Calibri" pitchFamily="34" charset="0"/>
                <a:ea typeface="Calibri" pitchFamily="34" charset="-122"/>
                <a:cs typeface="Calibri" pitchFamily="34" charset="-120"/>
              </a:rPr>
              <a:t>. 10th edn. Harlow: Pearson Education.</a:t>
            </a:r>
            <a:endParaRPr lang="en-US" sz="1300" dirty="0"/>
          </a:p>
          <a:p>
            <a:pPr indent="0" marL="0">
              <a:spcAft>
                <a:spcPts val="1100"/>
              </a:spcAft>
              <a:buNone/>
            </a:pPr>
            <a:r>
              <a:rPr lang="en-US" sz="1300" dirty="0">
                <a:solidFill>
                  <a:srgbClr val="1F2A37"/>
                </a:solidFill>
                <a:latin typeface="Calibri" pitchFamily="34" charset="0"/>
                <a:ea typeface="Calibri" pitchFamily="34" charset="-122"/>
                <a:cs typeface="Calibri" pitchFamily="34" charset="-120"/>
              </a:rPr>
              <a:t>TechTarget (no date) </a:t>
            </a:r>
            <a:r>
              <a:rPr lang="en-US" sz="1300" i="1" dirty="0">
                <a:solidFill>
                  <a:srgbClr val="1F2A37"/>
                </a:solidFill>
                <a:latin typeface="Calibri" pitchFamily="34" charset="0"/>
                <a:ea typeface="Calibri" pitchFamily="34" charset="-122"/>
                <a:cs typeface="Calibri" pitchFamily="34" charset="-120"/>
              </a:rPr>
              <a:t>What is rapid application development (RAD)?</a:t>
            </a:r>
            <a:r>
              <a:rPr lang="en-US" sz="1300" dirty="0">
                <a:solidFill>
                  <a:srgbClr val="1F2A37"/>
                </a:solidFill>
                <a:latin typeface="Calibri" pitchFamily="34" charset="0"/>
                <a:ea typeface="Calibri" pitchFamily="34" charset="-122"/>
                <a:cs typeface="Calibri" pitchFamily="34" charset="-120"/>
              </a:rPr>
              <a:t> Available at: </a:t>
            </a:r>
            <a:r>
              <a:rPr lang="en-US" sz="1300" u="sng" dirty="0">
                <a:solidFill>
                  <a:srgbClr val="0B7A6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https://www.techtarget.com/searchsoftwarequality/definition/rapid-application-development</a:t>
            </a:r>
            <a:r>
              <a:rPr lang="en-US" sz="1300" dirty="0">
                <a:solidFill>
                  <a:srgbClr val="1F2A37"/>
                </a:solidFill>
                <a:latin typeface="Calibri" pitchFamily="34" charset="0"/>
                <a:ea typeface="Calibri" pitchFamily="34" charset="-122"/>
                <a:cs typeface="Calibri" pitchFamily="34" charset="-120"/>
              </a:rPr>
              <a:t> (Accessed: 30 September 2026).</a:t>
            </a:r>
            <a:endParaRPr lang="en-US" sz="1300" dirty="0"/>
          </a:p>
        </p:txBody>
      </p:sp>
      <p:sp>
        <p:nvSpPr>
          <p:cNvPr id="25" name="Slide Number Placeholder 0"/>
          <p:cNvSpPr>
            <a:spLocks noGrp="1"/>
          </p:cNvSpPr>
          <p:nvPr>
            <p:ph type="sldNum" sz="quarter" idx="4294967295"/>
          </p:nvPr>
        </p:nvSpPr>
        <p:spPr>
          <a:xfrm>
            <a:off x="11228832" y="6400800"/>
            <a:ext cx="41148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0B7A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RAD Model</dc:title>
  <dc:subject>Rapid Application Development (RAD) model - Level 3 IT</dc:subject>
  <dc:creator>Alexandra Ioan</dc:creator>
  <cp:lastModifiedBy>Alexandra Ioan</cp:lastModifiedBy>
  <cp:revision>1</cp:revision>
  <dcterms:created xsi:type="dcterms:W3CDTF">2026-09-30T10:32:35Z</dcterms:created>
  <dcterms:modified xsi:type="dcterms:W3CDTF">2026-09-30T10:32:35Z</dcterms:modified>
</cp:coreProperties>
</file>